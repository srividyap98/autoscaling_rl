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Override PartName="/ppt/slides/slide17.xml" ContentType="application/vnd.openxmlformats-officedocument.presentationml.slide+xml"/>
  <Override PartName="/ppt/slides/slide18.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slides/charts/chart7.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9c71640af047bc" /><Relationship Type="http://schemas.openxmlformats.org/officeDocument/2006/relationships/extended-properties" Target="/docProps/app.xml" Id="R0a2c84b780394032" /><Relationship Type="http://schemas.openxmlformats.org/officeDocument/2006/relationships/officeDocument" Target="/ppt/presentation.xml" Id="Rae23c38b863446d7" /></Relationships>
</file>

<file path=ppt/presentation.xml><?xml version="1.0" encoding="utf-8"?>
<p:presentation xmlns:p="http://schemas.openxmlformats.org/presentationml/2006/main">
  <p:sldMasterIdLst>
    <p:sldMasterId xmlns:r="http://schemas.openxmlformats.org/officeDocument/2006/relationships" id="2147483648" r:id="Rd432ac931a3b41bf"/>
  </p:sldMasterIdLst>
  <p:notesMasterIdLst>
    <p:notesMasterId xmlns:r="http://schemas.openxmlformats.org/officeDocument/2006/relationships" r:id="R44d09f97946941f7"/>
  </p:notesMasterIdLst>
  <p:sldIdLst>
    <p:sldId xmlns:r="http://schemas.openxmlformats.org/officeDocument/2006/relationships" id="256" r:id="R4d19f39a843a4bf3"/>
    <p:sldId xmlns:r="http://schemas.openxmlformats.org/officeDocument/2006/relationships" id="257" r:id="Rde4be6ad4a6642dc"/>
    <p:sldId xmlns:r="http://schemas.openxmlformats.org/officeDocument/2006/relationships" id="258" r:id="R96448e84ea0b4ada"/>
    <p:sldId xmlns:r="http://schemas.openxmlformats.org/officeDocument/2006/relationships" id="259" r:id="Rd9e0e4a6b29745ed"/>
    <p:sldId xmlns:r="http://schemas.openxmlformats.org/officeDocument/2006/relationships" id="260" r:id="R1c76778cd4fd415c"/>
    <p:sldId xmlns:r="http://schemas.openxmlformats.org/officeDocument/2006/relationships" id="261" r:id="Rf3f79162a7894231"/>
    <p:sldId xmlns:r="http://schemas.openxmlformats.org/officeDocument/2006/relationships" id="262" r:id="R7fcdaccc63e6472a"/>
    <p:sldId xmlns:r="http://schemas.openxmlformats.org/officeDocument/2006/relationships" id="263" r:id="R476c64dfe88c439f"/>
    <p:sldId xmlns:r="http://schemas.openxmlformats.org/officeDocument/2006/relationships" id="264" r:id="Rb6f82147560c4c66"/>
    <p:sldId xmlns:r="http://schemas.openxmlformats.org/officeDocument/2006/relationships" id="265" r:id="R6d8d3627afec4f0e"/>
    <p:sldId xmlns:r="http://schemas.openxmlformats.org/officeDocument/2006/relationships" id="266" r:id="R3aca21d971d7495b"/>
    <p:sldId xmlns:r="http://schemas.openxmlformats.org/officeDocument/2006/relationships" id="267" r:id="R11d0896d39da48bb"/>
    <p:sldId xmlns:r="http://schemas.openxmlformats.org/officeDocument/2006/relationships" id="272" r:id="rId1"/>
    <p:sldId xmlns:r="http://schemas.openxmlformats.org/officeDocument/2006/relationships" id="273" r:id="rId2"/>
    <p:sldId xmlns:r="http://schemas.openxmlformats.org/officeDocument/2006/relationships" id="268" r:id="R0061a6c59e2d4114"/>
    <p:sldId xmlns:r="http://schemas.openxmlformats.org/officeDocument/2006/relationships" id="269" r:id="R4d0ac7f70c3e42f5"/>
    <p:sldId xmlns:r="http://schemas.openxmlformats.org/officeDocument/2006/relationships" id="270" r:id="R8aec92e4e4224cec"/>
    <p:sldId xmlns:r="http://schemas.openxmlformats.org/officeDocument/2006/relationships" id="271" r:id="Rc3a02253687a4c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f7421b917e4eff" /><Relationship Type="http://schemas.openxmlformats.org/officeDocument/2006/relationships/slideMaster" Target="/ppt/slideMasters/slideMaster1.xml" Id="Rd432ac931a3b41bf" /><Relationship Type="http://schemas.openxmlformats.org/officeDocument/2006/relationships/notesMaster" Target="/ppt/notesMasters/notesMaster1.xml" Id="R44d09f97946941f7" /><Relationship Type="http://schemas.openxmlformats.org/officeDocument/2006/relationships/presProps" Target="/ppt/presProps.xml" Id="R8ef5dd751ccc4015" /><Relationship Type="http://schemas.openxmlformats.org/officeDocument/2006/relationships/tableStyles" Target="/ppt/tableStyles.xml" Id="R1dcd7835237a4005" /><Relationship Type="http://schemas.openxmlformats.org/officeDocument/2006/relationships/slide" Target="/ppt/slides/slide1.xml" Id="R4d19f39a843a4bf3" /><Relationship Type="http://schemas.openxmlformats.org/officeDocument/2006/relationships/slide" Target="/ppt/slides/slide2.xml" Id="Rde4be6ad4a6642dc" /><Relationship Type="http://schemas.openxmlformats.org/officeDocument/2006/relationships/slide" Target="/ppt/slides/slide3.xml" Id="R96448e84ea0b4ada" /><Relationship Type="http://schemas.openxmlformats.org/officeDocument/2006/relationships/slide" Target="/ppt/slides/slide4.xml" Id="Rd9e0e4a6b29745ed" /><Relationship Type="http://schemas.openxmlformats.org/officeDocument/2006/relationships/slide" Target="/ppt/slides/slide5.xml" Id="R1c76778cd4fd415c" /><Relationship Type="http://schemas.openxmlformats.org/officeDocument/2006/relationships/slide" Target="/ppt/slides/slide6.xml" Id="Rf3f79162a7894231" /><Relationship Type="http://schemas.openxmlformats.org/officeDocument/2006/relationships/slide" Target="/ppt/slides/slide7.xml" Id="R7fcdaccc63e6472a" /><Relationship Type="http://schemas.openxmlformats.org/officeDocument/2006/relationships/slide" Target="/ppt/slides/slide8.xml" Id="R476c64dfe88c439f" /><Relationship Type="http://schemas.openxmlformats.org/officeDocument/2006/relationships/slide" Target="/ppt/slides/slide9.xml" Id="Rb6f82147560c4c66" /><Relationship Type="http://schemas.openxmlformats.org/officeDocument/2006/relationships/slide" Target="/ppt/slides/slide10.xml" Id="R6d8d3627afec4f0e" /><Relationship Type="http://schemas.openxmlformats.org/officeDocument/2006/relationships/slide" Target="/ppt/slides/slide11.xml" Id="R3aca21d971d7495b" /><Relationship Type="http://schemas.openxmlformats.org/officeDocument/2006/relationships/slide" Target="/ppt/slides/slide12.xml" Id="R11d0896d39da48bb" /><Relationship Type="http://schemas.openxmlformats.org/officeDocument/2006/relationships/slide" Target="/ppt/slides/slide13.xml" Id="R0061a6c59e2d4114" /><Relationship Type="http://schemas.openxmlformats.org/officeDocument/2006/relationships/slide" Target="/ppt/slides/slide14.xml" Id="R4d0ac7f70c3e42f5" /><Relationship Type="http://schemas.openxmlformats.org/officeDocument/2006/relationships/slide" Target="/ppt/slides/slide15.xml" Id="R8aec92e4e4224cec" /><Relationship Type="http://schemas.openxmlformats.org/officeDocument/2006/relationships/slide" Target="/ppt/slides/slide16.xml" Id="Rc3a02253687a4c0f" />  <Relationship Id="rId1" Type="http://schemas.openxmlformats.org/officeDocument/2006/relationships/slide" Target="slides/slide17.xml"/>
  <Relationship Id="rId2" Type="http://schemas.openxmlformats.org/officeDocument/2006/relationships/slide" Target="slides/slide18.xml"/>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da347107124c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6ffe9464414f56" /><Relationship Type="http://schemas.openxmlformats.org/officeDocument/2006/relationships/notesMaster" Target="/ppt/notesMasters/notesMaster1.xml" Id="R46117b57461040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19b62714564954" /><Relationship Type="http://schemas.openxmlformats.org/officeDocument/2006/relationships/notesMaster" Target="/ppt/notesMasters/notesMaster1.xml" Id="Rd9ded6ffafe648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b1c83ae544417e" /><Relationship Type="http://schemas.openxmlformats.org/officeDocument/2006/relationships/notesMaster" Target="/ppt/notesMasters/notesMaster1.xml" Id="R7c3c2ab0c0e940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d850e920b449c2" /><Relationship Type="http://schemas.openxmlformats.org/officeDocument/2006/relationships/notesMaster" Target="/ppt/notesMasters/notesMaster1.xml" Id="Red6b65eb1ada46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dfe995630c4f59" /><Relationship Type="http://schemas.openxmlformats.org/officeDocument/2006/relationships/notesMaster" Target="/ppt/notesMasters/notesMaster1.xml" Id="R0219494bf2104c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4c279f1a8c4536" /><Relationship Type="http://schemas.openxmlformats.org/officeDocument/2006/relationships/notesMaster" Target="/ppt/notesMasters/notesMaster1.xml" Id="R095d6294cf7540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fa12a5a56e4371" /><Relationship Type="http://schemas.openxmlformats.org/officeDocument/2006/relationships/notesMaster" Target="/ppt/notesMasters/notesMaster1.xml" Id="Ra05e681feba34b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9953254fec4230" /><Relationship Type="http://schemas.openxmlformats.org/officeDocument/2006/relationships/notesMaster" Target="/ppt/notesMasters/notesMaster1.xml" Id="Rdfc691f9d0ce44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edea6c83293499a" /><Relationship Type="http://schemas.openxmlformats.org/officeDocument/2006/relationships/notesMaster" Target="/ppt/notesMasters/notesMaster1.xml" Id="R4df32b0d13694b7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f7fee84c75d4953" /><Relationship Type="http://schemas.openxmlformats.org/officeDocument/2006/relationships/notesMaster" Target="/ppt/notesMasters/notesMaster1.xml" Id="R633db1f10c714d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d8a8f80b0404136" /><Relationship Type="http://schemas.openxmlformats.org/officeDocument/2006/relationships/notesMaster" Target="/ppt/notesMasters/notesMaster1.xml" Id="R62730cfa7ffe45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b578ece7cd64742" /><Relationship Type="http://schemas.openxmlformats.org/officeDocument/2006/relationships/notesMaster" Target="/ppt/notesMasters/notesMaster1.xml" Id="Rf6188f8fd80b40c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134b7c33fae4f22" /><Relationship Type="http://schemas.openxmlformats.org/officeDocument/2006/relationships/notesMaster" Target="/ppt/notesMasters/notesMaster1.xml" Id="R4824dd205872406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a38113c41e44a31" /><Relationship Type="http://schemas.openxmlformats.org/officeDocument/2006/relationships/notesMaster" Target="/ppt/notesMasters/notesMaster1.xml" Id="Rb603fbc5335b423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28d53bd1c544cec" /><Relationship Type="http://schemas.openxmlformats.org/officeDocument/2006/relationships/notesMaster" Target="/ppt/notesMasters/notesMaster1.xml" Id="R1e69bce588464b8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d9840892afa4f62" /><Relationship Type="http://schemas.openxmlformats.org/officeDocument/2006/relationships/notesMaster" Target="/ppt/notesMasters/notesMaster1.xml" Id="R49596568de1e4c9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b578ece7cd64742" /><Relationship Type="http://schemas.openxmlformats.org/officeDocument/2006/relationships/notesMaster" Target="/ppt/notesMasters/notesMaster1.xml" Id="Rf6188f8fd80b40c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b578ece7cd64742" /><Relationship Type="http://schemas.openxmlformats.org/officeDocument/2006/relationships/notesMaster" Target="/ppt/notesMasters/notesMaster1.xml" Id="Rf6188f8fd80b40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35 seconds</a:t>
            </a:r>
          </a:p>
          <a:p xmlns:a="http://schemas.openxmlformats.org/drawingml/2006/main">
            <a:r>
              <a:t/>
            </a:r>
          </a:p>
          <a:p xmlns:a="http://schemas.openxmlformats.org/drawingml/2006/main">
            <a:r>
              <a:t>This project asks whether a reinforcement learning agent can choose how many API replicas to run as demand changes. Too little capacity makes requests wait, while too much capacity wastes resources. Following my Part 1 plan, I built a local simulator, trained PPO across ten random seeds, compared it with two simpler controllers, and ran ablations of PPO's main components. The main finding is that the agent protected service better on average, but did not achieve the planned cost savings.</a:t>
            </a:r>
          </a:p>
          <a:p xmlns:a="http://schemas.openxmlformats.org/drawingml/2006/main">
            <a:r>
              <a:t/>
            </a:r>
          </a:p>
          <a:p xmlns:a="http://schemas.openxmlformats.org/drawingml/2006/main">
            <a:r>
              <a:t>Sources: Project implementation and Part 1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50 seconds</a:t>
            </a:r>
          </a:p>
          <a:p xmlns:a="http://schemas.openxmlformats.org/drawingml/2006/main">
            <a:r>
              <a:t/>
            </a:r>
          </a:p>
          <a:p xmlns:a="http://schemas.openxmlformats.org/drawingml/2006/main">
            <a:r>
              <a:t>The original objective had two parts. First, at least 95 percent of requests should meet a two-second waiting target. Second, PPO should use at least ten percent less capacity than the fixed controller. I treat both conditions as necessary, and check the waiting target separately for steady, periodic, and bursty traffic. This is a sequential decision problem because an extra replica takes time to start. A decision that looks expensive now may prevent a queue later, and a removal that looks efficient now may leave the service unprepared for a burst. That delayed consequence is why reinforcement learning is a reasonable approach. Capacity is measured in replica-seconds, a resource proxy rather than a cloud bill.</a:t>
            </a:r>
          </a:p>
          <a:p xmlns:a="http://schemas.openxmlformats.org/drawingml/2006/main">
            <a:r>
              <a:t/>
            </a:r>
          </a:p>
          <a:p xmlns:a="http://schemas.openxmlformats.org/drawingml/2006/main">
            <a:r>
              <a:t>Sources: Project implementation and Part 1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40 seconds</a:t>
            </a:r>
          </a:p>
          <a:p xmlns:a="http://schemas.openxmlformats.org/drawingml/2006/main">
            <a:r>
              <a:t/>
            </a:r>
          </a:p>
          <a:p xmlns:a="http://schemas.openxmlformats.org/drawingml/2006/main">
            <a:r>
              <a:t>Barrett and colleagues and the survey by Gari and colleagues connect reinforcement learning to cloud resource allocation and autoscaling. Wang and colleagues study provisioning in simulation, which supports a simulator as a starting point. PPO provides a clipped policy update, and generalized advantage estimation helps judge which sampled actions were better than expected. Henderson and colleagues emphasize variability across random seeds, which motivated ten training seeds with confidence intervals. AWARE makes clear that production autoscaling needs much more system integration than this project includes. These papers inform the design; the project does not reproduce their results.</a:t>
            </a:r>
          </a:p>
          <a:p xmlns:a="http://schemas.openxmlformats.org/drawingml/2006/main">
            <a:r>
              <a:t/>
            </a:r>
          </a:p>
          <a:p xmlns:a="http://schemas.openxmlformats.org/drawingml/2006/main">
            <a:r>
              <a:t>Sources: Research citations on slide 16; full links below and in README.</a:t>
            </a:r>
          </a:p>
          <a:p xmlns:a="http://schemas.openxmlformats.org/drawingml/2006/main">
            <a:r>
              <a:t/>
            </a:r>
          </a:p>
          <a:p xmlns:a="http://schemas.openxmlformats.org/drawingml/2006/main">
            <a:r>
              <a:t>Research references:</a:t>
            </a:r>
          </a:p>
          <a:p xmlns:a="http://schemas.openxmlformats.org/drawingml/2006/main">
            <a:r>
              <a:t>Schulman et al. (2017). Proximal Policy Optimization Algorithms. https://arxiv.org/abs/1707.06347</a:t>
            </a:r>
          </a:p>
          <a:p xmlns:a="http://schemas.openxmlformats.org/drawingml/2006/main">
            <a:r>
              <a:t>Schulman et al. (2015). Generalized Advantage Estimation. https://arxiv.org/abs/1506.02438</a:t>
            </a:r>
          </a:p>
          <a:p xmlns:a="http://schemas.openxmlformats.org/drawingml/2006/main">
            <a:r>
              <a:t>Barrett et al. (2013). RL for cloud resource allocation. https://doi.org/10.1002/cpe.2864</a:t>
            </a:r>
          </a:p>
          <a:p xmlns:a="http://schemas.openxmlformats.org/drawingml/2006/main">
            <a:r>
              <a:t>Garí et al. (2020). Application autoscaling survey. https://arxiv.org/abs/2001.09957</a:t>
            </a:r>
          </a:p>
          <a:p xmlns:a="http://schemas.openxmlformats.org/drawingml/2006/main">
            <a:r>
              <a:t>Wang et al. (2017). Automated cloud provisioning on AWS. https://arxiv.org/abs/1709.04305</a:t>
            </a:r>
          </a:p>
          <a:p xmlns:a="http://schemas.openxmlformats.org/drawingml/2006/main">
            <a:r>
              <a:t>Qiu et al. (2023). AWARE: workload autoscaling. https://www.usenix.org/conference/atc23/presentation/qiu-haoran</a:t>
            </a:r>
          </a:p>
          <a:p xmlns:a="http://schemas.openxmlformats.org/drawingml/2006/main">
            <a:r>
              <a:t>Mnih et al. (2013). Playing Atari with Deep RL. https://arxiv.org/abs/1312.5602</a:t>
            </a:r>
          </a:p>
          <a:p xmlns:a="http://schemas.openxmlformats.org/drawingml/2006/main">
            <a:r>
              <a:t>Henderson et al. (2017). Deep Reinforcement Learning that Matters. https://arxiv.org/abs/1709.06560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50 seconds</a:t>
            </a:r>
          </a:p>
          <a:p xmlns:a="http://schemas.openxmlformats.org/drawingml/2006/main">
            <a:r>
              <a:t/>
            </a:r>
          </a:p>
          <a:p xmlns:a="http://schemas.openxmlformats.org/drawingml/2006/main">
            <a:r>
              <a:t>Each episode represents thirty minutes of arrivals. The controller acts every ten seconds, starting with two active replicas. One replica serves twenty requests per second, and a new replica takes twenty seconds to become active. Capacity ranges from one to ten replicas. Requests join a first-in, first-out queue with a thousand-request limit. A request violates the service target if it waits more than two seconds, expires after ten seconds, or is dropped because the queue is full. After arrivals end, I drain the queue so unfinished work still counts. Steady, periodic, and bursty profiles produce seeded Poisson arrivals. These are synthetic workloads, and the waiting metric excludes network and processing time.</a:t>
            </a:r>
          </a:p>
          <a:p xmlns:a="http://schemas.openxmlformats.org/drawingml/2006/main">
            <a:r>
              <a:t/>
            </a:r>
          </a:p>
          <a:p xmlns:a="http://schemas.openxmlformats.org/drawingml/2006/main">
            <a:r>
              <a:t>Sources: Project implementation and Part 1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40 seconds</a:t>
            </a:r>
          </a:p>
          <a:p xmlns:a="http://schemas.openxmlformats.org/drawingml/2006/main">
            <a:r>
              <a:t/>
            </a:r>
          </a:p>
          <a:p xmlns:a="http://schemas.openxmlformats.org/drawingml/2006/main">
            <a:r>
              <a:t>The agent receives nine normalized observations: recent arrivals, a short moving average, the change in demand, queue size and age, active capacity, two stages of starting replicas, and utilization. The actions are remove one replica, hold, or add one. A removal cannot go below one active replica, and an addition cannot exceed ten allocated replicas. Invalid actions become no-ops and are recorded; that detail becomes important later. The observation does not reveal future demand, so the task is partially observable.</a:t>
            </a:r>
          </a:p>
          <a:p xmlns:a="http://schemas.openxmlformats.org/drawingml/2006/main">
            <a:r>
              <a:t/>
            </a:r>
          </a:p>
          <a:p xmlns:a="http://schemas.openxmlformats.org/drawingml/2006/main">
            <a:r>
              <a:t>Sources: Project implementation and Part 1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45 seconds</a:t>
            </a:r>
          </a:p>
          <a:p xmlns:a="http://schemas.openxmlformats.org/drawingml/2006/main">
            <a:r>
              <a:t/>
            </a:r>
          </a:p>
          <a:p xmlns:a="http://schemas.openxmlformats.org/drawingml/2006/main">
            <a:r>
              <a:t>The reward is the negative sum of four penalties. Allocated capacity has a weight of point one, the fraction of resolved requests that violate the target has a weight of five, normalized queue size has a weight of point five, and each successful scaling change costs point zero two. Starting replicas count toward capacity cost. The violation fraction uses requests resolved in the current interval, which is not the same aggregation as the final episode metric. I kept the initial weights rather than tuning them. The large service penalty makes protecting requests attractive, but does not guarantee economical behavior.</a:t>
            </a:r>
          </a:p>
          <a:p xmlns:a="http://schemas.openxmlformats.org/drawingml/2006/main">
            <a:r>
              <a:t/>
            </a:r>
          </a:p>
          <a:p xmlns:a="http://schemas.openxmlformats.org/drawingml/2006/main">
            <a:r>
              <a:t>Sources: Project implementation and Part 1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The actor assigns probabilities to the three actions, and the critic estimates future discounted return. Both networks have two hidden layers of sixty-four tanh units. During training, the policy samples actions, gathers a rollout, and computes advantages with generalized advantage estimation. The clipped objective limits how far the new action probability can move from the policy that collected the data. The clip range is point two, the discount is point nine nine, and the GAE parameter is point nine five. Adam uses a learning rate of three times ten to the minus four, with an entropy bonus of point zero one. Each rollout has 1,024 decisions, followed by ten epochs in minibatches up to sixty-four. At test time I choose the most probable action, so evaluation is deterministic.</a:t>
            </a:r>
          </a:p>
          <a:p xmlns:a="http://schemas.openxmlformats.org/drawingml/2006/main">
            <a:r>
              <a:t/>
            </a:r>
          </a:p>
          <a:p xmlns:a="http://schemas.openxmlformats.org/drawingml/2006/main">
            <a:r>
              <a:t>Sources: Research citations on slide 16; full links below and in README.</a:t>
            </a:r>
          </a:p>
          <a:p xmlns:a="http://schemas.openxmlformats.org/drawingml/2006/main">
            <a:r>
              <a:t/>
            </a:r>
          </a:p>
          <a:p xmlns:a="http://schemas.openxmlformats.org/drawingml/2006/main">
            <a:r>
              <a:t>Research references:</a:t>
            </a:r>
          </a:p>
          <a:p xmlns:a="http://schemas.openxmlformats.org/drawingml/2006/main">
            <a:r>
              <a:t>Schulman et al. (2017). Proximal Policy Optimization Algorithms. https://arxiv.org/abs/1707.06347</a:t>
            </a:r>
          </a:p>
          <a:p xmlns:a="http://schemas.openxmlformats.org/drawingml/2006/main">
            <a:r>
              <a:t>Schulman et al. (2015). Generalized Advantage Estimation. https://arxiv.org/abs/1506.02438</a:t>
            </a:r>
          </a:p>
          <a:p xmlns:a="http://schemas.openxmlformats.org/drawingml/2006/main">
            <a:r>
              <a:t>Barrett et al. (2013). RL for cloud resource allocation. https://doi.org/10.1002/cpe.2864</a:t>
            </a:r>
          </a:p>
          <a:p xmlns:a="http://schemas.openxmlformats.org/drawingml/2006/main">
            <a:r>
              <a:t>Garí et al. (2020). Application autoscaling survey. https://arxiv.org/abs/2001.09957</a:t>
            </a:r>
          </a:p>
          <a:p xmlns:a="http://schemas.openxmlformats.org/drawingml/2006/main">
            <a:r>
              <a:t>Wang et al. (2017). Automated cloud provisioning on AWS. https://arxiv.org/abs/1709.04305</a:t>
            </a:r>
          </a:p>
          <a:p xmlns:a="http://schemas.openxmlformats.org/drawingml/2006/main">
            <a:r>
              <a:t>Qiu et al. (2023). AWARE: workload autoscaling. https://www.usenix.org/conference/atc23/presentation/qiu-haoran</a:t>
            </a:r>
          </a:p>
          <a:p xmlns:a="http://schemas.openxmlformats.org/drawingml/2006/main">
            <a:r>
              <a:t>Mnih et al. (2013). Playing Atari with Deep RL. https://arxiv.org/abs/1312.5602</a:t>
            </a:r>
          </a:p>
          <a:p xmlns:a="http://schemas.openxmlformats.org/drawingml/2006/main">
            <a:r>
              <a:t>Henderson et al. (2017). Deep Reinforcement Learning that Matters. https://arxiv.org/abs/1709.06560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45 seconds</a:t>
            </a:r>
          </a:p>
          <a:p xmlns:a="http://schemas.openxmlformats.org/drawingml/2006/main">
            <a:r>
              <a:t/>
            </a:r>
          </a:p>
          <a:p xmlns:a="http://schemas.openxmlformats.org/drawingml/2006/main">
            <a:r>
              <a:t>The code separates the simulator, controllers, PPO training, the experiment and ablation runners, and analysis. NumPy handles the networks, manual gradients, and Adam. The biggest change from Part 1 is the framework: PyTorch and Gymnasium were unavailable, so I used NumPy with Gymnasium-style reset and step signatures. DQN remains an alternative, not a completed comparison. Nine tests check the gradients numerically with and without clipping, advantages at terminal steps and at lambda zero and one, the entropy diagnostics, startup timing and request accounting, and seeded reproducibility.</a:t>
            </a:r>
          </a:p>
          <a:p xmlns:a="http://schemas.openxmlformats.org/drawingml/2006/main">
            <a:r>
              <a:t/>
            </a:r>
          </a:p>
          <a:p xmlns:a="http://schemas.openxmlformats.org/drawingml/2006/main">
            <a:r>
              <a:t>Sources: Project implementation and Part 1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45 seconds</a:t>
            </a:r>
          </a:p>
          <a:p xmlns:a="http://schemas.openxmlformats.org/drawingml/2006/main">
            <a:r>
              <a:t/>
            </a:r>
          </a:p>
          <a:p xmlns:a="http://schemas.openxmlformats.org/drawingml/2006/main">
            <a:r>
              <a:t>I trained ten independent seeds for fifty thousand decisions each. Twenty validation traces select checkpoints and tune the baselines. The test set has thirty different traces, ten per workload type, and every controller receives the same arrivals. Validation selected eight replicas for the fixed controller, and threshold settings of point six and point two with a ten-second cooldown. PPO is evaluated as ten policies on the same thirty traces. That is three hundred policy-trace evaluations, not three hundred independent workloads, so I treat each training seed as one sample and report ninety-five percent confidence intervals across the ten seeds.</a:t>
            </a:r>
          </a:p>
          <a:p xmlns:a="http://schemas.openxmlformats.org/drawingml/2006/main">
            <a:r>
              <a:t/>
            </a:r>
          </a:p>
          <a:p xmlns:a="http://schemas.openxmlformats.org/drawingml/2006/main">
            <a:r>
              <a:t>Sources: Project implementation and Part 1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45 seconds</a:t>
            </a:r>
          </a:p>
          <a:p xmlns:a="http://schemas.openxmlformats.org/drawingml/2006/main">
            <a:r>
              <a:t/>
            </a:r>
          </a:p>
          <a:p xmlns:a="http://schemas.openxmlformats.org/drawingml/2006/main">
            <a:r>
              <a:t>This chart shows the mean training return across the ten seeds, with dashed lines marking the ninety-five percent confidence interval. Return rises quickly over the first ten thousand decisions and then levels off, and the interval narrows as the seeds converge. Checkpoints were chosen on validation service and cost, not on this curve. Each fifty-thousand-decision run takes only seconds on this machine. Importantly, greedy validation was already favorable before training, so a better training return does not establish that training caused better deterministic service.</a:t>
            </a:r>
          </a:p>
          <a:p xmlns:a="http://schemas.openxmlformats.org/drawingml/2006/main">
            <a:r>
              <a:t/>
            </a:r>
          </a:p>
          <a:p xmlns:a="http://schemas.openxmlformats.org/drawingml/2006/main">
            <a:r>
              <a:t>Sources: Measured outputs/summary.json, training_seed*.csv, test_metrics.csv, experiment.json and demo_trace.json.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a:t>
            </a:r>
          </a:p>
          <a:p xmlns:a="http://schemas.openxmlformats.org/drawingml/2006/main">
            <a:r>
              <a:t/>
            </a:r>
          </a:p>
          <a:p xmlns:a="http://schemas.openxmlformats.org/drawingml/2006/main">
            <a:r>
              <a:t>The fixed controller averaged 14,250 replica-seconds and a four point five eight percent violation rate. The threshold controller used 15,905 replica-seconds with six point five nine percent violations. Across ten seeds, PPO averaged about 17,650 replica-seconds and two point two one percent violations, with a confidence interval from about one point five to two point nine percent. Relative to fixed capacity, PPO used twenty-three point eight five percent more resources, the opposite of the ten-percent saving target. A diagnostic is revealing: PPO averaged about 167 invalid actions per episode, out of 180 decisions. The policies keep requesting additions after reaching the capacity limit. Those actions do nothing, so the agent behaves almost like a high fixed-capacity controller.</a:t>
            </a:r>
          </a:p>
          <a:p xmlns:a="http://schemas.openxmlformats.org/drawingml/2006/main">
            <a:r>
              <a:t/>
            </a:r>
          </a:p>
          <a:p xmlns:a="http://schemas.openxmlformats.org/drawingml/2006/main">
            <a:r>
              <a:t>Sources: Measured outputs/summary.json, training_seed*.csv, test_metrics.csv, experiment.json and demo_trace.json.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50 seconds</a:t>
            </a:r>
          </a:p>
          <a:p xmlns:a="http://schemas.openxmlformats.org/drawingml/2006/main">
            <a:r>
              <a:t/>
            </a:r>
          </a:p>
          <a:p xmlns:a="http://schemas.openxmlformats.org/drawingml/2006/main">
            <a:r>
              <a:t>Breaking results down by workload changes the interpretation. PPO's mean violation rate is four point one eight percent on steady traffic, two point three eight percent on periodic traffic, and only point zero six percent on bursts. The fixed controller misses eight point three three percent on bursts and the threshold controller thirteen point four seven percent, so extra capacity helps most with bursts. But on steady traffic the PPO confidence interval runs from about two to six point three percent, crossing the five-percent limit. Across seeds, overall violations range from one point eight one to five point one one percent. So the cost condition fails clearly, and the per-workload service condition is not met with confidence.</a:t>
            </a:r>
          </a:p>
          <a:p xmlns:a="http://schemas.openxmlformats.org/drawingml/2006/main">
            <a:r>
              <a:t/>
            </a:r>
          </a:p>
          <a:p xmlns:a="http://schemas.openxmlformats.org/drawingml/2006/main">
            <a:r>
              <a:t>Sources: Measured outputs/summary.json, training_seed*.csv, test_metrics.csv, experiment.json and demo_trace.json.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a:t>
            </a:r>
          </a:p>
          <a:p xmlns:a="http://schemas.openxmlformats.org/drawingml/2006/main">
            <a:r>
              <a:t/>
            </a:r>
          </a:p>
          <a:p xmlns:a="http://schemas.openxmlformats.org/drawingml/2006/main">
            <a:r>
              <a:t>I will now play a sixty-second replay of actual evaluated decisions, with three twenty-second segments: steady, periodic, and bursty traffic. Each segment represents thirty simulated minutes. The full curves are visible, and the moving cursor marks the replay time. The gray curve is demand, orange is active capacity, and green is the queue. The bottom panel tracks cumulative violations among resolved requests. Watch the initial capacity ramp and then the large amount of spare capacity. During periodic traffic, demand falls but the policy largely keeps its capacity. On bursty traffic, that spare capacity absorbs peaks. The demo uses seed one, chosen by validation rather than by test appearance, and three predetermined test traces. It illustrates actual behavior, including inefficiency, and does not replace the full test results.</a:t>
            </a:r>
          </a:p>
          <a:p xmlns:a="http://schemas.openxmlformats.org/drawingml/2006/main">
            <a:r>
              <a:t/>
            </a:r>
          </a:p>
          <a:p xmlns:a="http://schemas.openxmlformats.org/drawingml/2006/main">
            <a:r>
              <a:t>Sources: Measured outputs/summary.json, training_seed*.csv, test_metrics.csv, experiment.json and demo_trace.json.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45 seconds</a:t>
            </a:r>
          </a:p>
          <a:p xmlns:a="http://schemas.openxmlformats.org/drawingml/2006/main">
            <a:r>
              <a:t/>
            </a:r>
          </a:p>
          <a:p xmlns:a="http://schemas.openxmlformats.org/drawingml/2006/main">
            <a:r>
              <a:t>A real autoscaler controls both service access and resource spending. Underprovisioning can delay or drop requests, and the impact may fall unevenly on users; this simulator has no user groups, so it does not evaluate fairness. Overprovisioning wastes money and energy, and replica-seconds are not a measured carbon estimate. A real deployment would need hard capacity and budget limits, a fallback controller, monitoring, and rollback, with exploration kept in a sandbox. I remain accountable for the reward and simulator choices rather than assuming the learned behavior is automatically acceptable.</a:t>
            </a:r>
          </a:p>
          <a:p xmlns:a="http://schemas.openxmlformats.org/drawingml/2006/main">
            <a:r>
              <a:t/>
            </a:r>
          </a:p>
          <a:p xmlns:a="http://schemas.openxmlformats.org/drawingml/2006/main">
            <a:r>
              <a:t>Sources: Project implementation and Part 1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40 seconds</a:t>
            </a:r>
          </a:p>
          <a:p xmlns:a="http://schemas.openxmlformats.org/drawingml/2006/main">
            <a:r>
              <a:t/>
            </a:r>
          </a:p>
          <a:p xmlns:a="http://schemas.openxmlformats.org/drawingml/2006/main">
            <a:r>
              <a:t>The project produced a working simulator, a tested PPO implementation, two baselines, ten-seed results with confidence intervals, component ablations, and a replay. The main lesson is that learning a policy is different from meeting the operational goal. The entropy diagnostic points to the first next step: mask invalid actions during training and evaluation. Then I would revisit reward balance, add stronger baselines, and broaden workloads, with validation for tuning and fresh held-out tests. The defensible conclusion is a useful prototype with clear limitations.</a:t>
            </a:r>
          </a:p>
          <a:p xmlns:a="http://schemas.openxmlformats.org/drawingml/2006/main">
            <a:r>
              <a:t/>
            </a:r>
          </a:p>
          <a:p xmlns:a="http://schemas.openxmlformats.org/drawingml/2006/main">
            <a:r>
              <a:t>Sources: Project implementation and Part 1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25 seconds</a:t>
            </a:r>
          </a:p>
          <a:p xmlns:a="http://schemas.openxmlformats.org/drawingml/2006/main">
            <a:r>
              <a:t/>
            </a:r>
          </a:p>
          <a:p xmlns:a="http://schemas.openxmlformats.org/drawingml/2006/main">
            <a:r>
              <a:t>The references connect back to Part 1, and full links are in the repository. OpenAI ChatGPT and Anthropic Claude helped implement and test code, run and analyze the experiments, and draft these slides and narration. The results come from actual simulator runs.</a:t>
            </a:r>
          </a:p>
          <a:p xmlns:a="http://schemas.openxmlformats.org/drawingml/2006/main">
            <a:r>
              <a:t/>
            </a:r>
          </a:p>
          <a:p xmlns:a="http://schemas.openxmlformats.org/drawingml/2006/main">
            <a:r>
              <a:t>Sources: Project implementation and Part 1 plan.</a:t>
            </a:r>
          </a:p>
          <a:p xmlns:a="http://schemas.openxmlformats.org/drawingml/2006/main">
            <a:r>
              <a:t/>
            </a:r>
          </a:p>
          <a:p xmlns:a="http://schemas.openxmlformats.org/drawingml/2006/main">
            <a:r>
              <a:t>Research references:</a:t>
            </a:r>
          </a:p>
          <a:p xmlns:a="http://schemas.openxmlformats.org/drawingml/2006/main">
            <a:r>
              <a:t>Schulman et al. (2017). Proximal Policy Optimization Algorithms. https://arxiv.org/abs/1707.06347</a:t>
            </a:r>
          </a:p>
          <a:p xmlns:a="http://schemas.openxmlformats.org/drawingml/2006/main">
            <a:r>
              <a:t>Schulman et al. (2015). Generalized Advantage Estimation. https://arxiv.org/abs/1506.02438</a:t>
            </a:r>
          </a:p>
          <a:p xmlns:a="http://schemas.openxmlformats.org/drawingml/2006/main">
            <a:r>
              <a:t>Barrett et al. (2013). RL for cloud resource allocation. https://doi.org/10.1002/cpe.2864</a:t>
            </a:r>
          </a:p>
          <a:p xmlns:a="http://schemas.openxmlformats.org/drawingml/2006/main">
            <a:r>
              <a:t>Garí et al. (2020). Application autoscaling survey. https://arxiv.org/abs/2001.09957</a:t>
            </a:r>
          </a:p>
          <a:p xmlns:a="http://schemas.openxmlformats.org/drawingml/2006/main">
            <a:r>
              <a:t>Wang et al. (2017). Automated cloud provisioning on AWS. https://arxiv.org/abs/1709.04305</a:t>
            </a:r>
          </a:p>
          <a:p xmlns:a="http://schemas.openxmlformats.org/drawingml/2006/main">
            <a:r>
              <a:t>Qiu et al. (2023). AWARE: workload autoscaling. https://www.usenix.org/conference/atc23/presentation/qiu-haoran</a:t>
            </a:r>
          </a:p>
          <a:p xmlns:a="http://schemas.openxmlformats.org/drawingml/2006/main">
            <a:r>
              <a:t>Mnih et al. (2013). Playing Atari with Deep RL. https://arxiv.org/abs/1312.5602</a:t>
            </a:r>
          </a:p>
          <a:p xmlns:a="http://schemas.openxmlformats.org/drawingml/2006/main">
            <a:r>
              <a:t>Henderson et al. (2017). Deep Reinforcement Learning that Matters. https://arxiv.org/abs/1709.06560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To measure what PPO's components contribute, I retrained ten paired seeds for three variants: no clipping, and two ways of removing GAE, Monte Carlo returns with lambda one and one-step TD with lambda zero. Paired means each seed starts every variant from the same weights and traffic. Without clipping, training reaches the convergence threshold about a thousand decisions sooner, but the largest update KL jumps from about point zero one five to point six, and one run collapsed to minimum capacity by the end. Lambda one is statistically indistinguishable from full PPO here, because episodes are short. Lambda zero is the slowest, about twenty-nine hundred decisions behind, and the least stable. Validation checkpoint selection hides the collapses, so test metrics barely change.</a:t>
            </a:r>
          </a:p>
          <a:p xmlns:a="http://schemas.openxmlformats.org/drawingml/2006/main">
            <a:r>
              <a:t/>
            </a:r>
          </a:p>
          <a:p xmlns:a="http://schemas.openxmlformats.org/drawingml/2006/main">
            <a:r>
              <a:t>Sources: Measured outputs/ablations/summary.json, summary.md, runs.csv and training_seed*.csv.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45 seconds</a:t>
            </a:r>
          </a:p>
          <a:p xmlns:a="http://schemas.openxmlformats.org/drawingml/2006/main">
            <a:r>
              <a:t/>
            </a:r>
          </a:p>
          <a:p xmlns:a="http://schemas.openxmlformats.org/drawingml/2006/main">
            <a:r>
              <a:t>The entropy bonus acts on the policy's three-way action distribution. But the environment turns invalid actions into holds, so I also log the entropy of the actions that actually execute. The two diverge sharply. At the end of training, policy entropy is about point six four nats, but executed entropy is only point one seven, and sixty-three percent of the probability sits on actions the environment rejects. The policy looks exploratory to the loss, but most of that randomness is a choice between add and hold at the ceiling, which both mean hold. That explains the invalid-action counts, and it motivates masking invalid actions.</a:t>
            </a:r>
          </a:p>
          <a:p xmlns:a="http://schemas.openxmlformats.org/drawingml/2006/main">
            <a:r>
              <a:t/>
            </a:r>
          </a:p>
          <a:p xmlns:a="http://schemas.openxmlformats.org/drawingml/2006/main">
            <a:r>
              <a:t>Sources: Measured outputs/training_seed*.csv (policy_entropy, executed_entropy, invalid_mass) and outputs/entropy.png.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c7ab0e487c4d7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a2f8f677ff3435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0da9c8b681542c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bf29fac965f4ea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e6ff434a082437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6fac2af4b6640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0172DF-0A49-472C-97F9-616DDE883D3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AD6D3B9-02D6-4279-84ED-DD44BFC0EDA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4E7CD1F-E173-42E2-AA35-585E50B435B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43E07D-EB8C-4865-B842-7D042B55CD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397EFB5-B7AA-423C-AAA6-B0975C2C2E6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E7EDE79-63ED-4AE2-82CE-F9911DA7589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589B43-34CE-4D61-949D-6C7B785B35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0705033-EC4B-4C22-8FCD-00B022DFCF3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D2178E-17E5-42B0-9FAE-CE143CD5C5D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33A04B-256A-4FC3-A14D-6F36E85D100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c6e32e21004cc8" /><Relationship Type="http://schemas.openxmlformats.org/officeDocument/2006/relationships/slideLayout" Target="/ppt/slideLayouts/slideLayout1.xml" Id="R24ac033f131044fe" /><Relationship Type="http://schemas.openxmlformats.org/officeDocument/2006/relationships/slideLayout" Target="/ppt/slideLayouts/slideLayout2.xml" Id="R82e16b0a9e2c40b5" /><Relationship Type="http://schemas.openxmlformats.org/officeDocument/2006/relationships/slideLayout" Target="/ppt/slideLayouts/slideLayout3.xml" Id="Rcfb374705f9c4ecd" /><Relationship Type="http://schemas.openxmlformats.org/officeDocument/2006/relationships/slideLayout" Target="/ppt/slideLayouts/slideLayout4.xml" Id="Rc876a4bcec594e0b" /><Relationship Type="http://schemas.openxmlformats.org/officeDocument/2006/relationships/slideLayout" Target="/ppt/slideLayouts/slideLayout5.xml" Id="R53a23561aca94bee" /><Relationship Type="http://schemas.openxmlformats.org/officeDocument/2006/relationships/slideLayout" Target="/ppt/slideLayouts/slideLayout6.xml" Id="R7d6b3e7f768e44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ac033f131044fe"/>
    <p:sldLayoutId xmlns:r="http://schemas.openxmlformats.org/officeDocument/2006/relationships" id="2147483650" r:id="R82e16b0a9e2c40b5"/>
    <p:sldLayoutId xmlns:r="http://schemas.openxmlformats.org/officeDocument/2006/relationships" id="2147483651" r:id="Rcfb374705f9c4ecd"/>
    <p:sldLayoutId xmlns:r="http://schemas.openxmlformats.org/officeDocument/2006/relationships" id="2147483652" r:id="Rc876a4bcec594e0b"/>
    <p:sldLayoutId xmlns:r="http://schemas.openxmlformats.org/officeDocument/2006/relationships" id="2147483653" r:id="R53a23561aca94bee"/>
    <p:sldLayoutId xmlns:r="http://schemas.openxmlformats.org/officeDocument/2006/relationships" id="2147483654" r:id="R7d6b3e7f768e44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b78dd397ec245bf" /><Relationship Type="http://schemas.openxmlformats.org/officeDocument/2006/relationships/notesSlide" Target="/ppt/notesSlides/notesSlide1.xml" Id="R18b73bbe8e7043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271464ffb0848d4" /><Relationship Type="http://schemas.openxmlformats.org/officeDocument/2006/relationships/notesSlide" Target="/ppt/notesSlides/notesSlide2.xml" Id="Rab945f3ae62848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0a23f5f9b004a55" /><Relationship Type="http://schemas.openxmlformats.org/officeDocument/2006/relationships/notesSlide" Target="/ppt/notesSlides/notesSlide3.xml" Id="R3211d0fff66042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856dc747e1d4af3" /><Relationship Type="http://schemas.openxmlformats.org/officeDocument/2006/relationships/notesSlide" Target="/ppt/notesSlides/notesSlide4.xml" Id="Re9f660150efe44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98967e681f64104" /><Relationship Type="http://schemas.openxmlformats.org/officeDocument/2006/relationships/notesSlide" Target="/ppt/notesSlides/notesSlide5.xml" Id="R84da469bb3ac47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21b9cfbfce94c2d" /><Relationship Type="http://schemas.openxmlformats.org/officeDocument/2006/relationships/notesSlide" Target="/ppt/notesSlides/notesSlide6.xml" Id="R09e8feaeaedf43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6924d06ae50449d" /><Relationship Type="http://schemas.openxmlformats.org/officeDocument/2006/relationships/notesSlide" Target="/ppt/notesSlides/notesSlide7.xml" Id="Re27c7d65605642a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c6572feb13644b0" /><Relationship Type="http://schemas.openxmlformats.org/officeDocument/2006/relationships/notesSlide" Target="/ppt/notesSlides/notesSlide8.xml" Id="R66d62eab7fc04b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f11d2d91b9c4e29" /><Relationship Type="http://schemas.openxmlformats.org/officeDocument/2006/relationships/notesSlide" Target="/ppt/notesSlides/notesSlide9.xml" Id="R7700bb47794e49f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89b29fbe9ea4e49" /><Relationship Type="http://schemas.openxmlformats.org/officeDocument/2006/relationships/chart" Target="/ppt/slides/charts/chart1.xml" Id="R19525bc2e3804f1f" /><Relationship Type="http://schemas.openxmlformats.org/officeDocument/2006/relationships/notesSlide" Target="/ppt/notesSlides/notesSlide10.xml" Id="Reae62213eeef42f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647093676dc40e4" /><Relationship Type="http://schemas.openxmlformats.org/officeDocument/2006/relationships/chart" Target="/ppt/slides/charts/chart2.xml" Id="Re33e3304bb864a1b" /><Relationship Type="http://schemas.openxmlformats.org/officeDocument/2006/relationships/chart" Target="/ppt/slides/charts/chart3.xml" Id="R3326cb004b684c1f" /><Relationship Type="http://schemas.openxmlformats.org/officeDocument/2006/relationships/notesSlide" Target="/ppt/notesSlides/notesSlide11.xml" Id="Rd38f9378cced4a9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90afcefd613410e" /><Relationship Type="http://schemas.openxmlformats.org/officeDocument/2006/relationships/chart" Target="/ppt/slides/charts/chart4.xml" Id="R10e14271a8904f1e" /><Relationship Type="http://schemas.openxmlformats.org/officeDocument/2006/relationships/notesSlide" Target="/ppt/notesSlides/notesSlide12.xml" Id="R9f475a1122ef498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821fc0a640f4bc5" /><Relationship Type="http://schemas.openxmlformats.org/officeDocument/2006/relationships/image" Target="/ppt/media/image.png" Id="R1ff7bb6a06f44229" /><Relationship Type="http://schemas.openxmlformats.org/officeDocument/2006/relationships/notesSlide" Target="/ppt/notesSlides/notesSlide13.xml" Id="R2cad8f609a3a450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d1c1696d95e491a" /><Relationship Type="http://schemas.openxmlformats.org/officeDocument/2006/relationships/notesSlide" Target="/ppt/notesSlides/notesSlide14.xml" Id="R9325d5a661fb408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ae93a2f3457428d" /><Relationship Type="http://schemas.openxmlformats.org/officeDocument/2006/relationships/notesSlide" Target="/ppt/notesSlides/notesSlide15.xml" Id="R45496241c2874fe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72f9d229ae946d3" /><Relationship Type="http://schemas.openxmlformats.org/officeDocument/2006/relationships/notesSlide" Target="/ppt/notesSlides/notesSlide16.xml" Id="R44d41eeb7b4e4c5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647093676dc40e4" /><Relationship Type="http://schemas.openxmlformats.org/officeDocument/2006/relationships/chart" Target="/ppt/slides/charts/chart5.xml" Id="Re33e3304bb864a1b" /><Relationship Type="http://schemas.openxmlformats.org/officeDocument/2006/relationships/chart" Target="/ppt/slides/charts/chart6.xml" Id="R3326cb004b684c1f" /><Relationship Type="http://schemas.openxmlformats.org/officeDocument/2006/relationships/notesSlide" Target="/ppt/notesSlides/notesSlide17.xml" Id="RnotesNew1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89b29fbe9ea4e49" /><Relationship Type="http://schemas.openxmlformats.org/officeDocument/2006/relationships/chart" Target="/ppt/slides/charts/chart7.xml" Id="R19525bc2e3804f1f" /><Relationship Type="http://schemas.openxmlformats.org/officeDocument/2006/relationships/notesSlide" Target="/ppt/notesSlides/notesSlide18.xml" Id="RnotesNew1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a:solidFill>
                  <a:srgbClr val="172D44"/>
                </a:solidFill>
                <a:latin typeface="DejaVu Sans"/>
                <a:ea typeface="DejaVu Sans"/>
                <a:cs typeface="DejaVu Sans"/>
              </a:rPr>
              <a:t>Training return: mean and 95% CI across 10 seeds</a:t>
            </a:r>
          </a:p>
        </c:rich>
      </c:tx>
      <c:overlay val="0"/>
      <c:txPr>
        <a:bodyPr xmlns:a="http://schemas.openxmlformats.org/drawingml/2006/main" anchorCtr="1"/>
        <a:lstStyle xmlns:a="http://schemas.openxmlformats.org/drawingml/2006/main"/>
        <a:p xmlns:a="http://schemas.openxmlformats.org/drawingml/2006/main">
          <a:pPr>
            <a:defRPr sz="1875">
              <a:solidFill>
                <a:srgbClr val="172D44"/>
              </a:solidFill>
              <a:latin typeface="DejaVu Sans"/>
              <a:ea typeface="DejaVu Sans"/>
              <a:cs typeface="DejaVu Sans"/>
            </a:defRPr>
          </a:pPr>
        </a:p>
      </c:txPr>
    </c:title>
    <c:plotArea>
      <c:lineChart>
        <c:grouping val="standard"/>
        <c:varyColors val="0"/>
        <c:ser>
          <c:idx val="0"/>
          <c:order val="0"/>
          <c:tx>
            <c:v>Mean of 10 seeds</c:v>
          </c:tx>
          <c:spPr>
            <a:ln xmlns:a="http://schemas.openxmlformats.org/drawingml/2006/main" w="34925">
              <a:solidFill>
                <a:srgbClr val="DC7841"/>
              </a:solidFill>
            </a:ln>
          </c:spPr>
          <c:marker>
            <c:symbol val="none"/>
          </c:marker>
          <c:cat>
            <c:numRef>
              <c:f>'Chart Data'!$A$2:$A$11</c:f>
              <c:numCache>
                <c:formatCode>General</c:formatCode>
                <c:ptCount val="10"/>
                <c:pt idx="0">
                  <c:v>5.12</c:v>
                </c:pt>
                <c:pt idx="1">
                  <c:v>10.24</c:v>
                </c:pt>
                <c:pt idx="2">
                  <c:v>15.36</c:v>
                </c:pt>
                <c:pt idx="3">
                  <c:v>20.48</c:v>
                </c:pt>
                <c:pt idx="4">
                  <c:v>25.6</c:v>
                </c:pt>
                <c:pt idx="5">
                  <c:v>30.72</c:v>
                </c:pt>
                <c:pt idx="6">
                  <c:v>35.84</c:v>
                </c:pt>
                <c:pt idx="7">
                  <c:v>40.96</c:v>
                </c:pt>
                <c:pt idx="8">
                  <c:v>46.08</c:v>
                </c:pt>
                <c:pt idx="9">
                  <c:v>50</c:v>
                </c:pt>
              </c:numCache>
            </c:numRef>
          </c:cat>
          <c:val>
            <c:numRef>
              <c:f>'Chart Data'!$B$2:$B$11</c:f>
              <c:numCache>
                <c:formatCode>0.0</c:formatCode>
                <c:ptCount val="10"/>
                <c:pt idx="0">
                  <c:v>-117.298</c:v>
                </c:pt>
                <c:pt idx="1">
                  <c:v>-47.9571</c:v>
                </c:pt>
                <c:pt idx="2">
                  <c:v>-42.197</c:v>
                </c:pt>
                <c:pt idx="3">
                  <c:v>-35.956</c:v>
                </c:pt>
                <c:pt idx="4">
                  <c:v>-38.8407</c:v>
                </c:pt>
                <c:pt idx="5">
                  <c:v>-34.5911</c:v>
                </c:pt>
                <c:pt idx="6">
                  <c:v>-39.0078</c:v>
                </c:pt>
                <c:pt idx="7">
                  <c:v>-35.9979</c:v>
                </c:pt>
                <c:pt idx="8">
                  <c:v>-37.1872</c:v>
                </c:pt>
                <c:pt idx="9">
                  <c:v>-36.2334</c:v>
                </c:pt>
              </c:numCache>
            </c:numRef>
          </c:val>
          <c:smooth val="0"/>
        </c:ser>
        <c:ser>
          <c:idx val="1"/>
          <c:order val="1"/>
          <c:tx>
            <c:v>95% CI upper</c:v>
          </c:tx>
          <c:spPr>
            <a:ln xmlns:a="http://schemas.openxmlformats.org/drawingml/2006/main" w="15875">
              <a:solidFill>
                <a:srgbClr val="DC7841"/>
              </a:solidFill>
              <a:prstDash val="dash"/>
            </a:ln>
          </c:spPr>
          <c:marker>
            <c:symbol val="none"/>
          </c:marker>
          <c:cat>
            <c:numRef>
              <c:f>'Chart Data'!$C$2:$C$11</c:f>
              <c:numCache>
                <c:formatCode>General</c:formatCode>
                <c:ptCount val="10"/>
                <c:pt idx="0">
                  <c:v>5.12</c:v>
                </c:pt>
                <c:pt idx="1">
                  <c:v>10.24</c:v>
                </c:pt>
                <c:pt idx="2">
                  <c:v>15.36</c:v>
                </c:pt>
                <c:pt idx="3">
                  <c:v>20.48</c:v>
                </c:pt>
                <c:pt idx="4">
                  <c:v>25.6</c:v>
                </c:pt>
                <c:pt idx="5">
                  <c:v>30.72</c:v>
                </c:pt>
                <c:pt idx="6">
                  <c:v>35.84</c:v>
                </c:pt>
                <c:pt idx="7">
                  <c:v>40.96</c:v>
                </c:pt>
                <c:pt idx="8">
                  <c:v>46.08</c:v>
                </c:pt>
                <c:pt idx="9">
                  <c:v>50</c:v>
                </c:pt>
              </c:numCache>
            </c:numRef>
          </c:cat>
          <c:val>
            <c:numRef>
              <c:f>'Chart Data'!$D$2:$D$11</c:f>
              <c:numCache>
                <c:formatCode>0.0</c:formatCode>
                <c:ptCount val="10"/>
                <c:pt idx="0">
                  <c:v>-103.084</c:v>
                </c:pt>
                <c:pt idx="1">
                  <c:v>-40.1306</c:v>
                </c:pt>
                <c:pt idx="2">
                  <c:v>-36.0293</c:v>
                </c:pt>
                <c:pt idx="3">
                  <c:v>-31.1726</c:v>
                </c:pt>
                <c:pt idx="4">
                  <c:v>-31.0118</c:v>
                </c:pt>
                <c:pt idx="5">
                  <c:v>-30.9243</c:v>
                </c:pt>
                <c:pt idx="6">
                  <c:v>-33.4898</c:v>
                </c:pt>
                <c:pt idx="7">
                  <c:v>-33.2568</c:v>
                </c:pt>
                <c:pt idx="8">
                  <c:v>-34.2242</c:v>
                </c:pt>
                <c:pt idx="9">
                  <c:v>-33.0609</c:v>
                </c:pt>
              </c:numCache>
            </c:numRef>
          </c:val>
          <c:smooth val="0"/>
        </c:ser>
        <c:ser>
          <c:idx val="2"/>
          <c:order val="2"/>
          <c:tx>
            <c:v>95% CI lower</c:v>
          </c:tx>
          <c:spPr>
            <a:ln xmlns:a="http://schemas.openxmlformats.org/drawingml/2006/main" w="15875">
              <a:solidFill>
                <a:srgbClr val="DC7841"/>
              </a:solidFill>
              <a:prstDash val="dash"/>
            </a:ln>
          </c:spPr>
          <c:marker>
            <c:symbol val="none"/>
          </c:marker>
          <c:cat>
            <c:numRef>
              <c:f>'Chart Data'!$E$2:$E$11</c:f>
              <c:numCache>
                <c:formatCode>General</c:formatCode>
                <c:ptCount val="10"/>
                <c:pt idx="0">
                  <c:v>5.12</c:v>
                </c:pt>
                <c:pt idx="1">
                  <c:v>10.24</c:v>
                </c:pt>
                <c:pt idx="2">
                  <c:v>15.36</c:v>
                </c:pt>
                <c:pt idx="3">
                  <c:v>20.48</c:v>
                </c:pt>
                <c:pt idx="4">
                  <c:v>25.6</c:v>
                </c:pt>
                <c:pt idx="5">
                  <c:v>30.72</c:v>
                </c:pt>
                <c:pt idx="6">
                  <c:v>35.84</c:v>
                </c:pt>
                <c:pt idx="7">
                  <c:v>40.96</c:v>
                </c:pt>
                <c:pt idx="8">
                  <c:v>46.08</c:v>
                </c:pt>
                <c:pt idx="9">
                  <c:v>50</c:v>
                </c:pt>
              </c:numCache>
            </c:numRef>
          </c:cat>
          <c:val>
            <c:numRef>
              <c:f>'Chart Data'!$F$2:$F$11</c:f>
              <c:numCache>
                <c:formatCode>0.0</c:formatCode>
                <c:ptCount val="10"/>
                <c:pt idx="0">
                  <c:v>-131.513</c:v>
                </c:pt>
                <c:pt idx="1">
                  <c:v>-55.7836</c:v>
                </c:pt>
                <c:pt idx="2">
                  <c:v>-48.3648</c:v>
                </c:pt>
                <c:pt idx="3">
                  <c:v>-40.7395</c:v>
                </c:pt>
                <c:pt idx="4">
                  <c:v>-46.6696</c:v>
                </c:pt>
                <c:pt idx="5">
                  <c:v>-38.2579</c:v>
                </c:pt>
                <c:pt idx="6">
                  <c:v>-44.5258</c:v>
                </c:pt>
                <c:pt idx="7">
                  <c:v>-38.739</c:v>
                </c:pt>
                <c:pt idx="8">
                  <c:v>-40.1502</c:v>
                </c:pt>
                <c:pt idx="9">
                  <c:v>-39.4059</c:v>
                </c:pt>
              </c:numCache>
            </c:numRef>
          </c:val>
          <c:smooth val="0"/>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75">
                    <a:solidFill>
                      <a:srgbClr val="263A4E"/>
                    </a:solidFill>
                    <a:latin typeface="DejaVu Sans"/>
                    <a:ea typeface="DejaVu Sans"/>
                    <a:cs typeface="DejaVu Sans"/>
                  </a:rPr>
                  <a:t>Training decisions (thousands)</a:t>
                </a:r>
              </a:p>
            </c:rich>
          </c:tx>
          <c:overlay val="0"/>
          <c:txPr>
            <a:bodyPr xmlns:a="http://schemas.openxmlformats.org/drawingml/2006/main" anchorCtr="1"/>
            <a:lstStyle xmlns:a="http://schemas.openxmlformats.org/drawingml/2006/main"/>
            <a:p xmlns:a="http://schemas.openxmlformats.org/drawingml/2006/main">
              <a:pPr>
                <a:defRPr sz="1575">
                  <a:solidFill>
                    <a:srgbClr val="263A4E"/>
                  </a:solidFill>
                  <a:latin typeface="DejaVu Sans"/>
                  <a:ea typeface="DejaVu Sans"/>
                  <a:cs typeface="DejaVu Sans"/>
                </a:defRPr>
              </a:pPr>
            </a:p>
          </c:txPr>
        </c:title>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63A4E"/>
                </a:solidFill>
                <a:latin typeface="DejaVu Sans"/>
                <a:ea typeface="DejaVu Sans"/>
                <a:cs typeface="DejaVu Sans"/>
              </a:defRPr>
            </a:pPr>
          </a:p>
        </c:txPr>
        <c:crossAx val="48672768"/>
      </c:catAx>
      <c:valAx>
        <c:axId val="48672768"/>
        <c:scaling>
          <c:orientation val="minMax"/>
        </c:scaling>
        <c:delete val="0"/>
        <c:axPos val="l"/>
        <c:majorGridlines>
          <c:spPr>
            <a:ln xmlns:a="http://schemas.openxmlformats.org/drawingml/2006/main" w="9525">
              <a:solidFill>
                <a:srgbClr val="DCE3E9"/>
              </a:solidFill>
            </a:ln>
          </c:spPr>
        </c:majorGridlines>
        <c:title>
          <c:tx>
            <c:rich>
              <a:bodyPr xmlns:a="http://schemas.openxmlformats.org/drawingml/2006/main"/>
              <a:lstStyle xmlns:a="http://schemas.openxmlformats.org/drawingml/2006/main"/>
              <a:p xmlns:a="http://schemas.openxmlformats.org/drawingml/2006/main">
                <a:r>
                  <a:rPr sz="1575">
                    <a:solidFill>
                      <a:srgbClr val="263A4E"/>
                    </a:solidFill>
                    <a:latin typeface="DejaVu Sans"/>
                    <a:ea typeface="DejaVu Sans"/>
                    <a:cs typeface="DejaVu Sans"/>
                  </a:rPr>
                  <a:t>Return</a:t>
                </a:r>
              </a:p>
            </c:rich>
          </c:tx>
          <c:overlay val="0"/>
          <c:txPr>
            <a:bodyPr xmlns:a="http://schemas.openxmlformats.org/drawingml/2006/main" anchorCtr="1"/>
            <a:lstStyle xmlns:a="http://schemas.openxmlformats.org/drawingml/2006/main"/>
            <a:p xmlns:a="http://schemas.openxmlformats.org/drawingml/2006/main">
              <a:pPr>
                <a:defRPr sz="1575">
                  <a:solidFill>
                    <a:srgbClr val="263A4E"/>
                  </a:solidFill>
                  <a:latin typeface="DejaVu Sans"/>
                  <a:ea typeface="DejaVu Sans"/>
                  <a:cs typeface="DejaVu Sans"/>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63A4E"/>
                </a:solidFill>
                <a:latin typeface="DejaVu Sans"/>
                <a:ea typeface="DejaVu Sans"/>
                <a:cs typeface="DejaVu Sans"/>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263A4E"/>
              </a:solidFill>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a:solidFill>
                  <a:srgbClr val="172D44"/>
                </a:solidFill>
                <a:latin typeface="DejaVu Sans"/>
                <a:ea typeface="DejaVu Sans"/>
                <a:cs typeface="DejaVu Sans"/>
              </a:rPr>
              <a:t>Allocated replica-seconds</a:t>
            </a:r>
          </a:p>
        </c:rich>
      </c:tx>
      <c:overlay val="0"/>
      <c:txPr>
        <a:bodyPr xmlns:a="http://schemas.openxmlformats.org/drawingml/2006/main" anchorCtr="1"/>
        <a:lstStyle xmlns:a="http://schemas.openxmlformats.org/drawingml/2006/main"/>
        <a:p xmlns:a="http://schemas.openxmlformats.org/drawingml/2006/main">
          <a:pPr>
            <a:defRPr sz="1725">
              <a:solidFill>
                <a:srgbClr val="172D44"/>
              </a:solidFill>
              <a:latin typeface="DejaVu Sans"/>
              <a:ea typeface="DejaVu Sans"/>
              <a:cs typeface="DejaVu Sans"/>
            </a:defRPr>
          </a:pPr>
        </a:p>
      </c:txPr>
    </c:title>
    <c:plotArea>
      <c:barChart>
        <c:barDir val="col"/>
        <c:grouping val="clustered"/>
        <c:varyColors val="0"/>
        <c:ser>
          <c:idx val="0"/>
          <c:order val="0"/>
          <c:tx>
            <c:v>Capacity</c:v>
          </c:tx>
          <c:spPr>
            <a:solidFill xmlns:a="http://schemas.openxmlformats.org/drawingml/2006/main">
              <a:srgbClr val="172D44"/>
            </a:solidFill>
          </c:spPr>
          <c:cat>
            <c:strRef>
              <c:f>'Chart Data'!$A$2:$A$4</c:f>
              <c:strCache>
                <c:ptCount val="3"/>
                <c:pt idx="0">
                  <c:v>Fixed</c:v>
                </c:pt>
                <c:pt idx="1">
                  <c:v>Threshold</c:v>
                </c:pt>
                <c:pt idx="2">
                  <c:v>PPO</c:v>
                </c:pt>
              </c:strCache>
            </c:strRef>
          </c:cat>
          <c:val>
            <c:numRef>
              <c:f>'Chart Data'!$B$2:$B$4</c:f>
              <c:numCache>
                <c:formatCode>#,##0</c:formatCode>
                <c:ptCount val="3"/>
                <c:pt idx="0">
                  <c:v>14250</c:v>
                </c:pt>
                <c:pt idx="1">
                  <c:v>15905</c:v>
                </c:pt>
                <c:pt idx="2">
                  <c:v>17648.8</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75">
                  <a:solidFill>
                    <a:srgbClr val="263A4E"/>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63A4E"/>
                </a:solidFill>
                <a:latin typeface="DejaVu Sans"/>
                <a:ea typeface="DejaVu Sans"/>
                <a:cs typeface="DejaVu Sans"/>
              </a:defRPr>
            </a:pPr>
          </a:p>
        </c:txPr>
        <c:crossAx val="48672768"/>
      </c:catAx>
      <c:valAx>
        <c:axId val="48672768"/>
        <c:scaling>
          <c:orientation val="minMax"/>
        </c:scaling>
        <c:delete val="0"/>
        <c:axPos val="l"/>
        <c:majorGridlines>
          <c:spPr>
            <a:ln xmlns:a="http://schemas.openxmlformats.org/drawingml/2006/main" w="9525">
              <a:solidFill>
                <a:srgbClr val="DCE3E9"/>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63A4E"/>
                </a:solidFill>
                <a:latin typeface="DejaVu Sans"/>
                <a:ea typeface="DejaVu Sans"/>
                <a:cs typeface="DejaVu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a:solidFill>
                  <a:srgbClr val="172D44"/>
                </a:solidFill>
                <a:latin typeface="DejaVu Sans"/>
                <a:ea typeface="DejaVu Sans"/>
                <a:cs typeface="DejaVu Sans"/>
              </a:rPr>
              <a:t>Waiting-target violations (%)</a:t>
            </a:r>
          </a:p>
        </c:rich>
      </c:tx>
      <c:overlay val="0"/>
      <c:txPr>
        <a:bodyPr xmlns:a="http://schemas.openxmlformats.org/drawingml/2006/main" anchorCtr="1"/>
        <a:lstStyle xmlns:a="http://schemas.openxmlformats.org/drawingml/2006/main"/>
        <a:p xmlns:a="http://schemas.openxmlformats.org/drawingml/2006/main">
          <a:pPr>
            <a:defRPr sz="1725">
              <a:solidFill>
                <a:srgbClr val="172D44"/>
              </a:solidFill>
              <a:latin typeface="DejaVu Sans"/>
              <a:ea typeface="DejaVu Sans"/>
              <a:cs typeface="DejaVu Sans"/>
            </a:defRPr>
          </a:pPr>
        </a:p>
      </c:txPr>
    </c:title>
    <c:plotArea>
      <c:barChart>
        <c:barDir val="col"/>
        <c:grouping val="clustered"/>
        <c:varyColors val="0"/>
        <c:ser>
          <c:idx val="0"/>
          <c:order val="0"/>
          <c:tx>
            <c:v>Violations</c:v>
          </c:tx>
          <c:spPr>
            <a:solidFill xmlns:a="http://schemas.openxmlformats.org/drawingml/2006/main">
              <a:srgbClr val="DC7841"/>
            </a:solidFill>
          </c:spPr>
          <c:cat>
            <c:strRef>
              <c:f>'Chart Data'!$A$2:$A$4</c:f>
              <c:strCache>
                <c:ptCount val="3"/>
                <c:pt idx="0">
                  <c:v>Fixed</c:v>
                </c:pt>
                <c:pt idx="1">
                  <c:v>Threshold</c:v>
                </c:pt>
                <c:pt idx="2">
                  <c:v>PPO</c:v>
                </c:pt>
              </c:strCache>
            </c:strRef>
          </c:cat>
          <c:val>
            <c:numRef>
              <c:f>'Chart Data'!$B$2:$B$4</c:f>
              <c:numCache>
                <c:formatCode>0.0</c:formatCode>
                <c:ptCount val="3"/>
                <c:pt idx="0">
                  <c:v>4.5799</c:v>
                </c:pt>
                <c:pt idx="1">
                  <c:v>6.5908</c:v>
                </c:pt>
                <c:pt idx="2">
                  <c:v>2.20633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solidFill>
                    <a:srgbClr val="263A4E"/>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63A4E"/>
                </a:solidFill>
                <a:latin typeface="DejaVu Sans"/>
                <a:ea typeface="DejaVu Sans"/>
                <a:cs typeface="DejaVu Sans"/>
              </a:defRPr>
            </a:pPr>
          </a:p>
        </c:txPr>
        <c:crossAx val="48672768"/>
      </c:catAx>
      <c:valAx>
        <c:axId val="48672768"/>
        <c:scaling>
          <c:orientation val="minMax"/>
        </c:scaling>
        <c:delete val="0"/>
        <c:axPos val="l"/>
        <c:majorGridlines>
          <c:spPr>
            <a:ln xmlns:a="http://schemas.openxmlformats.org/drawingml/2006/main" w="9525">
              <a:solidFill>
                <a:srgbClr val="DCE3E9"/>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63A4E"/>
                </a:solidFill>
                <a:latin typeface="DejaVu Sans"/>
                <a:ea typeface="DejaVu Sans"/>
                <a:cs typeface="DejaVu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a:solidFill>
                  <a:srgbClr val="172D44"/>
                </a:solidFill>
                <a:latin typeface="DejaVu Sans"/>
                <a:ea typeface="DejaVu Sans"/>
                <a:cs typeface="DejaVu Sans"/>
              </a:rPr>
              <a:t>Mean waiting-target violations (%)</a:t>
            </a:r>
          </a:p>
        </c:rich>
      </c:tx>
      <c:overlay val="0"/>
      <c:txPr>
        <a:bodyPr xmlns:a="http://schemas.openxmlformats.org/drawingml/2006/main" anchorCtr="1"/>
        <a:lstStyle xmlns:a="http://schemas.openxmlformats.org/drawingml/2006/main"/>
        <a:p xmlns:a="http://schemas.openxmlformats.org/drawingml/2006/main">
          <a:pPr>
            <a:defRPr sz="1875">
              <a:solidFill>
                <a:srgbClr val="172D44"/>
              </a:solidFill>
              <a:latin typeface="DejaVu Sans"/>
              <a:ea typeface="DejaVu Sans"/>
              <a:cs typeface="DejaVu Sans"/>
            </a:defRPr>
          </a:pPr>
        </a:p>
      </c:txPr>
    </c:title>
    <c:plotArea>
      <c:barChart>
        <c:barDir val="col"/>
        <c:grouping val="clustered"/>
        <c:varyColors val="0"/>
        <c:ser>
          <c:idx val="0"/>
          <c:order val="0"/>
          <c:tx>
            <c:v>Fixed</c:v>
          </c:tx>
          <c:spPr>
            <a:solidFill xmlns:a="http://schemas.openxmlformats.org/drawingml/2006/main">
              <a:srgbClr val="8993A0"/>
            </a:solidFill>
          </c:spPr>
          <c:cat>
            <c:strRef>
              <c:f>'Chart Data'!$A$2:$A$4</c:f>
              <c:strCache>
                <c:ptCount val="3"/>
                <c:pt idx="0">
                  <c:v>Steady</c:v>
                </c:pt>
                <c:pt idx="1">
                  <c:v>Periodic</c:v>
                </c:pt>
                <c:pt idx="2">
                  <c:v>Bursty</c:v>
                </c:pt>
              </c:strCache>
            </c:strRef>
          </c:cat>
          <c:val>
            <c:numRef>
              <c:f>'Chart Data'!$B$2:$B$4</c:f>
              <c:numCache>
                <c:formatCode>0.0</c:formatCode>
                <c:ptCount val="3"/>
                <c:pt idx="0">
                  <c:v>3.149</c:v>
                </c:pt>
                <c:pt idx="1">
                  <c:v>2.2568</c:v>
                </c:pt>
                <c:pt idx="2">
                  <c:v>8.3339</c:v>
                </c:pt>
              </c:numCache>
            </c:numRef>
          </c:val>
        </c:ser>
        <c:ser>
          <c:idx val="1"/>
          <c:order val="1"/>
          <c:tx>
            <c:v>Threshold</c:v>
          </c:tx>
          <c:spPr>
            <a:solidFill xmlns:a="http://schemas.openxmlformats.org/drawingml/2006/main">
              <a:srgbClr val="21867A"/>
            </a:solidFill>
          </c:spPr>
          <c:cat>
            <c:strRef>
              <c:f>'Chart Data'!$C$2:$C$4</c:f>
              <c:strCache>
                <c:ptCount val="3"/>
                <c:pt idx="0">
                  <c:v>Steady</c:v>
                </c:pt>
                <c:pt idx="1">
                  <c:v>Periodic</c:v>
                </c:pt>
                <c:pt idx="2">
                  <c:v>Bursty</c:v>
                </c:pt>
              </c:strCache>
            </c:strRef>
          </c:cat>
          <c:val>
            <c:numRef>
              <c:f>'Chart Data'!$D$2:$D$4</c:f>
              <c:numCache>
                <c:formatCode>0.0</c:formatCode>
                <c:ptCount val="3"/>
                <c:pt idx="0">
                  <c:v>3.6381</c:v>
                </c:pt>
                <c:pt idx="1">
                  <c:v>2.6664</c:v>
                </c:pt>
                <c:pt idx="2">
                  <c:v>13.4679</c:v>
                </c:pt>
              </c:numCache>
            </c:numRef>
          </c:val>
        </c:ser>
        <c:ser>
          <c:idx val="2"/>
          <c:order val="2"/>
          <c:tx>
            <c:v>PPO</c:v>
          </c:tx>
          <c:spPr>
            <a:solidFill xmlns:a="http://schemas.openxmlformats.org/drawingml/2006/main">
              <a:srgbClr val="DC7841"/>
            </a:solidFill>
          </c:spPr>
          <c:cat>
            <c:strRef>
              <c:f>'Chart Data'!$E$2:$E$4</c:f>
              <c:strCache>
                <c:ptCount val="3"/>
                <c:pt idx="0">
                  <c:v>Steady</c:v>
                </c:pt>
                <c:pt idx="1">
                  <c:v>Periodic</c:v>
                </c:pt>
                <c:pt idx="2">
                  <c:v>Bursty</c:v>
                </c:pt>
              </c:strCache>
            </c:strRef>
          </c:cat>
          <c:val>
            <c:numRef>
              <c:f>'Chart Data'!$F$2:$F$4</c:f>
              <c:numCache>
                <c:formatCode>0.0</c:formatCode>
                <c:ptCount val="3"/>
                <c:pt idx="0">
                  <c:v>4.177</c:v>
                </c:pt>
                <c:pt idx="1">
                  <c:v>2.37798</c:v>
                </c:pt>
                <c:pt idx="2">
                  <c:v>0.0639991</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63A4E"/>
                </a:solidFill>
                <a:latin typeface="DejaVu Sans"/>
                <a:ea typeface="DejaVu Sans"/>
                <a:cs typeface="DejaVu Sans"/>
              </a:defRPr>
            </a:pPr>
          </a:p>
        </c:txPr>
        <c:crossAx val="48672768"/>
      </c:catAx>
      <c:valAx>
        <c:axId val="48672768"/>
        <c:scaling>
          <c:orientation val="minMax"/>
        </c:scaling>
        <c:delete val="0"/>
        <c:axPos val="l"/>
        <c:majorGridlines>
          <c:spPr>
            <a:ln xmlns:a="http://schemas.openxmlformats.org/drawingml/2006/main" w="9525">
              <a:solidFill>
                <a:srgbClr val="DCE3E9"/>
              </a:solidFill>
            </a:ln>
          </c:spPr>
        </c:majorGridlines>
        <c:title>
          <c:tx>
            <c:rich>
              <a:bodyPr xmlns:a="http://schemas.openxmlformats.org/drawingml/2006/main"/>
              <a:lstStyle xmlns:a="http://schemas.openxmlformats.org/drawingml/2006/main"/>
              <a:p xmlns:a="http://schemas.openxmlformats.org/drawingml/2006/main">
                <a:r>
                  <a:rPr sz="1575">
                    <a:solidFill>
                      <a:srgbClr val="263A4E"/>
                    </a:solidFill>
                    <a:latin typeface="DejaVu Sans"/>
                    <a:ea typeface="DejaVu Sans"/>
                    <a:cs typeface="DejaVu Sans"/>
                  </a:rPr>
                  <a:t>Percent</a:t>
                </a:r>
              </a:p>
            </c:rich>
          </c:tx>
          <c:overlay val="0"/>
          <c:txPr>
            <a:bodyPr xmlns:a="http://schemas.openxmlformats.org/drawingml/2006/main" anchorCtr="1"/>
            <a:lstStyle xmlns:a="http://schemas.openxmlformats.org/drawingml/2006/main"/>
            <a:p xmlns:a="http://schemas.openxmlformats.org/drawingml/2006/main">
              <a:pPr>
                <a:defRPr sz="1575">
                  <a:solidFill>
                    <a:srgbClr val="263A4E"/>
                  </a:solidFill>
                  <a:latin typeface="DejaVu Sans"/>
                  <a:ea typeface="DejaVu Sans"/>
                  <a:cs typeface="DejaVu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63A4E"/>
                </a:solidFill>
                <a:latin typeface="DejaVu Sans"/>
                <a:ea typeface="DejaVu Sans"/>
                <a:cs typeface="DejaVu Sans"/>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263A4E"/>
              </a:solidFill>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a:solidFill>
                  <a:srgbClr val="172D44"/>
                </a:solidFill>
                <a:latin typeface="DejaVu Sans"/>
                <a:ea typeface="DejaVu Sans"/>
                <a:cs typeface="DejaVu Sans"/>
              </a:rPr>
              <a:t>Decisions to threshold (thousands)</a:t>
            </a:r>
          </a:p>
        </c:rich>
      </c:tx>
      <c:overlay val="0"/>
      <c:txPr>
        <a:bodyPr xmlns:a="http://schemas.openxmlformats.org/drawingml/2006/main" anchorCtr="1"/>
        <a:lstStyle xmlns:a="http://schemas.openxmlformats.org/drawingml/2006/main"/>
        <a:p xmlns:a="http://schemas.openxmlformats.org/drawingml/2006/main">
          <a:pPr>
            <a:defRPr sz="1725">
              <a:solidFill>
                <a:srgbClr val="172D44"/>
              </a:solidFill>
              <a:latin typeface="DejaVu Sans"/>
              <a:ea typeface="DejaVu Sans"/>
              <a:cs typeface="DejaVu Sans"/>
            </a:defRPr>
          </a:pPr>
        </a:p>
      </c:txPr>
    </c:title>
    <c:plotArea>
      <c:barChart>
        <c:barDir val="col"/>
        <c:grouping val="clustered"/>
        <c:varyColors val="0"/>
        <c:ser>
          <c:idx val="0"/>
          <c:order val="0"/>
          <c:tx>
            <c:v>Decisions (k)</c:v>
          </c:tx>
          <c:spPr>
            <a:solidFill xmlns:a="http://schemas.openxmlformats.org/drawingml/2006/main">
              <a:srgbClr val="172D44"/>
            </a:solidFill>
          </c:spPr>
          <c:invertIfNegative val="0"/>
          <c:dPt>
            <c:idx val="0"/>
            <c:invertIfNegative val="0"/>
            <c:bubble3D val="0"/>
            <c:spPr>
              <a:solidFill xmlns:a="http://schemas.openxmlformats.org/drawingml/2006/main">
                <a:srgbClr val="DC7841"/>
              </a:solidFill>
            </c:spPr>
          </c:dPt>
          <c:dPt>
            <c:idx val="1"/>
            <c:invertIfNegative val="0"/>
            <c:bubble3D val="0"/>
            <c:spPr>
              <a:solidFill xmlns:a="http://schemas.openxmlformats.org/drawingml/2006/main">
                <a:srgbClr val="172D44"/>
              </a:solidFill>
            </c:spPr>
          </c:dPt>
          <c:dPt>
            <c:idx val="2"/>
            <c:invertIfNegative val="0"/>
            <c:bubble3D val="0"/>
            <c:spPr>
              <a:solidFill xmlns:a="http://schemas.openxmlformats.org/drawingml/2006/main">
                <a:srgbClr val="21867A"/>
              </a:solidFill>
            </c:spPr>
          </c:dPt>
          <c:dPt>
            <c:idx val="3"/>
            <c:invertIfNegative val="0"/>
            <c:bubble3D val="0"/>
            <c:spPr>
              <a:solidFill xmlns:a="http://schemas.openxmlformats.org/drawingml/2006/main">
                <a:srgbClr val="8993A0"/>
              </a:solidFill>
            </c:spPr>
          </c:dPt>
          <c:cat>
            <c:strRef>
              <c:f>'Chart Data'!$A$2:$A$5</c:f>
              <c:strCache>
                <c:ptCount val="4"/>
                <c:pt idx="0">
                  <c:v>Full PPO</c:v>
                </c:pt>
                <c:pt idx="1">
                  <c:v>No clip</c:v>
                </c:pt>
                <c:pt idx="2">
                  <c:v>λ = 1</c:v>
                </c:pt>
                <c:pt idx="3">
                  <c:v>λ = 0</c:v>
                </c:pt>
              </c:strCache>
            </c:strRef>
          </c:cat>
          <c:val>
            <c:numRef>
              <c:f>'Chart Data'!$B$2:$B$5</c:f>
              <c:numCache>
                <c:formatCode>0.0</c:formatCode>
                <c:ptCount val="4"/>
                <c:pt idx="0">
                  <c:v>6.4512</c:v>
                </c:pt>
                <c:pt idx="1">
                  <c:v>5.4272</c:v>
                </c:pt>
                <c:pt idx="2">
                  <c:v>6.656</c:v>
                </c:pt>
                <c:pt idx="3">
                  <c:v>9.3184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a:solidFill>
                    <a:srgbClr val="263A4E"/>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63A4E"/>
                </a:solidFill>
                <a:latin typeface="DejaVu Sans"/>
                <a:ea typeface="DejaVu Sans"/>
                <a:cs typeface="DejaVu Sans"/>
              </a:defRPr>
            </a:pPr>
          </a:p>
        </c:txPr>
        <c:crossAx val="48672768"/>
      </c:catAx>
      <c:valAx>
        <c:axId val="48672768"/>
        <c:scaling>
          <c:orientation val="minMax"/>
        </c:scaling>
        <c:delete val="0"/>
        <c:axPos val="l"/>
        <c:majorGridlines>
          <c:spPr>
            <a:ln xmlns:a="http://schemas.openxmlformats.org/drawingml/2006/main" w="9525">
              <a:solidFill>
                <a:srgbClr val="DCE3E9"/>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63A4E"/>
                </a:solidFill>
                <a:latin typeface="DejaVu Sans"/>
                <a:ea typeface="DejaVu Sans"/>
                <a:cs typeface="DejaVu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a:solidFill>
                  <a:srgbClr val="172D44"/>
                </a:solidFill>
                <a:latin typeface="DejaVu Sans"/>
                <a:ea typeface="DejaVu Sans"/>
                <a:cs typeface="DejaVu Sans"/>
              </a:rPr>
              <a:t>Largest update KL per run (mean)</a:t>
            </a:r>
          </a:p>
        </c:rich>
      </c:tx>
      <c:overlay val="0"/>
      <c:txPr>
        <a:bodyPr xmlns:a="http://schemas.openxmlformats.org/drawingml/2006/main" anchorCtr="1"/>
        <a:lstStyle xmlns:a="http://schemas.openxmlformats.org/drawingml/2006/main"/>
        <a:p xmlns:a="http://schemas.openxmlformats.org/drawingml/2006/main">
          <a:pPr>
            <a:defRPr sz="1725">
              <a:solidFill>
                <a:srgbClr val="172D44"/>
              </a:solidFill>
              <a:latin typeface="DejaVu Sans"/>
              <a:ea typeface="DejaVu Sans"/>
              <a:cs typeface="DejaVu Sans"/>
            </a:defRPr>
          </a:pPr>
        </a:p>
      </c:txPr>
    </c:title>
    <c:plotArea>
      <c:barChart>
        <c:barDir val="col"/>
        <c:grouping val="clustered"/>
        <c:varyColors val="0"/>
        <c:ser>
          <c:idx val="0"/>
          <c:order val="0"/>
          <c:tx>
            <c:v>Max KL</c:v>
          </c:tx>
          <c:spPr>
            <a:solidFill xmlns:a="http://schemas.openxmlformats.org/drawingml/2006/main">
              <a:srgbClr val="DC7841"/>
            </a:solidFill>
          </c:spPr>
          <c:invertIfNegative val="0"/>
          <c:dPt>
            <c:idx val="0"/>
            <c:invertIfNegative val="0"/>
            <c:bubble3D val="0"/>
            <c:spPr>
              <a:solidFill xmlns:a="http://schemas.openxmlformats.org/drawingml/2006/main">
                <a:srgbClr val="DC7841"/>
              </a:solidFill>
            </c:spPr>
          </c:dPt>
          <c:dPt>
            <c:idx val="1"/>
            <c:invertIfNegative val="0"/>
            <c:bubble3D val="0"/>
            <c:spPr>
              <a:solidFill xmlns:a="http://schemas.openxmlformats.org/drawingml/2006/main">
                <a:srgbClr val="172D44"/>
              </a:solidFill>
            </c:spPr>
          </c:dPt>
          <c:dPt>
            <c:idx val="2"/>
            <c:invertIfNegative val="0"/>
            <c:bubble3D val="0"/>
            <c:spPr>
              <a:solidFill xmlns:a="http://schemas.openxmlformats.org/drawingml/2006/main">
                <a:srgbClr val="21867A"/>
              </a:solidFill>
            </c:spPr>
          </c:dPt>
          <c:dPt>
            <c:idx val="3"/>
            <c:invertIfNegative val="0"/>
            <c:bubble3D val="0"/>
            <c:spPr>
              <a:solidFill xmlns:a="http://schemas.openxmlformats.org/drawingml/2006/main">
                <a:srgbClr val="8993A0"/>
              </a:solidFill>
            </c:spPr>
          </c:dPt>
          <c:cat>
            <c:strRef>
              <c:f>'Chart Data'!$A$2:$A$5</c:f>
              <c:strCache>
                <c:ptCount val="4"/>
                <c:pt idx="0">
                  <c:v>Full PPO</c:v>
                </c:pt>
                <c:pt idx="1">
                  <c:v>No clip</c:v>
                </c:pt>
                <c:pt idx="2">
                  <c:v>λ = 1</c:v>
                </c:pt>
                <c:pt idx="3">
                  <c:v>λ = 0</c:v>
                </c:pt>
              </c:strCache>
            </c:strRef>
          </c:cat>
          <c:val>
            <c:numRef>
              <c:f>'Chart Data'!$B$2:$B$5</c:f>
              <c:numCache>
                <c:formatCode>0.000</c:formatCode>
                <c:ptCount val="4"/>
                <c:pt idx="0">
                  <c:v>0.015184</c:v>
                </c:pt>
                <c:pt idx="1">
                  <c:v>0.599784</c:v>
                </c:pt>
                <c:pt idx="2">
                  <c:v>0.0130538</c:v>
                </c:pt>
                <c:pt idx="3">
                  <c:v>0.0299532</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75">
                  <a:solidFill>
                    <a:srgbClr val="263A4E"/>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63A4E"/>
                </a:solidFill>
                <a:latin typeface="DejaVu Sans"/>
                <a:ea typeface="DejaVu Sans"/>
                <a:cs typeface="DejaVu Sans"/>
              </a:defRPr>
            </a:pPr>
          </a:p>
        </c:txPr>
        <c:crossAx val="48672768"/>
      </c:catAx>
      <c:valAx>
        <c:axId val="48672768"/>
        <c:scaling>
          <c:orientation val="minMax"/>
        </c:scaling>
        <c:delete val="0"/>
        <c:axPos val="l"/>
        <c:majorGridlines>
          <c:spPr>
            <a:ln xmlns:a="http://schemas.openxmlformats.org/drawingml/2006/main" w="9525">
              <a:solidFill>
                <a:srgbClr val="DCE3E9"/>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63A4E"/>
                </a:solidFill>
                <a:latin typeface="DejaVu Sans"/>
                <a:ea typeface="DejaVu Sans"/>
                <a:cs typeface="DejaVu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a:solidFill>
                  <a:srgbClr val="172D44"/>
                </a:solidFill>
                <a:latin typeface="DejaVu Sans"/>
                <a:ea typeface="DejaVu Sans"/>
                <a:cs typeface="DejaVu Sans"/>
              </a:rPr>
              <a:t>Entropy and rejected-action probability (mean of 10 seeds)</a:t>
            </a:r>
          </a:p>
        </c:rich>
      </c:tx>
      <c:overlay val="0"/>
      <c:txPr>
        <a:bodyPr xmlns:a="http://schemas.openxmlformats.org/drawingml/2006/main" anchorCtr="1"/>
        <a:lstStyle xmlns:a="http://schemas.openxmlformats.org/drawingml/2006/main"/>
        <a:p xmlns:a="http://schemas.openxmlformats.org/drawingml/2006/main">
          <a:pPr>
            <a:defRPr sz="1875">
              <a:solidFill>
                <a:srgbClr val="172D44"/>
              </a:solidFill>
              <a:latin typeface="DejaVu Sans"/>
              <a:ea typeface="DejaVu Sans"/>
              <a:cs typeface="DejaVu Sans"/>
            </a:defRPr>
          </a:pPr>
        </a:p>
      </c:txPr>
    </c:title>
    <c:plotArea>
      <c:lineChart>
        <c:grouping val="standard"/>
        <c:varyColors val="0"/>
        <c:ser>
          <c:idx val="0"/>
          <c:order val="0"/>
          <c:tx>
            <c:v>Policy entropy (nats)</c:v>
          </c:tx>
          <c:spPr>
            <a:ln xmlns:a="http://schemas.openxmlformats.org/drawingml/2006/main" w="34925">
              <a:solidFill>
                <a:srgbClr val="DC7841"/>
              </a:solidFill>
            </a:ln>
          </c:spPr>
          <c:marker>
            <c:symbol val="none"/>
          </c:marker>
          <c:cat>
            <c:numRef>
              <c:f>'Chart Data'!$A$2:$A$11</c:f>
              <c:numCache>
                <c:formatCode>General</c:formatCode>
                <c:ptCount val="10"/>
                <c:pt idx="0">
                  <c:v>5.12</c:v>
                </c:pt>
                <c:pt idx="1">
                  <c:v>10.24</c:v>
                </c:pt>
                <c:pt idx="2">
                  <c:v>15.36</c:v>
                </c:pt>
                <c:pt idx="3">
                  <c:v>20.48</c:v>
                </c:pt>
                <c:pt idx="4">
                  <c:v>25.6</c:v>
                </c:pt>
                <c:pt idx="5">
                  <c:v>30.72</c:v>
                </c:pt>
                <c:pt idx="6">
                  <c:v>35.84</c:v>
                </c:pt>
                <c:pt idx="7">
                  <c:v>40.96</c:v>
                </c:pt>
                <c:pt idx="8">
                  <c:v>46.08</c:v>
                </c:pt>
                <c:pt idx="9">
                  <c:v>50</c:v>
                </c:pt>
              </c:numCache>
            </c:numRef>
          </c:cat>
          <c:val>
            <c:numRef>
              <c:f>'Chart Data'!$B$2:$B$11</c:f>
              <c:numCache>
                <c:formatCode>0.00</c:formatCode>
                <c:ptCount val="10"/>
                <c:pt idx="0">
                  <c:v>0.945532</c:v>
                </c:pt>
                <c:pt idx="1">
                  <c:v>0.692124</c:v>
                </c:pt>
                <c:pt idx="2">
                  <c:v>0.566596</c:v>
                </c:pt>
                <c:pt idx="3">
                  <c:v>0.540366</c:v>
                </c:pt>
                <c:pt idx="4">
                  <c:v>0.544712</c:v>
                </c:pt>
                <c:pt idx="5">
                  <c:v>0.569308</c:v>
                </c:pt>
                <c:pt idx="6">
                  <c:v>0.575833</c:v>
                </c:pt>
                <c:pt idx="7">
                  <c:v>0.592508</c:v>
                </c:pt>
                <c:pt idx="8">
                  <c:v>0.600302</c:v>
                </c:pt>
                <c:pt idx="9">
                  <c:v>0.644747</c:v>
                </c:pt>
              </c:numCache>
            </c:numRef>
          </c:val>
          <c:smooth val="0"/>
        </c:ser>
        <c:ser>
          <c:idx val="1"/>
          <c:order val="1"/>
          <c:tx>
            <c:v>Executed-action entropy (nats)</c:v>
          </c:tx>
          <c:spPr>
            <a:ln xmlns:a="http://schemas.openxmlformats.org/drawingml/2006/main" w="34925">
              <a:solidFill>
                <a:srgbClr val="21867A"/>
              </a:solidFill>
            </a:ln>
          </c:spPr>
          <c:marker>
            <c:symbol val="none"/>
          </c:marker>
          <c:cat>
            <c:numRef>
              <c:f>'Chart Data'!$C$2:$C$11</c:f>
              <c:numCache>
                <c:formatCode>General</c:formatCode>
                <c:ptCount val="10"/>
                <c:pt idx="0">
                  <c:v>5.12</c:v>
                </c:pt>
                <c:pt idx="1">
                  <c:v>10.24</c:v>
                </c:pt>
                <c:pt idx="2">
                  <c:v>15.36</c:v>
                </c:pt>
                <c:pt idx="3">
                  <c:v>20.48</c:v>
                </c:pt>
                <c:pt idx="4">
                  <c:v>25.6</c:v>
                </c:pt>
                <c:pt idx="5">
                  <c:v>30.72</c:v>
                </c:pt>
                <c:pt idx="6">
                  <c:v>35.84</c:v>
                </c:pt>
                <c:pt idx="7">
                  <c:v>40.96</c:v>
                </c:pt>
                <c:pt idx="8">
                  <c:v>46.08</c:v>
                </c:pt>
                <c:pt idx="9">
                  <c:v>50</c:v>
                </c:pt>
              </c:numCache>
            </c:numRef>
          </c:cat>
          <c:val>
            <c:numRef>
              <c:f>'Chart Data'!$D$2:$D$11</c:f>
              <c:numCache>
                <c:formatCode>0.00</c:formatCode>
                <c:ptCount val="10"/>
                <c:pt idx="0">
                  <c:v>0.603317</c:v>
                </c:pt>
                <c:pt idx="1">
                  <c:v>0.297042</c:v>
                </c:pt>
                <c:pt idx="2">
                  <c:v>0.202936</c:v>
                </c:pt>
                <c:pt idx="3">
                  <c:v>0.171738</c:v>
                </c:pt>
                <c:pt idx="4">
                  <c:v>0.185995</c:v>
                </c:pt>
                <c:pt idx="5">
                  <c:v>0.170929</c:v>
                </c:pt>
                <c:pt idx="6">
                  <c:v>0.17654</c:v>
                </c:pt>
                <c:pt idx="7">
                  <c:v>0.159831</c:v>
                </c:pt>
                <c:pt idx="8">
                  <c:v>0.141116</c:v>
                </c:pt>
                <c:pt idx="9">
                  <c:v>0.169228</c:v>
                </c:pt>
              </c:numCache>
            </c:numRef>
          </c:val>
          <c:smooth val="0"/>
        </c:ser>
        <c:ser>
          <c:idx val="2"/>
          <c:order val="2"/>
          <c:tx>
            <c:v>Probability on rejected actions</c:v>
          </c:tx>
          <c:spPr>
            <a:ln xmlns:a="http://schemas.openxmlformats.org/drawingml/2006/main" w="25400">
              <a:solidFill>
                <a:srgbClr val="8993A0"/>
              </a:solidFill>
              <a:prstDash val="dash"/>
            </a:ln>
          </c:spPr>
          <c:marker>
            <c:symbol val="none"/>
          </c:marker>
          <c:cat>
            <c:numRef>
              <c:f>'Chart Data'!$E$2:$E$11</c:f>
              <c:numCache>
                <c:formatCode>General</c:formatCode>
                <c:ptCount val="10"/>
                <c:pt idx="0">
                  <c:v>5.12</c:v>
                </c:pt>
                <c:pt idx="1">
                  <c:v>10.24</c:v>
                </c:pt>
                <c:pt idx="2">
                  <c:v>15.36</c:v>
                </c:pt>
                <c:pt idx="3">
                  <c:v>20.48</c:v>
                </c:pt>
                <c:pt idx="4">
                  <c:v>25.6</c:v>
                </c:pt>
                <c:pt idx="5">
                  <c:v>30.72</c:v>
                </c:pt>
                <c:pt idx="6">
                  <c:v>35.84</c:v>
                </c:pt>
                <c:pt idx="7">
                  <c:v>40.96</c:v>
                </c:pt>
                <c:pt idx="8">
                  <c:v>46.08</c:v>
                </c:pt>
                <c:pt idx="9">
                  <c:v>50</c:v>
                </c:pt>
              </c:numCache>
            </c:numRef>
          </c:cat>
          <c:val>
            <c:numRef>
              <c:f>'Chart Data'!$F$2:$F$11</c:f>
              <c:numCache>
                <c:formatCode>0.00</c:formatCode>
                <c:ptCount val="10"/>
                <c:pt idx="0">
                  <c:v>0.374425</c:v>
                </c:pt>
                <c:pt idx="1">
                  <c:v>0.642864</c:v>
                </c:pt>
                <c:pt idx="2">
                  <c:v>0.72158</c:v>
                </c:pt>
                <c:pt idx="3">
                  <c:v>0.743029</c:v>
                </c:pt>
                <c:pt idx="4">
                  <c:v>0.723273</c:v>
                </c:pt>
                <c:pt idx="5">
                  <c:v>0.703434</c:v>
                </c:pt>
                <c:pt idx="6">
                  <c:v>0.69887</c:v>
                </c:pt>
                <c:pt idx="7">
                  <c:v>0.661133</c:v>
                </c:pt>
                <c:pt idx="8">
                  <c:v>0.680897</c:v>
                </c:pt>
                <c:pt idx="9">
                  <c:v>0.633469</c:v>
                </c:pt>
              </c:numCache>
            </c:numRef>
          </c:val>
          <c:smooth val="0"/>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75">
                    <a:solidFill>
                      <a:srgbClr val="263A4E"/>
                    </a:solidFill>
                    <a:latin typeface="DejaVu Sans"/>
                    <a:ea typeface="DejaVu Sans"/>
                    <a:cs typeface="DejaVu Sans"/>
                  </a:rPr>
                  <a:t>Training decisions (thousands)</a:t>
                </a:r>
              </a:p>
            </c:rich>
          </c:tx>
          <c:overlay val="0"/>
          <c:txPr>
            <a:bodyPr xmlns:a="http://schemas.openxmlformats.org/drawingml/2006/main" anchorCtr="1"/>
            <a:lstStyle xmlns:a="http://schemas.openxmlformats.org/drawingml/2006/main"/>
            <a:p xmlns:a="http://schemas.openxmlformats.org/drawingml/2006/main">
              <a:pPr>
                <a:defRPr sz="1575">
                  <a:solidFill>
                    <a:srgbClr val="263A4E"/>
                  </a:solidFill>
                  <a:latin typeface="DejaVu Sans"/>
                  <a:ea typeface="DejaVu Sans"/>
                  <a:cs typeface="DejaVu Sans"/>
                </a:defRPr>
              </a:pPr>
            </a:p>
          </c:txPr>
        </c:title>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63A4E"/>
                </a:solidFill>
                <a:latin typeface="DejaVu Sans"/>
                <a:ea typeface="DejaVu Sans"/>
                <a:cs typeface="DejaVu Sans"/>
              </a:defRPr>
            </a:pPr>
          </a:p>
        </c:txPr>
        <c:crossAx val="48672768"/>
      </c:catAx>
      <c:valAx>
        <c:axId val="48672768"/>
        <c:scaling>
          <c:orientation val="minMax"/>
        </c:scaling>
        <c:delete val="0"/>
        <c:axPos val="l"/>
        <c:majorGridlines>
          <c:spPr>
            <a:ln xmlns:a="http://schemas.openxmlformats.org/drawingml/2006/main" w="9525">
              <a:solidFill>
                <a:srgbClr val="DCE3E9"/>
              </a:solidFill>
            </a:ln>
          </c:spPr>
        </c:majorGridlines>
        <c:title>
          <c:tx>
            <c:rich>
              <a:bodyPr xmlns:a="http://schemas.openxmlformats.org/drawingml/2006/main"/>
              <a:lstStyle xmlns:a="http://schemas.openxmlformats.org/drawingml/2006/main"/>
              <a:p xmlns:a="http://schemas.openxmlformats.org/drawingml/2006/main">
                <a:r>
                  <a:rPr sz="1575">
                    <a:solidFill>
                      <a:srgbClr val="263A4E"/>
                    </a:solidFill>
                    <a:latin typeface="DejaVu Sans"/>
                    <a:ea typeface="DejaVu Sans"/>
                    <a:cs typeface="DejaVu Sans"/>
                  </a:rPr>
                  <a:t>Nats / probability</a:t>
                </a:r>
              </a:p>
            </c:rich>
          </c:tx>
          <c:overlay val="0"/>
          <c:txPr>
            <a:bodyPr xmlns:a="http://schemas.openxmlformats.org/drawingml/2006/main" anchorCtr="1"/>
            <a:lstStyle xmlns:a="http://schemas.openxmlformats.org/drawingml/2006/main"/>
            <a:p xmlns:a="http://schemas.openxmlformats.org/drawingml/2006/main">
              <a:pPr>
                <a:defRPr sz="1575">
                  <a:solidFill>
                    <a:srgbClr val="263A4E"/>
                  </a:solidFill>
                  <a:latin typeface="DejaVu Sans"/>
                  <a:ea typeface="DejaVu Sans"/>
                  <a:cs typeface="DejaVu Sans"/>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63A4E"/>
                </a:solidFill>
                <a:latin typeface="DejaVu Sans"/>
                <a:ea typeface="DejaVu Sans"/>
                <a:cs typeface="DejaVu Sans"/>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263A4E"/>
              </a:solidFill>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F81830F-327E-468D-B1AF-87CCA9EFFF6A}"/>
              </a:ext>
            </a:extLst>
          </p:cNvPr>
          <p:cNvSpPr>
            <a:spLocks xmlns:a="http://schemas.openxmlformats.org/drawingml/2006/main" noGrp="1"/>
          </p:cNvSpPr>
          <p:nvPr/>
        </p:nvSpPr>
        <p:spPr>
          <a:xfrm xmlns:a="http://schemas.openxmlformats.org/drawingml/2006/main">
            <a:off x="609600" y="457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44"/>
                </a:solidFill>
                <a:latin typeface="DejaVu Sans"/>
                <a:ea typeface="DejaVu Sans"/>
                <a:cs typeface="DejaVu Sans"/>
              </a:defRPr>
            </a:defPPr>
          </a:lstStyle>
          <a:p xmlns:a="http://schemas.openxmlformats.org/drawingml/2006/main">
            <a:pPr>
              <a:defRPr sz="3150" b="1">
                <a:solidFill>
                  <a:srgbClr val="172D44"/>
                </a:solidFill>
                <a:latin typeface="DejaVu Sans"/>
                <a:ea typeface="DejaVu Sans"/>
                <a:cs typeface="DejaVu Sans"/>
              </a:defRPr>
            </a:pPr>
            <a:r>
              <a:rPr sz="3150" b="1">
                <a:solidFill>
                  <a:srgbClr val="172D44"/>
                </a:solidFill>
                <a:latin typeface="DejaVu Sans"/>
                <a:ea typeface="DejaVu Sans"/>
                <a:cs typeface="DejaVu Sans"/>
              </a:rPr>
              <a:t>Learning to scale an API</a:t>
            </a:r>
          </a:p>
        </p:txBody>
      </p:sp>
      <p:sp>
        <p:nvSpPr>
          <p:cNvPr id="2" name="">
            <a:extLst xmlns:a="http://schemas.openxmlformats.org/drawingml/2006/main">
              <a:ext uri="{FF2B5EF4-FFF2-40B4-BE49-F238E27FC236}">
                <a16:creationId xmlns:a16="http://schemas.microsoft.com/office/drawing/2014/main" id="{E0473087-9E0C-4B2B-AAF5-20896CF1DEAF}"/>
              </a:ext>
            </a:extLst>
          </p:cNvPr>
          <p:cNvSpPr>
            <a:spLocks xmlns:a="http://schemas.openxmlformats.org/drawingml/2006/main" noGrp="1"/>
          </p:cNvSpPr>
          <p:nvPr/>
        </p:nvSpPr>
        <p:spPr>
          <a:xfrm xmlns:a="http://schemas.openxmlformats.org/drawingml/2006/main">
            <a:off x="62865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B6B7C"/>
                </a:solidFill>
                <a:latin typeface="DejaVu Sans"/>
                <a:ea typeface="DejaVu Sans"/>
                <a:cs typeface="DejaVu Sans"/>
              </a:defRPr>
            </a:defPPr>
          </a:lstStyle>
          <a:p xmlns:a="http://schemas.openxmlformats.org/drawingml/2006/main">
            <a:pPr>
              <a:defRPr sz="1200" b="0">
                <a:solidFill>
                  <a:srgbClr val="5B6B7C"/>
                </a:solidFill>
                <a:latin typeface="DejaVu Sans"/>
                <a:ea typeface="DejaVu Sans"/>
                <a:cs typeface="DejaVu Sans"/>
              </a:defRPr>
            </a:pPr>
            <a:r>
              <a:rPr sz="1200" b="0">
                <a:solidFill>
                  <a:srgbClr val="5B6B7C"/>
                </a:solidFill>
                <a:latin typeface="DejaVu Sans"/>
                <a:ea typeface="DejaVu Sans"/>
                <a:cs typeface="DejaVu Sans"/>
              </a:rPr>
              <a:t>SIMULATED API AUTOSCALING • PART 2</a:t>
            </a:r>
          </a:p>
        </p:txBody>
      </p:sp>
      <p:sp>
        <p:nvSpPr>
          <p:cNvPr id="3" name="">
            <a:extLst xmlns:a="http://schemas.openxmlformats.org/drawingml/2006/main">
              <a:ext uri="{FF2B5EF4-FFF2-40B4-BE49-F238E27FC236}">
                <a16:creationId xmlns:a16="http://schemas.microsoft.com/office/drawing/2014/main" id="{D8E609D4-0306-4318-9B51-20DA90F3E4B2}"/>
              </a:ext>
            </a:extLst>
          </p:cNvPr>
          <p:cNvSpPr>
            <a:spLocks xmlns:a="http://schemas.openxmlformats.org/drawingml/2006/main" noGrp="1"/>
          </p:cNvSpPr>
          <p:nvPr/>
        </p:nvSpPr>
        <p:spPr>
          <a:xfrm xmlns:a="http://schemas.openxmlformats.org/drawingml/2006/main">
            <a:off x="11182350" y="638175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B6B7C"/>
                </a:solidFill>
                <a:latin typeface="DejaVu Sans"/>
                <a:ea typeface="DejaVu Sans"/>
                <a:cs typeface="DejaVu Sans"/>
              </a:defRPr>
            </a:defPPr>
          </a:lstStyle>
          <a:p xmlns:a="http://schemas.openxmlformats.org/drawingml/2006/main">
            <a:pPr>
              <a:defRPr sz="1425" b="0">
                <a:solidFill>
                  <a:srgbClr val="5B6B7C"/>
                </a:solidFill>
                <a:latin typeface="DejaVu Sans"/>
                <a:ea typeface="DejaVu Sans"/>
                <a:cs typeface="DejaVu Sans"/>
              </a:defRPr>
            </a:pPr>
            <a:r>
              <a:rPr sz="1425" b="0">
                <a:solidFill>
                  <a:srgbClr val="5B6B7C"/>
                </a:solidFill>
                <a:latin typeface="DejaVu Sans"/>
                <a:ea typeface="DejaVu Sans"/>
                <a:cs typeface="DejaVu Sans"/>
              </a:rPr>
              <a:t>1</a:t>
            </a:r>
          </a:p>
        </p:txBody>
      </p:sp>
      <p:sp>
        <p:nvSpPr>
          <p:cNvPr id="4" name="">
            <a:extLst xmlns:a="http://schemas.openxmlformats.org/drawingml/2006/main">
              <a:ext uri="{FF2B5EF4-FFF2-40B4-BE49-F238E27FC236}">
                <a16:creationId xmlns:a16="http://schemas.microsoft.com/office/drawing/2014/main" id="{0B7D6FE8-3FB9-48AE-814C-9C266DF0215B}"/>
              </a:ext>
            </a:extLst>
          </p:cNvPr>
          <p:cNvSpPr>
            <a:spLocks xmlns:a="http://schemas.openxmlformats.org/drawingml/2006/main" noGrp="1"/>
          </p:cNvSpPr>
          <p:nvPr/>
        </p:nvSpPr>
        <p:spPr>
          <a:xfrm xmlns:a="http://schemas.openxmlformats.org/drawingml/2006/main">
            <a:off x="628650" y="2095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72D44"/>
                </a:solidFill>
                <a:latin typeface="DejaVu Sans"/>
                <a:ea typeface="DejaVu Sans"/>
                <a:cs typeface="DejaVu Sans"/>
              </a:defRPr>
            </a:defPPr>
          </a:lstStyle>
          <a:p xmlns:a="http://schemas.openxmlformats.org/drawingml/2006/main">
            <a:pPr>
              <a:defRPr sz="3600" b="1">
                <a:solidFill>
                  <a:srgbClr val="172D44"/>
                </a:solidFill>
                <a:latin typeface="DejaVu Sans"/>
                <a:ea typeface="DejaVu Sans"/>
                <a:cs typeface="DejaVu Sans"/>
              </a:defRPr>
            </a:pPr>
            <a:r>
              <a:rPr sz="3600" b="1">
                <a:solidFill>
                  <a:srgbClr val="172D44"/>
                </a:solidFill>
                <a:latin typeface="DejaVu Sans"/>
                <a:ea typeface="DejaVu Sans"/>
                <a:cs typeface="DejaVu Sans"/>
              </a:rPr>
              <a:t>PPO for simulated API autoscaling</a:t>
            </a:r>
          </a:p>
        </p:txBody>
      </p:sp>
      <p:sp>
        <p:nvSpPr>
          <p:cNvPr id="5" name="">
            <a:extLst xmlns:a="http://schemas.openxmlformats.org/drawingml/2006/main">
              <a:ext uri="{FF2B5EF4-FFF2-40B4-BE49-F238E27FC236}">
                <a16:creationId xmlns:a16="http://schemas.microsoft.com/office/drawing/2014/main" id="{B58C49DA-5BA4-4CA5-8090-9BB270C70560}"/>
              </a:ext>
            </a:extLst>
          </p:cNvPr>
          <p:cNvSpPr>
            <a:spLocks xmlns:a="http://schemas.openxmlformats.org/drawingml/2006/main" noGrp="1"/>
          </p:cNvSpPr>
          <p:nvPr/>
        </p:nvSpPr>
        <p:spPr>
          <a:xfrm xmlns:a="http://schemas.openxmlformats.org/drawingml/2006/main">
            <a:off x="628650" y="3343275"/>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63A4E"/>
                </a:solidFill>
                <a:latin typeface="DejaVu Sans"/>
                <a:ea typeface="DejaVu Sans"/>
                <a:cs typeface="DejaVu Sans"/>
              </a:defRPr>
            </a:defPPr>
          </a:lstStyle>
          <a:p xmlns:a="http://schemas.openxmlformats.org/drawingml/2006/main">
            <a:pPr>
              <a:defRPr sz="2550" b="0">
                <a:solidFill>
                  <a:srgbClr val="263A4E"/>
                </a:solidFill>
                <a:latin typeface="DejaVu Sans"/>
                <a:ea typeface="DejaVu Sans"/>
                <a:cs typeface="DejaVu Sans"/>
              </a:defRPr>
            </a:pPr>
            <a:r>
              <a:rPr sz="2550" b="0">
                <a:solidFill>
                  <a:srgbClr val="263A4E"/>
                </a:solidFill>
                <a:latin typeface="DejaVu Sans"/>
                <a:ea typeface="DejaVu Sans"/>
                <a:cs typeface="DejaVu Sans"/>
              </a:rPr>
              <a:t>Can an agent protect service while using less capacity?</a:t>
            </a:r>
          </a:p>
        </p:txBody>
      </p:sp>
      <p:sp>
        <p:nvSpPr>
          <p:cNvPr id="6" name="">
            <a:extLst xmlns:a="http://schemas.openxmlformats.org/drawingml/2006/main">
              <a:ext uri="{FF2B5EF4-FFF2-40B4-BE49-F238E27FC236}">
                <a16:creationId xmlns:a16="http://schemas.microsoft.com/office/drawing/2014/main" id="{940BB6C9-FFD0-4316-9568-42B8A27CDA1C}"/>
              </a:ext>
            </a:extLst>
          </p:cNvPr>
          <p:cNvSpPr>
            <a:spLocks xmlns:a="http://schemas.openxmlformats.org/drawingml/2006/main" noGrp="1"/>
          </p:cNvSpPr>
          <p:nvPr/>
        </p:nvSpPr>
        <p:spPr>
          <a:xfrm xmlns:a="http://schemas.openxmlformats.org/drawingml/2006/main">
            <a:off x="628650" y="47339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B6B7C"/>
                </a:solidFill>
                <a:latin typeface="DejaVu Sans"/>
                <a:ea typeface="DejaVu Sans"/>
                <a:cs typeface="DejaVu Sans"/>
              </a:defRPr>
            </a:defPPr>
          </a:lstStyle>
          <a:p xmlns:a="http://schemas.openxmlformats.org/drawingml/2006/main">
            <a:pPr>
              <a:defRPr sz="2025" b="0">
                <a:solidFill>
                  <a:srgbClr val="5B6B7C"/>
                </a:solidFill>
                <a:latin typeface="DejaVu Sans"/>
                <a:ea typeface="DejaVu Sans"/>
                <a:cs typeface="DejaVu Sans"/>
              </a:defRPr>
            </a:pPr>
            <a:r>
              <a:rPr sz="2025" b="0">
                <a:solidFill>
                  <a:srgbClr val="5B6B7C"/>
                </a:solidFill>
                <a:latin typeface="DejaVu Sans"/>
                <a:ea typeface="DejaVu Sans"/>
                <a:cs typeface="DejaVu Sans"/>
              </a:rPr>
              <a:t>Local simulator • Ten training seeds • Two baselines • Ablations</a:t>
            </a:r>
          </a:p>
        </p:txBody>
      </p:sp>
      <p:sp>
        <p:nvSpPr>
          <p:cNvPr id="9" name="Course"/>
          <p:cNvSpPr>
            <a:spLocks xmlns:a="http://schemas.openxmlformats.org/drawingml/2006/main" noGrp="1"/>
          </p:cNvSpPr>
          <p:nvPr/>
        </p:nvSpPr>
        <p:spPr>
          <a:xfrm xmlns:a="http://schemas.openxmlformats.org/drawingml/2006/main">
            <a:off x="628650" y="12382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B6B7C"/>
                </a:solidFill>
                <a:latin typeface="DejaVu Sans"/>
                <a:ea typeface="DejaVu Sans"/>
                <a:cs typeface="DejaVu Sans"/>
              </a:defRPr>
            </a:defPPr>
          </a:lstStyle>
          <a:p xmlns:a="http://schemas.openxmlformats.org/drawingml/2006/main">
            <a:pPr>
              <a:defRPr sz="2025" b="0">
                <a:solidFill>
                  <a:srgbClr val="5B6B7C"/>
                </a:solidFill>
                <a:latin typeface="DejaVu Sans"/>
                <a:ea typeface="DejaVu Sans"/>
                <a:cs typeface="DejaVu Sans"/>
              </a:defRPr>
            </a:pPr>
            <a:r>
              <a:rPr sz="2025" b="0">
                <a:solidFill>
                  <a:srgbClr val="5B6B7C"/>
                </a:solidFill>
                <a:latin typeface="DejaVu Sans"/>
                <a:ea typeface="DejaVu Sans"/>
                <a:cs typeface="DejaVu Sans"/>
              </a:rPr>
              <a:t>AI-830-A02 • Instructor: Dr. Soamar Homsi, PhD</a:t>
            </a:r>
          </a:p>
        </p:txBody>
      </p:sp>
      <p:sp>
        <p:nvSpPr>
          <p:cNvPr id="7" name="">
            <a:extLst xmlns:a="http://schemas.openxmlformats.org/drawingml/2006/main">
              <a:ext uri="{FF2B5EF4-FFF2-40B4-BE49-F238E27FC236}">
                <a16:creationId xmlns:a16="http://schemas.microsoft.com/office/drawing/2014/main" id="{ED0A6CC1-0277-40BA-BC90-C212F0E8AC40}"/>
              </a:ext>
            </a:extLst>
          </p:cNvPr>
          <p:cNvSpPr>
            <a:spLocks xmlns:a="http://schemas.openxmlformats.org/drawingml/2006/main" noGrp="1"/>
          </p:cNvSpPr>
          <p:nvPr/>
        </p:nvSpPr>
        <p:spPr>
          <a:xfrm xmlns:a="http://schemas.openxmlformats.org/drawingml/2006/main">
            <a:off x="628650" y="53911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DC7841"/>
                </a:solidFill>
                <a:latin typeface="DejaVu Sans"/>
                <a:ea typeface="DejaVu Sans"/>
                <a:cs typeface="DejaVu Sans"/>
              </a:defRPr>
            </a:defPPr>
          </a:lstStyle>
          <a:p xmlns:a="http://schemas.openxmlformats.org/drawingml/2006/main">
            <a:pPr>
              <a:defRPr sz="2175" b="1">
                <a:solidFill>
                  <a:srgbClr val="DC7841"/>
                </a:solidFill>
                <a:latin typeface="DejaVu Sans"/>
                <a:ea typeface="DejaVu Sans"/>
                <a:cs typeface="DejaVu Sans"/>
              </a:defRPr>
            </a:pPr>
            <a:r>
              <a:rPr sz="2175" b="1">
                <a:solidFill>
                  <a:srgbClr val="DC7841"/>
                </a:solidFill>
                <a:latin typeface="DejaVu Sans"/>
                <a:ea typeface="DejaVu Sans"/>
                <a:cs typeface="DejaVu Sans"/>
              </a:rPr>
              <a:t>Measured outcome: lower average violations, higher resource use</a:t>
            </a:r>
          </a:p>
        </p:txBody>
      </p:sp>
    </p:spTree>
    <p:extLst>
      <p:ext uri="{BB962C8B-B14F-4D97-AF65-F5344CB8AC3E}">
        <p14:creationId xmlns:p14="http://schemas.microsoft.com/office/powerpoint/2010/main" val="5165645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42399F3-0405-4E1F-A8A4-47A2F035C322}"/>
              </a:ext>
            </a:extLst>
          </p:cNvPr>
          <p:cNvSpPr>
            <a:spLocks xmlns:a="http://schemas.openxmlformats.org/drawingml/2006/main" noGrp="1"/>
          </p:cNvSpPr>
          <p:nvPr/>
        </p:nvSpPr>
        <p:spPr>
          <a:xfrm xmlns:a="http://schemas.openxmlformats.org/drawingml/2006/main">
            <a:off x="609600" y="457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44"/>
                </a:solidFill>
                <a:latin typeface="DejaVu Sans"/>
                <a:ea typeface="DejaVu Sans"/>
                <a:cs typeface="DejaVu Sans"/>
              </a:defRPr>
            </a:defPPr>
          </a:lstStyle>
          <a:p xmlns:a="http://schemas.openxmlformats.org/drawingml/2006/main">
            <a:pPr>
              <a:defRPr sz="3150" b="1">
                <a:solidFill>
                  <a:srgbClr val="172D44"/>
                </a:solidFill>
                <a:latin typeface="DejaVu Sans"/>
                <a:ea typeface="DejaVu Sans"/>
                <a:cs typeface="DejaVu Sans"/>
              </a:defRPr>
            </a:pPr>
            <a:r>
              <a:rPr sz="3150" b="1">
                <a:solidFill>
                  <a:srgbClr val="172D44"/>
                </a:solidFill>
                <a:latin typeface="DejaVu Sans"/>
                <a:ea typeface="DejaVu Sans"/>
                <a:cs typeface="DejaVu Sans"/>
              </a:rPr>
              <a:t>The goal from Part 1</a:t>
            </a:r>
          </a:p>
        </p:txBody>
      </p:sp>
      <p:sp>
        <p:nvSpPr>
          <p:cNvPr id="2" name="">
            <a:extLst xmlns:a="http://schemas.openxmlformats.org/drawingml/2006/main">
              <a:ext uri="{FF2B5EF4-FFF2-40B4-BE49-F238E27FC236}">
                <a16:creationId xmlns:a16="http://schemas.microsoft.com/office/drawing/2014/main" id="{F8F06E76-43B5-407C-86AB-D25AAED4E0A5}"/>
              </a:ext>
            </a:extLst>
          </p:cNvPr>
          <p:cNvSpPr>
            <a:spLocks xmlns:a="http://schemas.openxmlformats.org/drawingml/2006/main" noGrp="1"/>
          </p:cNvSpPr>
          <p:nvPr/>
        </p:nvSpPr>
        <p:spPr>
          <a:xfrm xmlns:a="http://schemas.openxmlformats.org/drawingml/2006/main">
            <a:off x="62865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B6B7C"/>
                </a:solidFill>
                <a:latin typeface="DejaVu Sans"/>
                <a:ea typeface="DejaVu Sans"/>
                <a:cs typeface="DejaVu Sans"/>
              </a:defRPr>
            </a:defPPr>
          </a:lstStyle>
          <a:p xmlns:a="http://schemas.openxmlformats.org/drawingml/2006/main">
            <a:pPr>
              <a:defRPr sz="1875" b="0">
                <a:solidFill>
                  <a:srgbClr val="5B6B7C"/>
                </a:solidFill>
                <a:latin typeface="DejaVu Sans"/>
                <a:ea typeface="DejaVu Sans"/>
                <a:cs typeface="DejaVu Sans"/>
              </a:defRPr>
            </a:pPr>
            <a:r>
              <a:rPr sz="1875" b="0">
                <a:solidFill>
                  <a:srgbClr val="5B6B7C"/>
                </a:solidFill>
                <a:latin typeface="DejaVu Sans"/>
                <a:ea typeface="DejaVu Sans"/>
                <a:cs typeface="DejaVu Sans"/>
              </a:rPr>
              <a:t>One objective with two conditions</a:t>
            </a:r>
          </a:p>
        </p:txBody>
      </p:sp>
      <p:sp>
        <p:nvSpPr>
          <p:cNvPr id="3" name="">
            <a:extLst xmlns:a="http://schemas.openxmlformats.org/drawingml/2006/main">
              <a:ext uri="{FF2B5EF4-FFF2-40B4-BE49-F238E27FC236}">
                <a16:creationId xmlns:a16="http://schemas.microsoft.com/office/drawing/2014/main" id="{6C61F9E6-008D-448E-B420-568D5DE994D6}"/>
              </a:ext>
            </a:extLst>
          </p:cNvPr>
          <p:cNvSpPr>
            <a:spLocks xmlns:a="http://schemas.openxmlformats.org/drawingml/2006/main" noGrp="1"/>
          </p:cNvSpPr>
          <p:nvPr/>
        </p:nvSpPr>
        <p:spPr>
          <a:xfrm xmlns:a="http://schemas.openxmlformats.org/drawingml/2006/main">
            <a:off x="62865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B6B7C"/>
                </a:solidFill>
                <a:latin typeface="DejaVu Sans"/>
                <a:ea typeface="DejaVu Sans"/>
                <a:cs typeface="DejaVu Sans"/>
              </a:defRPr>
            </a:defPPr>
          </a:lstStyle>
          <a:p xmlns:a="http://schemas.openxmlformats.org/drawingml/2006/main">
            <a:pPr>
              <a:defRPr sz="1200" b="0">
                <a:solidFill>
                  <a:srgbClr val="5B6B7C"/>
                </a:solidFill>
                <a:latin typeface="DejaVu Sans"/>
                <a:ea typeface="DejaVu Sans"/>
                <a:cs typeface="DejaVu Sans"/>
              </a:defRPr>
            </a:pPr>
            <a:r>
              <a:rPr sz="1200" b="0">
                <a:solidFill>
                  <a:srgbClr val="5B6B7C"/>
                </a:solidFill>
                <a:latin typeface="DejaVu Sans"/>
                <a:ea typeface="DejaVu Sans"/>
                <a:cs typeface="DejaVu Sans"/>
              </a:rPr>
              <a:t>SIMULATED API AUTOSCALING • PART 2</a:t>
            </a:r>
          </a:p>
        </p:txBody>
      </p:sp>
      <p:sp>
        <p:nvSpPr>
          <p:cNvPr id="4" name="">
            <a:extLst xmlns:a="http://schemas.openxmlformats.org/drawingml/2006/main">
              <a:ext uri="{FF2B5EF4-FFF2-40B4-BE49-F238E27FC236}">
                <a16:creationId xmlns:a16="http://schemas.microsoft.com/office/drawing/2014/main" id="{D6426BDB-8C6C-48A4-9F9D-AF51E85FC74F}"/>
              </a:ext>
            </a:extLst>
          </p:cNvPr>
          <p:cNvSpPr>
            <a:spLocks xmlns:a="http://schemas.openxmlformats.org/drawingml/2006/main" noGrp="1"/>
          </p:cNvSpPr>
          <p:nvPr/>
        </p:nvSpPr>
        <p:spPr>
          <a:xfrm xmlns:a="http://schemas.openxmlformats.org/drawingml/2006/main">
            <a:off x="11182350" y="638175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B6B7C"/>
                </a:solidFill>
                <a:latin typeface="DejaVu Sans"/>
                <a:ea typeface="DejaVu Sans"/>
                <a:cs typeface="DejaVu Sans"/>
              </a:defRPr>
            </a:defPPr>
          </a:lstStyle>
          <a:p xmlns:a="http://schemas.openxmlformats.org/drawingml/2006/main">
            <a:pPr>
              <a:defRPr sz="1425" b="0">
                <a:solidFill>
                  <a:srgbClr val="5B6B7C"/>
                </a:solidFill>
                <a:latin typeface="DejaVu Sans"/>
                <a:ea typeface="DejaVu Sans"/>
                <a:cs typeface="DejaVu Sans"/>
              </a:defRPr>
            </a:pPr>
            <a:r>
              <a:rPr sz="1425" b="0">
                <a:solidFill>
                  <a:srgbClr val="5B6B7C"/>
                </a:solidFill>
                <a:latin typeface="DejaVu Sans"/>
                <a:ea typeface="DejaVu Sans"/>
                <a:cs typeface="DejaVu Sans"/>
              </a:rPr>
              <a:t>2</a:t>
            </a:r>
          </a:p>
        </p:txBody>
      </p:sp>
      <p:sp>
        <p:nvSpPr>
          <p:cNvPr id="5" name="">
            <a:extLst xmlns:a="http://schemas.openxmlformats.org/drawingml/2006/main">
              <a:ext uri="{FF2B5EF4-FFF2-40B4-BE49-F238E27FC236}">
                <a16:creationId xmlns:a16="http://schemas.microsoft.com/office/drawing/2014/main" id="{48C7FBCF-AA9F-4BCD-AF36-BFB8A1845DE2}"/>
              </a:ext>
            </a:extLst>
          </p:cNvPr>
          <p:cNvSpPr>
            <a:spLocks xmlns:a="http://schemas.openxmlformats.org/drawingml/2006/main" noGrp="1"/>
          </p:cNvSpPr>
          <p:nvPr/>
        </p:nvSpPr>
        <p:spPr>
          <a:xfrm xmlns:a="http://schemas.openxmlformats.org/drawingml/2006/main">
            <a:off x="628650" y="2114550"/>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D44"/>
                </a:solidFill>
                <a:latin typeface="DejaVu Sans"/>
                <a:ea typeface="DejaVu Sans"/>
                <a:cs typeface="DejaVu Sans"/>
              </a:defRPr>
            </a:defPPr>
          </a:lstStyle>
          <a:p xmlns:a="http://schemas.openxmlformats.org/drawingml/2006/main">
            <a:pPr>
              <a:defRPr sz="2250" b="1">
                <a:solidFill>
                  <a:srgbClr val="172D44"/>
                </a:solidFill>
                <a:latin typeface="DejaVu Sans"/>
                <a:ea typeface="DejaVu Sans"/>
                <a:cs typeface="DejaVu Sans"/>
              </a:defRPr>
            </a:pPr>
            <a:r>
              <a:rPr sz="2250" b="1">
                <a:solidFill>
                  <a:srgbClr val="172D44"/>
                </a:solidFill>
                <a:latin typeface="DejaVu Sans"/>
                <a:ea typeface="DejaVu Sans"/>
                <a:cs typeface="DejaVu Sans"/>
              </a:rPr>
              <a:t>Service target</a:t>
            </a:r>
          </a:p>
        </p:txBody>
      </p:sp>
      <p:sp>
        <p:nvSpPr>
          <p:cNvPr id="6" name="">
            <a:extLst xmlns:a="http://schemas.openxmlformats.org/drawingml/2006/main">
              <a:ext uri="{FF2B5EF4-FFF2-40B4-BE49-F238E27FC236}">
                <a16:creationId xmlns:a16="http://schemas.microsoft.com/office/drawing/2014/main" id="{BBB6E3BA-A414-4CC1-82B8-2893F8520480}"/>
              </a:ext>
            </a:extLst>
          </p:cNvPr>
          <p:cNvSpPr>
            <a:spLocks xmlns:a="http://schemas.openxmlformats.org/drawingml/2006/main" noGrp="1"/>
          </p:cNvSpPr>
          <p:nvPr/>
        </p:nvSpPr>
        <p:spPr>
          <a:xfrm xmlns:a="http://schemas.openxmlformats.org/drawingml/2006/main">
            <a:off x="628650" y="25146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A4E"/>
                </a:solidFill>
                <a:latin typeface="DejaVu Sans"/>
                <a:ea typeface="DejaVu Sans"/>
                <a:cs typeface="DejaVu Sans"/>
              </a:defRPr>
            </a:defPPr>
          </a:lstStyle>
          <a:p xmlns:a="http://schemas.openxmlformats.org/drawingml/2006/main">
            <a:pPr>
              <a:defRPr sz="1950" b="0">
                <a:solidFill>
                  <a:srgbClr val="263A4E"/>
                </a:solidFill>
                <a:latin typeface="DejaVu Sans"/>
                <a:ea typeface="DejaVu Sans"/>
                <a:cs typeface="DejaVu Sans"/>
              </a:defRPr>
            </a:pPr>
            <a:r>
              <a:rPr sz="1950" b="0">
                <a:solidFill>
                  <a:srgbClr val="263A4E"/>
                </a:solidFill>
                <a:latin typeface="DejaVu Sans"/>
                <a:ea typeface="DejaVu Sans"/>
                <a:cs typeface="DejaVu Sans"/>
              </a:rPr>
              <a:t>At least 95% of requests within 2 seconds of queue waiting.</a:t>
            </a:r>
          </a:p>
        </p:txBody>
      </p:sp>
      <p:sp>
        <p:nvSpPr>
          <p:cNvPr id="7" name="">
            <a:extLst xmlns:a="http://schemas.openxmlformats.org/drawingml/2006/main">
              <a:ext uri="{FF2B5EF4-FFF2-40B4-BE49-F238E27FC236}">
                <a16:creationId xmlns:a16="http://schemas.microsoft.com/office/drawing/2014/main" id="{EFB24D8A-F435-4782-A11C-FCC09B49F343}"/>
              </a:ext>
            </a:extLst>
          </p:cNvPr>
          <p:cNvSpPr>
            <a:spLocks xmlns:a="http://schemas.openxmlformats.org/drawingml/2006/main" noGrp="1"/>
          </p:cNvSpPr>
          <p:nvPr/>
        </p:nvSpPr>
        <p:spPr>
          <a:xfrm xmlns:a="http://schemas.openxmlformats.org/drawingml/2006/main">
            <a:off x="628650" y="3181350"/>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D44"/>
                </a:solidFill>
                <a:latin typeface="DejaVu Sans"/>
                <a:ea typeface="DejaVu Sans"/>
                <a:cs typeface="DejaVu Sans"/>
              </a:defRPr>
            </a:defPPr>
          </a:lstStyle>
          <a:p xmlns:a="http://schemas.openxmlformats.org/drawingml/2006/main">
            <a:pPr>
              <a:defRPr sz="2250" b="1">
                <a:solidFill>
                  <a:srgbClr val="172D44"/>
                </a:solidFill>
                <a:latin typeface="DejaVu Sans"/>
                <a:ea typeface="DejaVu Sans"/>
                <a:cs typeface="DejaVu Sans"/>
              </a:defRPr>
            </a:pPr>
            <a:r>
              <a:rPr sz="2250" b="1">
                <a:solidFill>
                  <a:srgbClr val="172D44"/>
                </a:solidFill>
                <a:latin typeface="DejaVu Sans"/>
                <a:ea typeface="DejaVu Sans"/>
                <a:cs typeface="DejaVu Sans"/>
              </a:rPr>
              <a:t>Cost target</a:t>
            </a:r>
          </a:p>
        </p:txBody>
      </p:sp>
      <p:sp>
        <p:nvSpPr>
          <p:cNvPr id="8" name="">
            <a:extLst xmlns:a="http://schemas.openxmlformats.org/drawingml/2006/main">
              <a:ext uri="{FF2B5EF4-FFF2-40B4-BE49-F238E27FC236}">
                <a16:creationId xmlns:a16="http://schemas.microsoft.com/office/drawing/2014/main" id="{031B25F2-755C-47B6-9222-9DEA817334A4}"/>
              </a:ext>
            </a:extLst>
          </p:cNvPr>
          <p:cNvSpPr>
            <a:spLocks xmlns:a="http://schemas.openxmlformats.org/drawingml/2006/main" noGrp="1"/>
          </p:cNvSpPr>
          <p:nvPr/>
        </p:nvSpPr>
        <p:spPr>
          <a:xfrm xmlns:a="http://schemas.openxmlformats.org/drawingml/2006/main">
            <a:off x="628650" y="3581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A4E"/>
                </a:solidFill>
                <a:latin typeface="DejaVu Sans"/>
                <a:ea typeface="DejaVu Sans"/>
                <a:cs typeface="DejaVu Sans"/>
              </a:defRPr>
            </a:defPPr>
          </a:lstStyle>
          <a:p xmlns:a="http://schemas.openxmlformats.org/drawingml/2006/main">
            <a:pPr>
              <a:defRPr sz="1950" b="0">
                <a:solidFill>
                  <a:srgbClr val="263A4E"/>
                </a:solidFill>
                <a:latin typeface="DejaVu Sans"/>
                <a:ea typeface="DejaVu Sans"/>
                <a:cs typeface="DejaVu Sans"/>
              </a:defRPr>
            </a:pPr>
            <a:r>
              <a:rPr sz="1950" b="0">
                <a:solidFill>
                  <a:srgbClr val="263A4E"/>
                </a:solidFill>
                <a:latin typeface="DejaVu Sans"/>
                <a:ea typeface="DejaVu Sans"/>
                <a:cs typeface="DejaVu Sans"/>
              </a:rPr>
              <a:t>At least 10% fewer replica-seconds than fixed capacity.</a:t>
            </a:r>
          </a:p>
        </p:txBody>
      </p:sp>
      <p:sp>
        <p:nvSpPr>
          <p:cNvPr id="9" name="">
            <a:extLst xmlns:a="http://schemas.openxmlformats.org/drawingml/2006/main">
              <a:ext uri="{FF2B5EF4-FFF2-40B4-BE49-F238E27FC236}">
                <a16:creationId xmlns:a16="http://schemas.microsoft.com/office/drawing/2014/main" id="{0D5ACB33-C9D2-4911-9438-10DC5A7955BF}"/>
              </a:ext>
            </a:extLst>
          </p:cNvPr>
          <p:cNvSpPr>
            <a:spLocks xmlns:a="http://schemas.openxmlformats.org/drawingml/2006/main" noGrp="1"/>
          </p:cNvSpPr>
          <p:nvPr/>
        </p:nvSpPr>
        <p:spPr>
          <a:xfrm xmlns:a="http://schemas.openxmlformats.org/drawingml/2006/main">
            <a:off x="628650" y="4248150"/>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D44"/>
                </a:solidFill>
                <a:latin typeface="DejaVu Sans"/>
                <a:ea typeface="DejaVu Sans"/>
                <a:cs typeface="DejaVu Sans"/>
              </a:defRPr>
            </a:defPPr>
          </a:lstStyle>
          <a:p xmlns:a="http://schemas.openxmlformats.org/drawingml/2006/main">
            <a:pPr>
              <a:defRPr sz="2250" b="1">
                <a:solidFill>
                  <a:srgbClr val="172D44"/>
                </a:solidFill>
                <a:latin typeface="DejaVu Sans"/>
                <a:ea typeface="DejaVu Sans"/>
                <a:cs typeface="DejaVu Sans"/>
              </a:defRPr>
            </a:pPr>
            <a:r>
              <a:rPr sz="2250" b="1">
                <a:solidFill>
                  <a:srgbClr val="172D44"/>
                </a:solidFill>
                <a:latin typeface="DejaVu Sans"/>
                <a:ea typeface="DejaVu Sans"/>
                <a:cs typeface="DejaVu Sans"/>
              </a:rPr>
              <a:t>Why reinforcement learning?</a:t>
            </a:r>
          </a:p>
        </p:txBody>
      </p:sp>
      <p:sp>
        <p:nvSpPr>
          <p:cNvPr id="10" name="">
            <a:extLst xmlns:a="http://schemas.openxmlformats.org/drawingml/2006/main">
              <a:ext uri="{FF2B5EF4-FFF2-40B4-BE49-F238E27FC236}">
                <a16:creationId xmlns:a16="http://schemas.microsoft.com/office/drawing/2014/main" id="{B433F916-7DEE-45D9-B6DF-5FED5E4D0F9D}"/>
              </a:ext>
            </a:extLst>
          </p:cNvPr>
          <p:cNvSpPr>
            <a:spLocks xmlns:a="http://schemas.openxmlformats.org/drawingml/2006/main" noGrp="1"/>
          </p:cNvSpPr>
          <p:nvPr/>
        </p:nvSpPr>
        <p:spPr>
          <a:xfrm xmlns:a="http://schemas.openxmlformats.org/drawingml/2006/main">
            <a:off x="628650" y="46482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A4E"/>
                </a:solidFill>
                <a:latin typeface="DejaVu Sans"/>
                <a:ea typeface="DejaVu Sans"/>
                <a:cs typeface="DejaVu Sans"/>
              </a:defRPr>
            </a:defPPr>
          </a:lstStyle>
          <a:p xmlns:a="http://schemas.openxmlformats.org/drawingml/2006/main">
            <a:pPr>
              <a:defRPr sz="1950" b="0">
                <a:solidFill>
                  <a:srgbClr val="263A4E"/>
                </a:solidFill>
                <a:latin typeface="DejaVu Sans"/>
                <a:ea typeface="DejaVu Sans"/>
                <a:cs typeface="DejaVu Sans"/>
              </a:defRPr>
            </a:pPr>
            <a:r>
              <a:rPr sz="1950" b="0">
                <a:solidFill>
                  <a:srgbClr val="263A4E"/>
                </a:solidFill>
                <a:latin typeface="DejaVu Sans"/>
                <a:ea typeface="DejaVu Sans"/>
                <a:cs typeface="DejaVu Sans"/>
              </a:rPr>
              <a:t>Scaling decisions have delayed effects: startup takes 20 seconds.</a:t>
            </a:r>
          </a:p>
        </p:txBody>
      </p:sp>
      <p:sp>
        <p:nvSpPr>
          <p:cNvPr id="11" name="">
            <a:extLst xmlns:a="http://schemas.openxmlformats.org/drawingml/2006/main">
              <a:ext uri="{FF2B5EF4-FFF2-40B4-BE49-F238E27FC236}">
                <a16:creationId xmlns:a16="http://schemas.microsoft.com/office/drawing/2014/main" id="{C129DA2D-99C3-4FBF-8EBB-15BCC600CF22}"/>
              </a:ext>
            </a:extLst>
          </p:cNvPr>
          <p:cNvSpPr>
            <a:spLocks xmlns:a="http://schemas.openxmlformats.org/drawingml/2006/main" noGrp="1"/>
          </p:cNvSpPr>
          <p:nvPr/>
        </p:nvSpPr>
        <p:spPr>
          <a:xfrm xmlns:a="http://schemas.openxmlformats.org/drawingml/2006/main">
            <a:off x="628650" y="57054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1867A"/>
                </a:solidFill>
                <a:latin typeface="DejaVu Sans"/>
                <a:ea typeface="DejaVu Sans"/>
                <a:cs typeface="DejaVu Sans"/>
              </a:defRPr>
            </a:defPPr>
          </a:lstStyle>
          <a:p xmlns:a="http://schemas.openxmlformats.org/drawingml/2006/main">
            <a:pPr>
              <a:defRPr sz="2025" b="1">
                <a:solidFill>
                  <a:srgbClr val="21867A"/>
                </a:solidFill>
                <a:latin typeface="DejaVu Sans"/>
                <a:ea typeface="DejaVu Sans"/>
                <a:cs typeface="DejaVu Sans"/>
              </a:defRPr>
            </a:pPr>
            <a:r>
              <a:rPr sz="2025" b="1">
                <a:solidFill>
                  <a:srgbClr val="21867A"/>
                </a:solidFill>
                <a:latin typeface="DejaVu Sans"/>
                <a:ea typeface="DejaVu Sans"/>
                <a:cs typeface="DejaVu Sans"/>
              </a:rPr>
              <a:t>Success requires both conditions, including each workload class.</a:t>
            </a:r>
          </a:p>
        </p:txBody>
      </p:sp>
    </p:spTree>
    <p:extLst>
      <p:ext uri="{BB962C8B-B14F-4D97-AF65-F5344CB8AC3E}">
        <p14:creationId xmlns:p14="http://schemas.microsoft.com/office/powerpoint/2010/main" val="11177204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5715FBE-7C25-4117-90DF-B5F641DFF4F9}"/>
              </a:ext>
            </a:extLst>
          </p:cNvPr>
          <p:cNvSpPr>
            <a:spLocks xmlns:a="http://schemas.openxmlformats.org/drawingml/2006/main" noGrp="1"/>
          </p:cNvSpPr>
          <p:nvPr/>
        </p:nvSpPr>
        <p:spPr>
          <a:xfrm xmlns:a="http://schemas.openxmlformats.org/drawingml/2006/main">
            <a:off x="609600" y="457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44"/>
                </a:solidFill>
                <a:latin typeface="DejaVu Sans"/>
                <a:ea typeface="DejaVu Sans"/>
                <a:cs typeface="DejaVu Sans"/>
              </a:defRPr>
            </a:defPPr>
          </a:lstStyle>
          <a:p xmlns:a="http://schemas.openxmlformats.org/drawingml/2006/main">
            <a:pPr>
              <a:defRPr sz="3150" b="1">
                <a:solidFill>
                  <a:srgbClr val="172D44"/>
                </a:solidFill>
                <a:latin typeface="DejaVu Sans"/>
                <a:ea typeface="DejaVu Sans"/>
                <a:cs typeface="DejaVu Sans"/>
              </a:defRPr>
            </a:pPr>
            <a:r>
              <a:rPr sz="3150" b="1">
                <a:solidFill>
                  <a:srgbClr val="172D44"/>
                </a:solidFill>
                <a:latin typeface="DejaVu Sans"/>
                <a:ea typeface="DejaVu Sans"/>
                <a:cs typeface="DejaVu Sans"/>
              </a:rPr>
              <a:t>Research that shaped the design</a:t>
            </a:r>
          </a:p>
        </p:txBody>
      </p:sp>
      <p:sp>
        <p:nvSpPr>
          <p:cNvPr id="2" name="">
            <a:extLst xmlns:a="http://schemas.openxmlformats.org/drawingml/2006/main">
              <a:ext uri="{FF2B5EF4-FFF2-40B4-BE49-F238E27FC236}">
                <a16:creationId xmlns:a16="http://schemas.microsoft.com/office/drawing/2014/main" id="{B7A7A698-6EE0-45B9-B63E-F770391E5DC4}"/>
              </a:ext>
            </a:extLst>
          </p:cNvPr>
          <p:cNvSpPr>
            <a:spLocks xmlns:a="http://schemas.openxmlformats.org/drawingml/2006/main" noGrp="1"/>
          </p:cNvSpPr>
          <p:nvPr/>
        </p:nvSpPr>
        <p:spPr>
          <a:xfrm xmlns:a="http://schemas.openxmlformats.org/drawingml/2006/main">
            <a:off x="62865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B6B7C"/>
                </a:solidFill>
                <a:latin typeface="DejaVu Sans"/>
                <a:ea typeface="DejaVu Sans"/>
                <a:cs typeface="DejaVu Sans"/>
              </a:defRPr>
            </a:defPPr>
          </a:lstStyle>
          <a:p xmlns:a="http://schemas.openxmlformats.org/drawingml/2006/main">
            <a:pPr>
              <a:defRPr sz="1875" b="0">
                <a:solidFill>
                  <a:srgbClr val="5B6B7C"/>
                </a:solidFill>
                <a:latin typeface="DejaVu Sans"/>
                <a:ea typeface="DejaVu Sans"/>
                <a:cs typeface="DejaVu Sans"/>
              </a:defRPr>
            </a:pPr>
            <a:r>
              <a:rPr sz="1875" b="0">
                <a:solidFill>
                  <a:srgbClr val="5B6B7C"/>
                </a:solidFill>
                <a:latin typeface="DejaVu Sans"/>
                <a:ea typeface="DejaVu Sans"/>
                <a:cs typeface="DejaVu Sans"/>
              </a:rPr>
              <a:t>A local prototype informed by autoscaling and RL research</a:t>
            </a:r>
          </a:p>
        </p:txBody>
      </p:sp>
      <p:sp>
        <p:nvSpPr>
          <p:cNvPr id="3" name="">
            <a:extLst xmlns:a="http://schemas.openxmlformats.org/drawingml/2006/main">
              <a:ext uri="{FF2B5EF4-FFF2-40B4-BE49-F238E27FC236}">
                <a16:creationId xmlns:a16="http://schemas.microsoft.com/office/drawing/2014/main" id="{9BC509D1-8F53-494A-A4F7-E300D4022913}"/>
              </a:ext>
            </a:extLst>
          </p:cNvPr>
          <p:cNvSpPr>
            <a:spLocks xmlns:a="http://schemas.openxmlformats.org/drawingml/2006/main" noGrp="1"/>
          </p:cNvSpPr>
          <p:nvPr/>
        </p:nvSpPr>
        <p:spPr>
          <a:xfrm xmlns:a="http://schemas.openxmlformats.org/drawingml/2006/main">
            <a:off x="62865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B6B7C"/>
                </a:solidFill>
                <a:latin typeface="DejaVu Sans"/>
                <a:ea typeface="DejaVu Sans"/>
                <a:cs typeface="DejaVu Sans"/>
              </a:defRPr>
            </a:defPPr>
          </a:lstStyle>
          <a:p xmlns:a="http://schemas.openxmlformats.org/drawingml/2006/main">
            <a:pPr>
              <a:defRPr sz="1200" b="0">
                <a:solidFill>
                  <a:srgbClr val="5B6B7C"/>
                </a:solidFill>
                <a:latin typeface="DejaVu Sans"/>
                <a:ea typeface="DejaVu Sans"/>
                <a:cs typeface="DejaVu Sans"/>
              </a:defRPr>
            </a:pPr>
            <a:r>
              <a:rPr sz="1200" b="0">
                <a:solidFill>
                  <a:srgbClr val="5B6B7C"/>
                </a:solidFill>
                <a:latin typeface="DejaVu Sans"/>
                <a:ea typeface="DejaVu Sans"/>
                <a:cs typeface="DejaVu Sans"/>
              </a:rPr>
              <a:t>SIMULATED API AUTOSCALING • PART 2</a:t>
            </a:r>
          </a:p>
        </p:txBody>
      </p:sp>
      <p:sp>
        <p:nvSpPr>
          <p:cNvPr id="4" name="">
            <a:extLst xmlns:a="http://schemas.openxmlformats.org/drawingml/2006/main">
              <a:ext uri="{FF2B5EF4-FFF2-40B4-BE49-F238E27FC236}">
                <a16:creationId xmlns:a16="http://schemas.microsoft.com/office/drawing/2014/main" id="{C23D5D4E-7F50-4035-920B-974A92AA65CE}"/>
              </a:ext>
            </a:extLst>
          </p:cNvPr>
          <p:cNvSpPr>
            <a:spLocks xmlns:a="http://schemas.openxmlformats.org/drawingml/2006/main" noGrp="1"/>
          </p:cNvSpPr>
          <p:nvPr/>
        </p:nvSpPr>
        <p:spPr>
          <a:xfrm xmlns:a="http://schemas.openxmlformats.org/drawingml/2006/main">
            <a:off x="11182350" y="638175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B6B7C"/>
                </a:solidFill>
                <a:latin typeface="DejaVu Sans"/>
                <a:ea typeface="DejaVu Sans"/>
                <a:cs typeface="DejaVu Sans"/>
              </a:defRPr>
            </a:defPPr>
          </a:lstStyle>
          <a:p xmlns:a="http://schemas.openxmlformats.org/drawingml/2006/main">
            <a:pPr>
              <a:defRPr sz="1425" b="0">
                <a:solidFill>
                  <a:srgbClr val="5B6B7C"/>
                </a:solidFill>
                <a:latin typeface="DejaVu Sans"/>
                <a:ea typeface="DejaVu Sans"/>
                <a:cs typeface="DejaVu Sans"/>
              </a:defRPr>
            </a:pPr>
            <a:r>
              <a:rPr sz="1425" b="0">
                <a:solidFill>
                  <a:srgbClr val="5B6B7C"/>
                </a:solidFill>
                <a:latin typeface="DejaVu Sans"/>
                <a:ea typeface="DejaVu Sans"/>
                <a:cs typeface="DejaVu Sans"/>
              </a:rPr>
              <a:t>3</a:t>
            </a:r>
          </a:p>
        </p:txBody>
      </p:sp>
      <p:sp>
        <p:nvSpPr>
          <p:cNvPr id="5" name="">
            <a:extLst xmlns:a="http://schemas.openxmlformats.org/drawingml/2006/main">
              <a:ext uri="{FF2B5EF4-FFF2-40B4-BE49-F238E27FC236}">
                <a16:creationId xmlns:a16="http://schemas.microsoft.com/office/drawing/2014/main" id="{F0038FC2-BD89-45C9-AFBC-40F7257DCF42}"/>
              </a:ext>
            </a:extLst>
          </p:cNvPr>
          <p:cNvSpPr>
            <a:spLocks xmlns:a="http://schemas.openxmlformats.org/drawingml/2006/main" noGrp="1"/>
          </p:cNvSpPr>
          <p:nvPr/>
        </p:nvSpPr>
        <p:spPr>
          <a:xfrm xmlns:a="http://schemas.openxmlformats.org/drawingml/2006/main">
            <a:off x="628650" y="2028825"/>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D44"/>
                </a:solidFill>
                <a:latin typeface="DejaVu Sans"/>
                <a:ea typeface="DejaVu Sans"/>
                <a:cs typeface="DejaVu Sans"/>
              </a:defRPr>
            </a:defPPr>
          </a:lstStyle>
          <a:p xmlns:a="http://schemas.openxmlformats.org/drawingml/2006/main">
            <a:pPr>
              <a:defRPr sz="2250" b="1">
                <a:solidFill>
                  <a:srgbClr val="172D44"/>
                </a:solidFill>
                <a:latin typeface="DejaVu Sans"/>
                <a:ea typeface="DejaVu Sans"/>
                <a:cs typeface="DejaVu Sans"/>
              </a:defRPr>
            </a:pPr>
            <a:r>
              <a:rPr sz="2250" b="1">
                <a:solidFill>
                  <a:srgbClr val="172D44"/>
                </a:solidFill>
                <a:latin typeface="DejaVu Sans"/>
                <a:ea typeface="DejaVu Sans"/>
                <a:cs typeface="DejaVu Sans"/>
              </a:rPr>
              <a:t>Autoscaling and provisioning</a:t>
            </a:r>
          </a:p>
        </p:txBody>
      </p:sp>
      <p:sp>
        <p:nvSpPr>
          <p:cNvPr id="6" name="">
            <a:extLst xmlns:a="http://schemas.openxmlformats.org/drawingml/2006/main">
              <a:ext uri="{FF2B5EF4-FFF2-40B4-BE49-F238E27FC236}">
                <a16:creationId xmlns:a16="http://schemas.microsoft.com/office/drawing/2014/main" id="{B41FA4E4-113F-4149-ADBD-B7FA271B55BD}"/>
              </a:ext>
            </a:extLst>
          </p:cNvPr>
          <p:cNvSpPr>
            <a:spLocks xmlns:a="http://schemas.openxmlformats.org/drawingml/2006/main" noGrp="1"/>
          </p:cNvSpPr>
          <p:nvPr/>
        </p:nvSpPr>
        <p:spPr>
          <a:xfrm xmlns:a="http://schemas.openxmlformats.org/drawingml/2006/main">
            <a:off x="628650" y="24288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A4E"/>
                </a:solidFill>
                <a:latin typeface="DejaVu Sans"/>
                <a:ea typeface="DejaVu Sans"/>
                <a:cs typeface="DejaVu Sans"/>
              </a:defRPr>
            </a:defPPr>
          </a:lstStyle>
          <a:p xmlns:a="http://schemas.openxmlformats.org/drawingml/2006/main">
            <a:pPr>
              <a:defRPr sz="1950" b="0">
                <a:solidFill>
                  <a:srgbClr val="263A4E"/>
                </a:solidFill>
                <a:latin typeface="DejaVu Sans"/>
                <a:ea typeface="DejaVu Sans"/>
                <a:cs typeface="DejaVu Sans"/>
              </a:defRPr>
            </a:pPr>
            <a:r>
              <a:rPr sz="1950" b="0">
                <a:solidFill>
                  <a:srgbClr val="263A4E"/>
                </a:solidFill>
                <a:latin typeface="DejaVu Sans"/>
                <a:ea typeface="DejaVu Sans"/>
                <a:cs typeface="DejaVu Sans"/>
              </a:rPr>
              <a:t>Barrett et al. (2013); Garí et al. (2020); Wang et al. (2017).</a:t>
            </a:r>
          </a:p>
        </p:txBody>
      </p:sp>
      <p:sp>
        <p:nvSpPr>
          <p:cNvPr id="7" name="">
            <a:extLst xmlns:a="http://schemas.openxmlformats.org/drawingml/2006/main">
              <a:ext uri="{FF2B5EF4-FFF2-40B4-BE49-F238E27FC236}">
                <a16:creationId xmlns:a16="http://schemas.microsoft.com/office/drawing/2014/main" id="{2690A551-F35D-4C88-931C-839389F038ED}"/>
              </a:ext>
            </a:extLst>
          </p:cNvPr>
          <p:cNvSpPr>
            <a:spLocks xmlns:a="http://schemas.openxmlformats.org/drawingml/2006/main" noGrp="1"/>
          </p:cNvSpPr>
          <p:nvPr/>
        </p:nvSpPr>
        <p:spPr>
          <a:xfrm xmlns:a="http://schemas.openxmlformats.org/drawingml/2006/main">
            <a:off x="628650" y="3314700"/>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D44"/>
                </a:solidFill>
                <a:latin typeface="DejaVu Sans"/>
                <a:ea typeface="DejaVu Sans"/>
                <a:cs typeface="DejaVu Sans"/>
              </a:defRPr>
            </a:defPPr>
          </a:lstStyle>
          <a:p xmlns:a="http://schemas.openxmlformats.org/drawingml/2006/main">
            <a:pPr>
              <a:defRPr sz="2250" b="1">
                <a:solidFill>
                  <a:srgbClr val="172D44"/>
                </a:solidFill>
                <a:latin typeface="DejaVu Sans"/>
                <a:ea typeface="DejaVu Sans"/>
                <a:cs typeface="DejaVu Sans"/>
              </a:defRPr>
            </a:pPr>
            <a:r>
              <a:rPr sz="2250" b="1">
                <a:solidFill>
                  <a:srgbClr val="172D44"/>
                </a:solidFill>
                <a:latin typeface="DejaVu Sans"/>
                <a:ea typeface="DejaVu Sans"/>
                <a:cs typeface="DejaVu Sans"/>
              </a:rPr>
              <a:t>Algorithm and evaluation</a:t>
            </a:r>
          </a:p>
        </p:txBody>
      </p:sp>
      <p:sp>
        <p:nvSpPr>
          <p:cNvPr id="8" name="">
            <a:extLst xmlns:a="http://schemas.openxmlformats.org/drawingml/2006/main">
              <a:ext uri="{FF2B5EF4-FFF2-40B4-BE49-F238E27FC236}">
                <a16:creationId xmlns:a16="http://schemas.microsoft.com/office/drawing/2014/main" id="{F4083FE4-C8C2-4B54-B5F4-8A600DD25EF9}"/>
              </a:ext>
            </a:extLst>
          </p:cNvPr>
          <p:cNvSpPr>
            <a:spLocks xmlns:a="http://schemas.openxmlformats.org/drawingml/2006/main" noGrp="1"/>
          </p:cNvSpPr>
          <p:nvPr/>
        </p:nvSpPr>
        <p:spPr>
          <a:xfrm xmlns:a="http://schemas.openxmlformats.org/drawingml/2006/main">
            <a:off x="628650" y="37147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A4E"/>
                </a:solidFill>
                <a:latin typeface="DejaVu Sans"/>
                <a:ea typeface="DejaVu Sans"/>
                <a:cs typeface="DejaVu Sans"/>
              </a:defRPr>
            </a:defPPr>
          </a:lstStyle>
          <a:p xmlns:a="http://schemas.openxmlformats.org/drawingml/2006/main">
            <a:pPr>
              <a:defRPr sz="1950" b="0">
                <a:solidFill>
                  <a:srgbClr val="263A4E"/>
                </a:solidFill>
                <a:latin typeface="DejaVu Sans"/>
                <a:ea typeface="DejaVu Sans"/>
                <a:cs typeface="DejaVu Sans"/>
              </a:defRPr>
            </a:pPr>
            <a:r>
              <a:rPr sz="1950" b="0">
                <a:solidFill>
                  <a:srgbClr val="263A4E"/>
                </a:solidFill>
                <a:latin typeface="DejaVu Sans"/>
                <a:ea typeface="DejaVu Sans"/>
                <a:cs typeface="DejaVu Sans"/>
              </a:rPr>
              <a:t>PPO and GAE: Schulman et al. (2017, 2015).</a:t>
            </a:r>
          </a:p>
          <a:p xmlns:a="http://schemas.openxmlformats.org/drawingml/2006/main">
            <a:pPr>
              <a:defRPr sz="1950" b="0">
                <a:solidFill>
                  <a:srgbClr val="263A4E"/>
                </a:solidFill>
                <a:latin typeface="DejaVu Sans"/>
                <a:ea typeface="DejaVu Sans"/>
                <a:cs typeface="DejaVu Sans"/>
              </a:defRPr>
            </a:pPr>
            <a:r>
              <a:rPr sz="1950" b="0">
                <a:solidFill>
                  <a:srgbClr val="263A4E"/>
                </a:solidFill>
                <a:latin typeface="DejaVu Sans"/>
                <a:ea typeface="DejaVu Sans"/>
                <a:cs typeface="DejaVu Sans"/>
              </a:rPr>
              <a:t>Seed variability: Henderson et al. (2017).</a:t>
            </a:r>
          </a:p>
        </p:txBody>
      </p:sp>
      <p:sp>
        <p:nvSpPr>
          <p:cNvPr id="9" name="">
            <a:extLst xmlns:a="http://schemas.openxmlformats.org/drawingml/2006/main">
              <a:ext uri="{FF2B5EF4-FFF2-40B4-BE49-F238E27FC236}">
                <a16:creationId xmlns:a16="http://schemas.microsoft.com/office/drawing/2014/main" id="{E1024FF1-A1B6-4502-8A08-BB352AC5F1DB}"/>
              </a:ext>
            </a:extLst>
          </p:cNvPr>
          <p:cNvSpPr>
            <a:spLocks xmlns:a="http://schemas.openxmlformats.org/drawingml/2006/main" noGrp="1"/>
          </p:cNvSpPr>
          <p:nvPr/>
        </p:nvSpPr>
        <p:spPr>
          <a:xfrm xmlns:a="http://schemas.openxmlformats.org/drawingml/2006/main">
            <a:off x="628650" y="4600575"/>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D44"/>
                </a:solidFill>
                <a:latin typeface="DejaVu Sans"/>
                <a:ea typeface="DejaVu Sans"/>
                <a:cs typeface="DejaVu Sans"/>
              </a:defRPr>
            </a:defPPr>
          </a:lstStyle>
          <a:p xmlns:a="http://schemas.openxmlformats.org/drawingml/2006/main">
            <a:pPr>
              <a:defRPr sz="2250" b="1">
                <a:solidFill>
                  <a:srgbClr val="172D44"/>
                </a:solidFill>
                <a:latin typeface="DejaVu Sans"/>
                <a:ea typeface="DejaVu Sans"/>
                <a:cs typeface="DejaVu Sans"/>
              </a:defRPr>
            </a:pPr>
            <a:r>
              <a:rPr sz="2250" b="1">
                <a:solidFill>
                  <a:srgbClr val="172D44"/>
                </a:solidFill>
                <a:latin typeface="DejaVu Sans"/>
                <a:ea typeface="DejaVu Sans"/>
                <a:cs typeface="DejaVu Sans"/>
              </a:rPr>
              <a:t>Production context</a:t>
            </a:r>
          </a:p>
        </p:txBody>
      </p:sp>
      <p:sp>
        <p:nvSpPr>
          <p:cNvPr id="10" name="">
            <a:extLst xmlns:a="http://schemas.openxmlformats.org/drawingml/2006/main">
              <a:ext uri="{FF2B5EF4-FFF2-40B4-BE49-F238E27FC236}">
                <a16:creationId xmlns:a16="http://schemas.microsoft.com/office/drawing/2014/main" id="{04C62792-7672-423E-9E2F-58894EFF040A}"/>
              </a:ext>
            </a:extLst>
          </p:cNvPr>
          <p:cNvSpPr>
            <a:spLocks xmlns:a="http://schemas.openxmlformats.org/drawingml/2006/main" noGrp="1"/>
          </p:cNvSpPr>
          <p:nvPr/>
        </p:nvSpPr>
        <p:spPr>
          <a:xfrm xmlns:a="http://schemas.openxmlformats.org/drawingml/2006/main">
            <a:off x="628650" y="50006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A4E"/>
                </a:solidFill>
                <a:latin typeface="DejaVu Sans"/>
                <a:ea typeface="DejaVu Sans"/>
                <a:cs typeface="DejaVu Sans"/>
              </a:defRPr>
            </a:defPPr>
          </a:lstStyle>
          <a:p xmlns:a="http://schemas.openxmlformats.org/drawingml/2006/main">
            <a:pPr>
              <a:defRPr sz="1950" b="0">
                <a:solidFill>
                  <a:srgbClr val="263A4E"/>
                </a:solidFill>
                <a:latin typeface="DejaVu Sans"/>
                <a:ea typeface="DejaVu Sans"/>
                <a:cs typeface="DejaVu Sans"/>
              </a:defRPr>
            </a:pPr>
            <a:r>
              <a:rPr sz="1950" b="0">
                <a:solidFill>
                  <a:srgbClr val="263A4E"/>
                </a:solidFill>
                <a:latin typeface="DejaVu Sans"/>
                <a:ea typeface="DejaVu Sans"/>
                <a:cs typeface="DejaVu Sans"/>
              </a:rPr>
              <a:t>AWARE: Qiu et al. (2023) motivates caution about deployment.</a:t>
            </a:r>
          </a:p>
        </p:txBody>
      </p:sp>
    </p:spTree>
    <p:extLst>
      <p:ext uri="{BB962C8B-B14F-4D97-AF65-F5344CB8AC3E}">
        <p14:creationId xmlns:p14="http://schemas.microsoft.com/office/powerpoint/2010/main" val="171210507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CB670E8-E23E-4E7E-A308-E5B4EAF5CEB3}"/>
              </a:ext>
            </a:extLst>
          </p:cNvPr>
          <p:cNvSpPr>
            <a:spLocks xmlns:a="http://schemas.openxmlformats.org/drawingml/2006/main" noGrp="1"/>
          </p:cNvSpPr>
          <p:nvPr/>
        </p:nvSpPr>
        <p:spPr>
          <a:xfrm xmlns:a="http://schemas.openxmlformats.org/drawingml/2006/main">
            <a:off x="609600" y="457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44"/>
                </a:solidFill>
                <a:latin typeface="DejaVu Sans"/>
                <a:ea typeface="DejaVu Sans"/>
                <a:cs typeface="DejaVu Sans"/>
              </a:defRPr>
            </a:defPPr>
          </a:lstStyle>
          <a:p xmlns:a="http://schemas.openxmlformats.org/drawingml/2006/main">
            <a:pPr>
              <a:defRPr sz="3150" b="1">
                <a:solidFill>
                  <a:srgbClr val="172D44"/>
                </a:solidFill>
                <a:latin typeface="DejaVu Sans"/>
                <a:ea typeface="DejaVu Sans"/>
                <a:cs typeface="DejaVu Sans"/>
              </a:defRPr>
            </a:pPr>
            <a:r>
              <a:rPr sz="3150" b="1">
                <a:solidFill>
                  <a:srgbClr val="172D44"/>
                </a:solidFill>
                <a:latin typeface="DejaVu Sans"/>
                <a:ea typeface="DejaVu Sans"/>
                <a:cs typeface="DejaVu Sans"/>
              </a:rPr>
              <a:t>A small, explicit simulator</a:t>
            </a:r>
          </a:p>
        </p:txBody>
      </p:sp>
      <p:sp>
        <p:nvSpPr>
          <p:cNvPr id="2" name="">
            <a:extLst xmlns:a="http://schemas.openxmlformats.org/drawingml/2006/main">
              <a:ext uri="{FF2B5EF4-FFF2-40B4-BE49-F238E27FC236}">
                <a16:creationId xmlns:a16="http://schemas.microsoft.com/office/drawing/2014/main" id="{B06AF7CA-0DB5-4E24-B463-B182757671E1}"/>
              </a:ext>
            </a:extLst>
          </p:cNvPr>
          <p:cNvSpPr>
            <a:spLocks xmlns:a="http://schemas.openxmlformats.org/drawingml/2006/main" noGrp="1"/>
          </p:cNvSpPr>
          <p:nvPr/>
        </p:nvSpPr>
        <p:spPr>
          <a:xfrm xmlns:a="http://schemas.openxmlformats.org/drawingml/2006/main">
            <a:off x="62865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B6B7C"/>
                </a:solidFill>
                <a:latin typeface="DejaVu Sans"/>
                <a:ea typeface="DejaVu Sans"/>
                <a:cs typeface="DejaVu Sans"/>
              </a:defRPr>
            </a:defPPr>
          </a:lstStyle>
          <a:p xmlns:a="http://schemas.openxmlformats.org/drawingml/2006/main">
            <a:pPr>
              <a:defRPr sz="1875" b="0">
                <a:solidFill>
                  <a:srgbClr val="5B6B7C"/>
                </a:solidFill>
                <a:latin typeface="DejaVu Sans"/>
                <a:ea typeface="DejaVu Sans"/>
                <a:cs typeface="DejaVu Sans"/>
              </a:defRPr>
            </a:pPr>
            <a:r>
              <a:rPr sz="1875" b="0">
                <a:solidFill>
                  <a:srgbClr val="5B6B7C"/>
                </a:solidFill>
                <a:latin typeface="DejaVu Sans"/>
                <a:ea typeface="DejaVu Sans"/>
                <a:cs typeface="DejaVu Sans"/>
              </a:rPr>
              <a:t>All values below are modeling assumptions</a:t>
            </a:r>
          </a:p>
        </p:txBody>
      </p:sp>
      <p:sp>
        <p:nvSpPr>
          <p:cNvPr id="3" name="">
            <a:extLst xmlns:a="http://schemas.openxmlformats.org/drawingml/2006/main">
              <a:ext uri="{FF2B5EF4-FFF2-40B4-BE49-F238E27FC236}">
                <a16:creationId xmlns:a16="http://schemas.microsoft.com/office/drawing/2014/main" id="{D06CBF71-897C-4B40-8F72-113E8D15A993}"/>
              </a:ext>
            </a:extLst>
          </p:cNvPr>
          <p:cNvSpPr>
            <a:spLocks xmlns:a="http://schemas.openxmlformats.org/drawingml/2006/main" noGrp="1"/>
          </p:cNvSpPr>
          <p:nvPr/>
        </p:nvSpPr>
        <p:spPr>
          <a:xfrm xmlns:a="http://schemas.openxmlformats.org/drawingml/2006/main">
            <a:off x="62865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B6B7C"/>
                </a:solidFill>
                <a:latin typeface="DejaVu Sans"/>
                <a:ea typeface="DejaVu Sans"/>
                <a:cs typeface="DejaVu Sans"/>
              </a:defRPr>
            </a:defPPr>
          </a:lstStyle>
          <a:p xmlns:a="http://schemas.openxmlformats.org/drawingml/2006/main">
            <a:pPr>
              <a:defRPr sz="1200" b="0">
                <a:solidFill>
                  <a:srgbClr val="5B6B7C"/>
                </a:solidFill>
                <a:latin typeface="DejaVu Sans"/>
                <a:ea typeface="DejaVu Sans"/>
                <a:cs typeface="DejaVu Sans"/>
              </a:defRPr>
            </a:pPr>
            <a:r>
              <a:rPr sz="1200" b="0">
                <a:solidFill>
                  <a:srgbClr val="5B6B7C"/>
                </a:solidFill>
                <a:latin typeface="DejaVu Sans"/>
                <a:ea typeface="DejaVu Sans"/>
                <a:cs typeface="DejaVu Sans"/>
              </a:rPr>
              <a:t>SIMULATED API AUTOSCALING • PART 2</a:t>
            </a:r>
          </a:p>
        </p:txBody>
      </p:sp>
      <p:sp>
        <p:nvSpPr>
          <p:cNvPr id="4" name="">
            <a:extLst xmlns:a="http://schemas.openxmlformats.org/drawingml/2006/main">
              <a:ext uri="{FF2B5EF4-FFF2-40B4-BE49-F238E27FC236}">
                <a16:creationId xmlns:a16="http://schemas.microsoft.com/office/drawing/2014/main" id="{B9EE2704-AD87-40D3-8C10-B8D6FB5718A1}"/>
              </a:ext>
            </a:extLst>
          </p:cNvPr>
          <p:cNvSpPr>
            <a:spLocks xmlns:a="http://schemas.openxmlformats.org/drawingml/2006/main" noGrp="1"/>
          </p:cNvSpPr>
          <p:nvPr/>
        </p:nvSpPr>
        <p:spPr>
          <a:xfrm xmlns:a="http://schemas.openxmlformats.org/drawingml/2006/main">
            <a:off x="11182350" y="638175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B6B7C"/>
                </a:solidFill>
                <a:latin typeface="DejaVu Sans"/>
                <a:ea typeface="DejaVu Sans"/>
                <a:cs typeface="DejaVu Sans"/>
              </a:defRPr>
            </a:defPPr>
          </a:lstStyle>
          <a:p xmlns:a="http://schemas.openxmlformats.org/drawingml/2006/main">
            <a:pPr>
              <a:defRPr sz="1425" b="0">
                <a:solidFill>
                  <a:srgbClr val="5B6B7C"/>
                </a:solidFill>
                <a:latin typeface="DejaVu Sans"/>
                <a:ea typeface="DejaVu Sans"/>
                <a:cs typeface="DejaVu Sans"/>
              </a:defRPr>
            </a:pPr>
            <a:r>
              <a:rPr sz="1425" b="0">
                <a:solidFill>
                  <a:srgbClr val="5B6B7C"/>
                </a:solidFill>
                <a:latin typeface="DejaVu Sans"/>
                <a:ea typeface="DejaVu Sans"/>
                <a:cs typeface="DejaVu Sans"/>
              </a:rPr>
              <a:t>4</a:t>
            </a:r>
          </a:p>
        </p:txBody>
      </p:sp>
      <p:graphicFrame>
        <p:nvGraphicFramePr>
          <p:cNvPr id="5" name="">
            <a:extLst xmlns:a="http://schemas.openxmlformats.org/drawingml/2006/main">
              <a:ext uri="{FF2B5EF4-FFF2-40B4-BE49-F238E27FC236}">
                <a16:creationId xmlns:a16="http://schemas.microsoft.com/office/drawing/2014/main" id="{44B27B23-F555-449F-94B9-D81B55615A28}"/>
              </a:ext>
            </a:extLst>
          </p:cNvPr>
          <p:cNvGraphicFramePr/>
          <p:nvPr/>
        </p:nvGraphicFramePr>
        <p:xfrm>
          <a:off xmlns:a="http://schemas.openxmlformats.org/drawingml/2006/main" x="628650" y="1914525"/>
          <a:ext xmlns:a="http://schemas.openxmlformats.org/drawingml/2006/main" cx="10896600" cy="3714750"/>
        </p:xfrm>
        <a:graphic xmlns:a="http://schemas.openxmlformats.org/drawingml/2006/main">
          <a:graphicData uri="http://schemas.openxmlformats.org/drawingml/2006/table">
            <a:tbl>
              <a:tblPr/>
              <a:tblGrid>
                <a:gridCol w="3333750"/>
                <a:gridCol w="7562850"/>
              </a:tblGrid>
              <a:tr h="619125">
                <a:tc>
                  <a:txBody>
                    <a:bodyPr/>
                    <a:lstStyle/>
                    <a:p>
                      <a:r>
                        <a:rPr sz="1875" b="1">
                          <a:solidFill>
                            <a:srgbClr val="FFFFFF"/>
                          </a:solidFill>
                          <a:latin typeface="DejaVu Sans"/>
                          <a:ea typeface="DejaVu Sans"/>
                          <a:cs typeface="DejaVu Sans"/>
                        </a:rPr>
                        <a:t>Component</a:t>
                      </a:r>
                    </a:p>
                  </a:txBody>
                  <a:tcPr marL="133350" marR="133350" marT="95250" marB="95250">
                    <a:solidFill>
                      <a:srgbClr val="172D44"/>
                    </a:solidFill>
                  </a:tcPr>
                </a:tc>
                <a:tc>
                  <a:txBody>
                    <a:bodyPr/>
                    <a:lstStyle/>
                    <a:p>
                      <a:r>
                        <a:rPr sz="1875" b="1">
                          <a:solidFill>
                            <a:srgbClr val="FFFFFF"/>
                          </a:solidFill>
                          <a:latin typeface="DejaVu Sans"/>
                          <a:ea typeface="DejaVu Sans"/>
                          <a:cs typeface="DejaVu Sans"/>
                        </a:rPr>
                        <a:t>Design</a:t>
                      </a:r>
                    </a:p>
                  </a:txBody>
                  <a:tcPr marL="133350" marR="133350" marT="95250" marB="95250">
                    <a:solidFill>
                      <a:srgbClr val="172D44"/>
                    </a:solidFill>
                  </a:tcPr>
                </a:tc>
              </a:tr>
              <a:tr h="619125">
                <a:tc>
                  <a:txBody>
                    <a:bodyPr/>
                    <a:lstStyle/>
                    <a:p>
                      <a:r>
                        <a:rPr sz="1875">
                          <a:solidFill>
                            <a:srgbClr val="263A4E"/>
                          </a:solidFill>
                          <a:latin typeface="DejaVu Sans"/>
                          <a:ea typeface="DejaVu Sans"/>
                          <a:cs typeface="DejaVu Sans"/>
                        </a:rPr>
                        <a:t>Episode / decisions</a:t>
                      </a:r>
                    </a:p>
                  </a:txBody>
                  <a:tcPr marL="133350" marR="133350" marT="95250" marB="95250">
                    <a:solidFill>
                      <a:srgbClr val="FFFFFF"/>
                    </a:solidFill>
                  </a:tcPr>
                </a:tc>
                <a:tc>
                  <a:txBody>
                    <a:bodyPr/>
                    <a:lstStyle/>
                    <a:p>
                      <a:r>
                        <a:rPr sz="1875">
                          <a:solidFill>
                            <a:srgbClr val="263A4E"/>
                          </a:solidFill>
                          <a:latin typeface="DejaVu Sans"/>
                          <a:ea typeface="DejaVu Sans"/>
                          <a:cs typeface="DejaVu Sans"/>
                        </a:rPr>
                        <a:t>30 minutes / every 10 seconds</a:t>
                      </a:r>
                    </a:p>
                  </a:txBody>
                  <a:tcPr marL="133350" marR="133350" marT="95250" marB="95250">
                    <a:solidFill>
                      <a:srgbClr val="FFFFFF"/>
                    </a:solidFill>
                  </a:tcPr>
                </a:tc>
              </a:tr>
              <a:tr h="619125">
                <a:tc>
                  <a:txBody>
                    <a:bodyPr/>
                    <a:lstStyle/>
                    <a:p>
                      <a:r>
                        <a:rPr sz="1875">
                          <a:solidFill>
                            <a:srgbClr val="263A4E"/>
                          </a:solidFill>
                          <a:latin typeface="DejaVu Sans"/>
                          <a:ea typeface="DejaVu Sans"/>
                          <a:cs typeface="DejaVu Sans"/>
                        </a:rPr>
                        <a:t>Replicas</a:t>
                      </a:r>
                    </a:p>
                  </a:txBody>
                  <a:tcPr marL="133350" marR="133350" marT="95250" marB="95250">
                    <a:solidFill>
                      <a:srgbClr val="FFFFFF"/>
                    </a:solidFill>
                  </a:tcPr>
                </a:tc>
                <a:tc>
                  <a:txBody>
                    <a:bodyPr/>
                    <a:lstStyle/>
                    <a:p>
                      <a:r>
                        <a:rPr sz="1875">
                          <a:solidFill>
                            <a:srgbClr val="263A4E"/>
                          </a:solidFill>
                          <a:latin typeface="DejaVu Sans"/>
                          <a:ea typeface="DejaVu Sans"/>
                          <a:cs typeface="DejaVu Sans"/>
                        </a:rPr>
                        <a:t>2 initially; 1–10 allowed; 20 requests/s each</a:t>
                      </a:r>
                    </a:p>
                  </a:txBody>
                  <a:tcPr marL="133350" marR="133350" marT="95250" marB="95250">
                    <a:solidFill>
                      <a:srgbClr val="FFFFFF"/>
                    </a:solidFill>
                  </a:tcPr>
                </a:tc>
              </a:tr>
              <a:tr h="619125">
                <a:tc>
                  <a:txBody>
                    <a:bodyPr/>
                    <a:lstStyle/>
                    <a:p>
                      <a:r>
                        <a:rPr sz="1875">
                          <a:solidFill>
                            <a:srgbClr val="263A4E"/>
                          </a:solidFill>
                          <a:latin typeface="DejaVu Sans"/>
                          <a:ea typeface="DejaVu Sans"/>
                          <a:cs typeface="DejaVu Sans"/>
                        </a:rPr>
                        <a:t>Startup / queue</a:t>
                      </a:r>
                    </a:p>
                  </a:txBody>
                  <a:tcPr marL="133350" marR="133350" marT="95250" marB="95250">
                    <a:solidFill>
                      <a:srgbClr val="FFFFFF"/>
                    </a:solidFill>
                  </a:tcPr>
                </a:tc>
                <a:tc>
                  <a:txBody>
                    <a:bodyPr/>
                    <a:lstStyle/>
                    <a:p>
                      <a:r>
                        <a:rPr sz="1875">
                          <a:solidFill>
                            <a:srgbClr val="263A4E"/>
                          </a:solidFill>
                          <a:latin typeface="DejaVu Sans"/>
                          <a:ea typeface="DejaVu Sans"/>
                          <a:cs typeface="DejaVu Sans"/>
                        </a:rPr>
                        <a:t>20-second startup; FIFO queue limit 1,000</a:t>
                      </a:r>
                    </a:p>
                  </a:txBody>
                  <a:tcPr marL="133350" marR="133350" marT="95250" marB="95250">
                    <a:solidFill>
                      <a:srgbClr val="FFFFFF"/>
                    </a:solidFill>
                  </a:tcPr>
                </a:tc>
              </a:tr>
              <a:tr h="619125">
                <a:tc>
                  <a:txBody>
                    <a:bodyPr/>
                    <a:lstStyle/>
                    <a:p>
                      <a:r>
                        <a:rPr sz="1875">
                          <a:solidFill>
                            <a:srgbClr val="263A4E"/>
                          </a:solidFill>
                          <a:latin typeface="DejaVu Sans"/>
                          <a:ea typeface="DejaVu Sans"/>
                          <a:cs typeface="DejaVu Sans"/>
                        </a:rPr>
                        <a:t>Failure accounting</a:t>
                      </a:r>
                    </a:p>
                  </a:txBody>
                  <a:tcPr marL="133350" marR="133350" marT="95250" marB="95250">
                    <a:solidFill>
                      <a:srgbClr val="FFFFFF"/>
                    </a:solidFill>
                  </a:tcPr>
                </a:tc>
                <a:tc>
                  <a:txBody>
                    <a:bodyPr/>
                    <a:lstStyle/>
                    <a:p>
                      <a:r>
                        <a:rPr sz="1875">
                          <a:solidFill>
                            <a:srgbClr val="263A4E"/>
                          </a:solidFill>
                          <a:latin typeface="DejaVu Sans"/>
                          <a:ea typeface="DejaVu Sans"/>
                          <a:cs typeface="DejaVu Sans"/>
                        </a:rPr>
                        <a:t>Wait &gt;2 s, expiration &gt;10 s, or overflow</a:t>
                      </a:r>
                    </a:p>
                  </a:txBody>
                  <a:tcPr marL="133350" marR="133350" marT="95250" marB="95250">
                    <a:solidFill>
                      <a:srgbClr val="FFFFFF"/>
                    </a:solidFill>
                  </a:tcPr>
                </a:tc>
              </a:tr>
              <a:tr h="619125">
                <a:tc>
                  <a:txBody>
                    <a:bodyPr/>
                    <a:lstStyle/>
                    <a:p>
                      <a:r>
                        <a:rPr sz="1875">
                          <a:solidFill>
                            <a:srgbClr val="263A4E"/>
                          </a:solidFill>
                          <a:latin typeface="DejaVu Sans"/>
                          <a:ea typeface="DejaVu Sans"/>
                          <a:cs typeface="DejaVu Sans"/>
                        </a:rPr>
                        <a:t>Traffic / episode end</a:t>
                      </a:r>
                    </a:p>
                  </a:txBody>
                  <a:tcPr marL="133350" marR="133350" marT="95250" marB="95250">
                    <a:solidFill>
                      <a:srgbClr val="FFFFFF"/>
                    </a:solidFill>
                  </a:tcPr>
                </a:tc>
                <a:tc>
                  <a:txBody>
                    <a:bodyPr/>
                    <a:lstStyle/>
                    <a:p>
                      <a:r>
                        <a:rPr sz="1875">
                          <a:solidFill>
                            <a:srgbClr val="263A4E"/>
                          </a:solidFill>
                          <a:latin typeface="DejaVu Sans"/>
                          <a:ea typeface="DejaVu Sans"/>
                          <a:cs typeface="DejaVu Sans"/>
                        </a:rPr>
                        <a:t>Steady, periodic, bursty; drain after arrivals</a:t>
                      </a:r>
                    </a:p>
                  </a:txBody>
                  <a:tcPr marL="133350" marR="133350" marT="95250" marB="9525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B064F13-88BC-4444-858B-6985B31832F1}"/>
              </a:ext>
            </a:extLst>
          </p:cNvPr>
          <p:cNvSpPr>
            <a:spLocks xmlns:a="http://schemas.openxmlformats.org/drawingml/2006/main" noGrp="1"/>
          </p:cNvSpPr>
          <p:nvPr/>
        </p:nvSpPr>
        <p:spPr>
          <a:xfrm xmlns:a="http://schemas.openxmlformats.org/drawingml/2006/main">
            <a:off x="628650" y="5772150"/>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B6B7C"/>
                </a:solidFill>
                <a:latin typeface="DejaVu Sans"/>
                <a:ea typeface="DejaVu Sans"/>
                <a:cs typeface="DejaVu Sans"/>
              </a:defRPr>
            </a:defPPr>
          </a:lstStyle>
          <a:p xmlns:a="http://schemas.openxmlformats.org/drawingml/2006/main">
            <a:pPr>
              <a:defRPr sz="1800" b="0">
                <a:solidFill>
                  <a:srgbClr val="5B6B7C"/>
                </a:solidFill>
                <a:latin typeface="DejaVu Sans"/>
                <a:ea typeface="DejaVu Sans"/>
                <a:cs typeface="DejaVu Sans"/>
              </a:defRPr>
            </a:pPr>
            <a:r>
              <a:rPr sz="1800" b="0">
                <a:solidFill>
                  <a:srgbClr val="5B6B7C"/>
                </a:solidFill>
                <a:latin typeface="DejaVu Sans"/>
                <a:ea typeface="DejaVu Sans"/>
                <a:cs typeface="DejaVu Sans"/>
              </a:rPr>
              <a:t>Synthetic arrivals; waiting excludes network and processing time.</a:t>
            </a:r>
          </a:p>
        </p:txBody>
      </p:sp>
    </p:spTree>
    <p:extLst>
      <p:ext uri="{BB962C8B-B14F-4D97-AF65-F5344CB8AC3E}">
        <p14:creationId xmlns:p14="http://schemas.microsoft.com/office/powerpoint/2010/main" val="7982866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A72884A-861B-42A6-92AF-1A90A4803F61}"/>
              </a:ext>
            </a:extLst>
          </p:cNvPr>
          <p:cNvSpPr>
            <a:spLocks xmlns:a="http://schemas.openxmlformats.org/drawingml/2006/main" noGrp="1"/>
          </p:cNvSpPr>
          <p:nvPr/>
        </p:nvSpPr>
        <p:spPr>
          <a:xfrm xmlns:a="http://schemas.openxmlformats.org/drawingml/2006/main">
            <a:off x="609600" y="457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44"/>
                </a:solidFill>
                <a:latin typeface="DejaVu Sans"/>
                <a:ea typeface="DejaVu Sans"/>
                <a:cs typeface="DejaVu Sans"/>
              </a:defRPr>
            </a:defPPr>
          </a:lstStyle>
          <a:p xmlns:a="http://schemas.openxmlformats.org/drawingml/2006/main">
            <a:pPr>
              <a:defRPr sz="3150" b="1">
                <a:solidFill>
                  <a:srgbClr val="172D44"/>
                </a:solidFill>
                <a:latin typeface="DejaVu Sans"/>
                <a:ea typeface="DejaVu Sans"/>
                <a:cs typeface="DejaVu Sans"/>
              </a:defRPr>
            </a:pPr>
            <a:r>
              <a:rPr sz="3150" b="1">
                <a:solidFill>
                  <a:srgbClr val="172D44"/>
                </a:solidFill>
                <a:latin typeface="DejaVu Sans"/>
                <a:ea typeface="DejaVu Sans"/>
                <a:cs typeface="DejaVu Sans"/>
              </a:rPr>
              <a:t>What the agent sees and controls</a:t>
            </a:r>
          </a:p>
        </p:txBody>
      </p:sp>
      <p:sp>
        <p:nvSpPr>
          <p:cNvPr id="2" name="">
            <a:extLst xmlns:a="http://schemas.openxmlformats.org/drawingml/2006/main">
              <a:ext uri="{FF2B5EF4-FFF2-40B4-BE49-F238E27FC236}">
                <a16:creationId xmlns:a16="http://schemas.microsoft.com/office/drawing/2014/main" id="{101192A9-34D7-4C5A-84F8-89746D41D27C}"/>
              </a:ext>
            </a:extLst>
          </p:cNvPr>
          <p:cNvSpPr>
            <a:spLocks xmlns:a="http://schemas.openxmlformats.org/drawingml/2006/main" noGrp="1"/>
          </p:cNvSpPr>
          <p:nvPr/>
        </p:nvSpPr>
        <p:spPr>
          <a:xfrm xmlns:a="http://schemas.openxmlformats.org/drawingml/2006/main">
            <a:off x="62865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B6B7C"/>
                </a:solidFill>
                <a:latin typeface="DejaVu Sans"/>
                <a:ea typeface="DejaVu Sans"/>
                <a:cs typeface="DejaVu Sans"/>
              </a:defRPr>
            </a:defPPr>
          </a:lstStyle>
          <a:p xmlns:a="http://schemas.openxmlformats.org/drawingml/2006/main">
            <a:pPr>
              <a:defRPr sz="1875" b="0">
                <a:solidFill>
                  <a:srgbClr val="5B6B7C"/>
                </a:solidFill>
                <a:latin typeface="DejaVu Sans"/>
                <a:ea typeface="DejaVu Sans"/>
                <a:cs typeface="DejaVu Sans"/>
              </a:defRPr>
            </a:pPr>
            <a:r>
              <a:rPr sz="1875" b="0">
                <a:solidFill>
                  <a:srgbClr val="5B6B7C"/>
                </a:solidFill>
                <a:latin typeface="DejaVu Sans"/>
                <a:ea typeface="DejaVu Sans"/>
                <a:cs typeface="DejaVu Sans"/>
              </a:rPr>
              <a:t>Nine normalized observations; three discrete actions</a:t>
            </a:r>
          </a:p>
        </p:txBody>
      </p:sp>
      <p:sp>
        <p:nvSpPr>
          <p:cNvPr id="3" name="">
            <a:extLst xmlns:a="http://schemas.openxmlformats.org/drawingml/2006/main">
              <a:ext uri="{FF2B5EF4-FFF2-40B4-BE49-F238E27FC236}">
                <a16:creationId xmlns:a16="http://schemas.microsoft.com/office/drawing/2014/main" id="{FBC4FE8A-3291-4468-9BF8-50A145E7D746}"/>
              </a:ext>
            </a:extLst>
          </p:cNvPr>
          <p:cNvSpPr>
            <a:spLocks xmlns:a="http://schemas.openxmlformats.org/drawingml/2006/main" noGrp="1"/>
          </p:cNvSpPr>
          <p:nvPr/>
        </p:nvSpPr>
        <p:spPr>
          <a:xfrm xmlns:a="http://schemas.openxmlformats.org/drawingml/2006/main">
            <a:off x="62865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B6B7C"/>
                </a:solidFill>
                <a:latin typeface="DejaVu Sans"/>
                <a:ea typeface="DejaVu Sans"/>
                <a:cs typeface="DejaVu Sans"/>
              </a:defRPr>
            </a:defPPr>
          </a:lstStyle>
          <a:p xmlns:a="http://schemas.openxmlformats.org/drawingml/2006/main">
            <a:pPr>
              <a:defRPr sz="1200" b="0">
                <a:solidFill>
                  <a:srgbClr val="5B6B7C"/>
                </a:solidFill>
                <a:latin typeface="DejaVu Sans"/>
                <a:ea typeface="DejaVu Sans"/>
                <a:cs typeface="DejaVu Sans"/>
              </a:defRPr>
            </a:pPr>
            <a:r>
              <a:rPr sz="1200" b="0">
                <a:solidFill>
                  <a:srgbClr val="5B6B7C"/>
                </a:solidFill>
                <a:latin typeface="DejaVu Sans"/>
                <a:ea typeface="DejaVu Sans"/>
                <a:cs typeface="DejaVu Sans"/>
              </a:rPr>
              <a:t>SIMULATED API AUTOSCALING • PART 2</a:t>
            </a:r>
          </a:p>
        </p:txBody>
      </p:sp>
      <p:sp>
        <p:nvSpPr>
          <p:cNvPr id="4" name="">
            <a:extLst xmlns:a="http://schemas.openxmlformats.org/drawingml/2006/main">
              <a:ext uri="{FF2B5EF4-FFF2-40B4-BE49-F238E27FC236}">
                <a16:creationId xmlns:a16="http://schemas.microsoft.com/office/drawing/2014/main" id="{658A9F6C-4DC3-42D8-9E6B-30CF92DF14C5}"/>
              </a:ext>
            </a:extLst>
          </p:cNvPr>
          <p:cNvSpPr>
            <a:spLocks xmlns:a="http://schemas.openxmlformats.org/drawingml/2006/main" noGrp="1"/>
          </p:cNvSpPr>
          <p:nvPr/>
        </p:nvSpPr>
        <p:spPr>
          <a:xfrm xmlns:a="http://schemas.openxmlformats.org/drawingml/2006/main">
            <a:off x="11182350" y="638175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B6B7C"/>
                </a:solidFill>
                <a:latin typeface="DejaVu Sans"/>
                <a:ea typeface="DejaVu Sans"/>
                <a:cs typeface="DejaVu Sans"/>
              </a:defRPr>
            </a:defPPr>
          </a:lstStyle>
          <a:p xmlns:a="http://schemas.openxmlformats.org/drawingml/2006/main">
            <a:pPr>
              <a:defRPr sz="1425" b="0">
                <a:solidFill>
                  <a:srgbClr val="5B6B7C"/>
                </a:solidFill>
                <a:latin typeface="DejaVu Sans"/>
                <a:ea typeface="DejaVu Sans"/>
                <a:cs typeface="DejaVu Sans"/>
              </a:defRPr>
            </a:pPr>
            <a:r>
              <a:rPr sz="1425" b="0">
                <a:solidFill>
                  <a:srgbClr val="5B6B7C"/>
                </a:solidFill>
                <a:latin typeface="DejaVu Sans"/>
                <a:ea typeface="DejaVu Sans"/>
                <a:cs typeface="DejaVu Sans"/>
              </a:rPr>
              <a:t>5</a:t>
            </a:r>
          </a:p>
        </p:txBody>
      </p:sp>
      <p:sp>
        <p:nvSpPr>
          <p:cNvPr id="5" name="">
            <a:extLst xmlns:a="http://schemas.openxmlformats.org/drawingml/2006/main">
              <a:ext uri="{FF2B5EF4-FFF2-40B4-BE49-F238E27FC236}">
                <a16:creationId xmlns:a16="http://schemas.microsoft.com/office/drawing/2014/main" id="{4328D696-B8B8-4043-B029-FAA6F850EF1A}"/>
              </a:ext>
            </a:extLst>
          </p:cNvPr>
          <p:cNvSpPr>
            <a:spLocks xmlns:a="http://schemas.openxmlformats.org/drawingml/2006/main" noGrp="1"/>
          </p:cNvSpPr>
          <p:nvPr/>
        </p:nvSpPr>
        <p:spPr>
          <a:xfrm xmlns:a="http://schemas.openxmlformats.org/drawingml/2006/main">
            <a:off x="628650" y="2047875"/>
            <a:ext cx="561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2D44"/>
                </a:solidFill>
                <a:latin typeface="DejaVu Sans"/>
                <a:ea typeface="DejaVu Sans"/>
                <a:cs typeface="DejaVu Sans"/>
              </a:defRPr>
            </a:defPPr>
          </a:lstStyle>
          <a:p xmlns:a="http://schemas.openxmlformats.org/drawingml/2006/main">
            <a:pPr>
              <a:defRPr sz="2400" b="1">
                <a:solidFill>
                  <a:srgbClr val="172D44"/>
                </a:solidFill>
                <a:latin typeface="DejaVu Sans"/>
                <a:ea typeface="DejaVu Sans"/>
                <a:cs typeface="DejaVu Sans"/>
              </a:defRPr>
            </a:pPr>
            <a:r>
              <a:rPr sz="2400" b="1">
                <a:solidFill>
                  <a:srgbClr val="172D44"/>
                </a:solidFill>
                <a:latin typeface="DejaVu Sans"/>
                <a:ea typeface="DejaVu Sans"/>
                <a:cs typeface="DejaVu Sans"/>
              </a:rPr>
              <a:t>Observations</a:t>
            </a:r>
          </a:p>
        </p:txBody>
      </p:sp>
      <p:sp>
        <p:nvSpPr>
          <p:cNvPr id="6" name="">
            <a:extLst xmlns:a="http://schemas.openxmlformats.org/drawingml/2006/main">
              <a:ext uri="{FF2B5EF4-FFF2-40B4-BE49-F238E27FC236}">
                <a16:creationId xmlns:a16="http://schemas.microsoft.com/office/drawing/2014/main" id="{0F8A08A4-3CCB-492C-86E9-D9E4022F06B9}"/>
              </a:ext>
            </a:extLst>
          </p:cNvPr>
          <p:cNvSpPr>
            <a:spLocks xmlns:a="http://schemas.openxmlformats.org/drawingml/2006/main" noGrp="1"/>
          </p:cNvSpPr>
          <p:nvPr/>
        </p:nvSpPr>
        <p:spPr>
          <a:xfrm xmlns:a="http://schemas.openxmlformats.org/drawingml/2006/main">
            <a:off x="628650" y="2686050"/>
            <a:ext cx="6810375" cy="277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A4E"/>
                </a:solidFill>
                <a:latin typeface="DejaVu Sans"/>
                <a:ea typeface="DejaVu Sans"/>
                <a:cs typeface="DejaVu Sans"/>
              </a:defRPr>
            </a:defPPr>
          </a:lstStyle>
          <a:p xmlns:a="http://schemas.openxmlformats.org/drawingml/2006/main">
            <a:pPr>
              <a:defRPr sz="2025" b="0">
                <a:solidFill>
                  <a:srgbClr val="263A4E"/>
                </a:solidFill>
                <a:latin typeface="DejaVu Sans"/>
                <a:ea typeface="DejaVu Sans"/>
                <a:cs typeface="DejaVu Sans"/>
              </a:defRPr>
            </a:pPr>
            <a:r>
              <a:rPr sz="2025" b="0">
                <a:solidFill>
                  <a:srgbClr val="263A4E"/>
                </a:solidFill>
                <a:latin typeface="DejaVu Sans"/>
                <a:ea typeface="DejaVu Sans"/>
                <a:cs typeface="DejaVu Sans"/>
              </a:rPr>
              <a:t>Recent rate • short average • rate change</a:t>
            </a:r>
          </a:p>
          <a:p xmlns:a="http://schemas.openxmlformats.org/drawingml/2006/main">
            <a:r>
              <a:t/>
            </a:r>
          </a:p>
          <a:p xmlns:a="http://schemas.openxmlformats.org/drawingml/2006/main">
            <a:pPr>
              <a:defRPr sz="2025" b="0">
                <a:solidFill>
                  <a:srgbClr val="263A4E"/>
                </a:solidFill>
                <a:latin typeface="DejaVu Sans"/>
                <a:ea typeface="DejaVu Sans"/>
                <a:cs typeface="DejaVu Sans"/>
              </a:defRPr>
            </a:pPr>
            <a:r>
              <a:rPr sz="2025" b="0">
                <a:solidFill>
                  <a:srgbClr val="263A4E"/>
                </a:solidFill>
                <a:latin typeface="DejaVu Sans"/>
                <a:ea typeface="DejaVu Sans"/>
                <a:cs typeface="DejaVu Sans"/>
              </a:rPr>
              <a:t>Queue size • oldest waiting age</a:t>
            </a:r>
          </a:p>
          <a:p xmlns:a="http://schemas.openxmlformats.org/drawingml/2006/main">
            <a:r>
              <a:t/>
            </a:r>
          </a:p>
          <a:p xmlns:a="http://schemas.openxmlformats.org/drawingml/2006/main">
            <a:pPr>
              <a:defRPr sz="2025" b="0">
                <a:solidFill>
                  <a:srgbClr val="263A4E"/>
                </a:solidFill>
                <a:latin typeface="DejaVu Sans"/>
                <a:ea typeface="DejaVu Sans"/>
                <a:cs typeface="DejaVu Sans"/>
              </a:defRPr>
            </a:pPr>
            <a:r>
              <a:rPr sz="2025" b="0">
                <a:solidFill>
                  <a:srgbClr val="263A4E"/>
                </a:solidFill>
                <a:latin typeface="DejaVu Sans"/>
                <a:ea typeface="DejaVu Sans"/>
                <a:cs typeface="DejaVu Sans"/>
              </a:rPr>
              <a:t>Active replicas • 2 startup stages</a:t>
            </a:r>
          </a:p>
          <a:p xmlns:a="http://schemas.openxmlformats.org/drawingml/2006/main">
            <a:r>
              <a:t/>
            </a:r>
          </a:p>
          <a:p xmlns:a="http://schemas.openxmlformats.org/drawingml/2006/main">
            <a:pPr>
              <a:defRPr sz="2025" b="0">
                <a:solidFill>
                  <a:srgbClr val="263A4E"/>
                </a:solidFill>
                <a:latin typeface="DejaVu Sans"/>
                <a:ea typeface="DejaVu Sans"/>
                <a:cs typeface="DejaVu Sans"/>
              </a:defRPr>
            </a:pPr>
            <a:r>
              <a:rPr sz="2025" b="0">
                <a:solidFill>
                  <a:srgbClr val="263A4E"/>
                </a:solidFill>
                <a:latin typeface="DejaVu Sans"/>
                <a:ea typeface="DejaVu Sans"/>
                <a:cs typeface="DejaVu Sans"/>
              </a:rPr>
              <a:t>Utilization</a:t>
            </a:r>
          </a:p>
        </p:txBody>
      </p:sp>
      <p:sp>
        <p:nvSpPr>
          <p:cNvPr id="7" name="">
            <a:extLst xmlns:a="http://schemas.openxmlformats.org/drawingml/2006/main">
              <a:ext uri="{FF2B5EF4-FFF2-40B4-BE49-F238E27FC236}">
                <a16:creationId xmlns:a16="http://schemas.microsoft.com/office/drawing/2014/main" id="{718DE9BD-4BCE-44AD-80B7-1E8D1461CA33}"/>
              </a:ext>
            </a:extLst>
          </p:cNvPr>
          <p:cNvSpPr>
            <a:spLocks xmlns:a="http://schemas.openxmlformats.org/drawingml/2006/main" noGrp="1"/>
          </p:cNvSpPr>
          <p:nvPr/>
        </p:nvSpPr>
        <p:spPr>
          <a:xfrm xmlns:a="http://schemas.openxmlformats.org/drawingml/2006/main">
            <a:off x="8096250" y="2047875"/>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2D44"/>
                </a:solidFill>
                <a:latin typeface="DejaVu Sans"/>
                <a:ea typeface="DejaVu Sans"/>
                <a:cs typeface="DejaVu Sans"/>
              </a:defRPr>
            </a:defPPr>
          </a:lstStyle>
          <a:p xmlns:a="http://schemas.openxmlformats.org/drawingml/2006/main">
            <a:pPr>
              <a:defRPr sz="2400" b="1">
                <a:solidFill>
                  <a:srgbClr val="172D44"/>
                </a:solidFill>
                <a:latin typeface="DejaVu Sans"/>
                <a:ea typeface="DejaVu Sans"/>
                <a:cs typeface="DejaVu Sans"/>
              </a:defRPr>
            </a:pPr>
            <a:r>
              <a:rPr sz="2400" b="1">
                <a:solidFill>
                  <a:srgbClr val="172D44"/>
                </a:solidFill>
                <a:latin typeface="DejaVu Sans"/>
                <a:ea typeface="DejaVu Sans"/>
                <a:cs typeface="DejaVu Sans"/>
              </a:rPr>
              <a:t>Actions</a:t>
            </a:r>
          </a:p>
        </p:txBody>
      </p:sp>
      <p:sp>
        <p:nvSpPr>
          <p:cNvPr id="8" name="">
            <a:extLst xmlns:a="http://schemas.openxmlformats.org/drawingml/2006/main">
              <a:ext uri="{FF2B5EF4-FFF2-40B4-BE49-F238E27FC236}">
                <a16:creationId xmlns:a16="http://schemas.microsoft.com/office/drawing/2014/main" id="{B883C941-DFE2-4180-9007-F2B7FA6AFE03}"/>
              </a:ext>
            </a:extLst>
          </p:cNvPr>
          <p:cNvSpPr>
            <a:spLocks xmlns:a="http://schemas.openxmlformats.org/drawingml/2006/main" noGrp="1"/>
          </p:cNvSpPr>
          <p:nvPr/>
        </p:nvSpPr>
        <p:spPr>
          <a:xfrm xmlns:a="http://schemas.openxmlformats.org/drawingml/2006/main">
            <a:off x="8096250" y="2686050"/>
            <a:ext cx="3381375" cy="2419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63A4E"/>
                </a:solidFill>
                <a:latin typeface="DejaVu Sans"/>
                <a:ea typeface="DejaVu Sans"/>
                <a:cs typeface="DejaVu Sans"/>
              </a:defRPr>
            </a:defPPr>
          </a:lstStyle>
          <a:p xmlns:a="http://schemas.openxmlformats.org/drawingml/2006/main">
            <a:pPr>
              <a:defRPr sz="2250" b="0">
                <a:solidFill>
                  <a:srgbClr val="263A4E"/>
                </a:solidFill>
                <a:latin typeface="DejaVu Sans"/>
                <a:ea typeface="DejaVu Sans"/>
                <a:cs typeface="DejaVu Sans"/>
              </a:defRPr>
            </a:pPr>
            <a:r>
              <a:rPr sz="2250" b="0">
                <a:solidFill>
                  <a:srgbClr val="263A4E"/>
                </a:solidFill>
                <a:latin typeface="DejaVu Sans"/>
                <a:ea typeface="DejaVu Sans"/>
                <a:cs typeface="DejaVu Sans"/>
              </a:rPr>
              <a:t>Remove one</a:t>
            </a:r>
          </a:p>
          <a:p xmlns:a="http://schemas.openxmlformats.org/drawingml/2006/main">
            <a:r>
              <a:t/>
            </a:r>
          </a:p>
          <a:p xmlns:a="http://schemas.openxmlformats.org/drawingml/2006/main">
            <a:pPr>
              <a:defRPr sz="2250" b="0">
                <a:solidFill>
                  <a:srgbClr val="263A4E"/>
                </a:solidFill>
                <a:latin typeface="DejaVu Sans"/>
                <a:ea typeface="DejaVu Sans"/>
                <a:cs typeface="DejaVu Sans"/>
              </a:defRPr>
            </a:pPr>
            <a:r>
              <a:rPr sz="2250" b="0">
                <a:solidFill>
                  <a:srgbClr val="263A4E"/>
                </a:solidFill>
                <a:latin typeface="DejaVu Sans"/>
                <a:ea typeface="DejaVu Sans"/>
                <a:cs typeface="DejaVu Sans"/>
              </a:rPr>
              <a:t>Hold</a:t>
            </a:r>
          </a:p>
          <a:p xmlns:a="http://schemas.openxmlformats.org/drawingml/2006/main">
            <a:r>
              <a:t/>
            </a:r>
          </a:p>
          <a:p xmlns:a="http://schemas.openxmlformats.org/drawingml/2006/main">
            <a:pPr>
              <a:defRPr sz="2250" b="0">
                <a:solidFill>
                  <a:srgbClr val="263A4E"/>
                </a:solidFill>
                <a:latin typeface="DejaVu Sans"/>
                <a:ea typeface="DejaVu Sans"/>
                <a:cs typeface="DejaVu Sans"/>
              </a:defRPr>
            </a:pPr>
            <a:r>
              <a:rPr sz="2250" b="0">
                <a:solidFill>
                  <a:srgbClr val="263A4E"/>
                </a:solidFill>
                <a:latin typeface="DejaVu Sans"/>
                <a:ea typeface="DejaVu Sans"/>
                <a:cs typeface="DejaVu Sans"/>
              </a:rPr>
              <a:t>Add one</a:t>
            </a:r>
          </a:p>
        </p:txBody>
      </p:sp>
      <p:sp>
        <p:nvSpPr>
          <p:cNvPr id="9" name="">
            <a:extLst xmlns:a="http://schemas.openxmlformats.org/drawingml/2006/main">
              <a:ext uri="{FF2B5EF4-FFF2-40B4-BE49-F238E27FC236}">
                <a16:creationId xmlns:a16="http://schemas.microsoft.com/office/drawing/2014/main" id="{F61325E5-366B-4C0D-93E0-E9073310CF19}"/>
              </a:ext>
            </a:extLst>
          </p:cNvPr>
          <p:cNvSpPr>
            <a:spLocks xmlns:a="http://schemas.openxmlformats.org/drawingml/2006/main" noGrp="1"/>
          </p:cNvSpPr>
          <p:nvPr/>
        </p:nvSpPr>
        <p:spPr>
          <a:xfrm xmlns:a="http://schemas.openxmlformats.org/drawingml/2006/main">
            <a:off x="628650" y="579120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1867A"/>
                </a:solidFill>
                <a:latin typeface="DejaVu Sans"/>
                <a:ea typeface="DejaVu Sans"/>
                <a:cs typeface="DejaVu Sans"/>
              </a:defRPr>
            </a:defPPr>
          </a:lstStyle>
          <a:p xmlns:a="http://schemas.openxmlformats.org/drawingml/2006/main">
            <a:pPr>
              <a:defRPr sz="1875" b="1">
                <a:solidFill>
                  <a:srgbClr val="21867A"/>
                </a:solidFill>
                <a:latin typeface="DejaVu Sans"/>
                <a:ea typeface="DejaVu Sans"/>
                <a:cs typeface="DejaVu Sans"/>
              </a:defRPr>
            </a:pPr>
            <a:r>
              <a:rPr sz="1875" b="1">
                <a:solidFill>
                  <a:srgbClr val="21867A"/>
                </a:solidFill>
                <a:latin typeface="DejaVu Sans"/>
                <a:ea typeface="DejaVu Sans"/>
                <a:cs typeface="DejaVu Sans"/>
              </a:rPr>
              <a:t>No future demand; invalid actions are logged no-ops.</a:t>
            </a:r>
          </a:p>
        </p:txBody>
      </p:sp>
    </p:spTree>
    <p:extLst>
      <p:ext uri="{BB962C8B-B14F-4D97-AF65-F5344CB8AC3E}">
        <p14:creationId xmlns:p14="http://schemas.microsoft.com/office/powerpoint/2010/main" val="4599023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CCFB1C-77F4-486E-8EFB-AF594390B0EE}"/>
              </a:ext>
            </a:extLst>
          </p:cNvPr>
          <p:cNvSpPr>
            <a:spLocks xmlns:a="http://schemas.openxmlformats.org/drawingml/2006/main" noGrp="1"/>
          </p:cNvSpPr>
          <p:nvPr/>
        </p:nvSpPr>
        <p:spPr>
          <a:xfrm xmlns:a="http://schemas.openxmlformats.org/drawingml/2006/main">
            <a:off x="609600" y="457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44"/>
                </a:solidFill>
                <a:latin typeface="DejaVu Sans"/>
                <a:ea typeface="DejaVu Sans"/>
                <a:cs typeface="DejaVu Sans"/>
              </a:defRPr>
            </a:defPPr>
          </a:lstStyle>
          <a:p xmlns:a="http://schemas.openxmlformats.org/drawingml/2006/main">
            <a:pPr>
              <a:defRPr sz="3150" b="1">
                <a:solidFill>
                  <a:srgbClr val="172D44"/>
                </a:solidFill>
                <a:latin typeface="DejaVu Sans"/>
                <a:ea typeface="DejaVu Sans"/>
                <a:cs typeface="DejaVu Sans"/>
              </a:defRPr>
            </a:pPr>
            <a:r>
              <a:rPr sz="3150" b="1">
                <a:solidFill>
                  <a:srgbClr val="172D44"/>
                </a:solidFill>
                <a:latin typeface="DejaVu Sans"/>
                <a:ea typeface="DejaVu Sans"/>
                <a:cs typeface="DejaVu Sans"/>
              </a:rPr>
              <a:t>Reward expresses the tradeoff</a:t>
            </a:r>
          </a:p>
        </p:txBody>
      </p:sp>
      <p:sp>
        <p:nvSpPr>
          <p:cNvPr id="2" name="">
            <a:extLst xmlns:a="http://schemas.openxmlformats.org/drawingml/2006/main">
              <a:ext uri="{FF2B5EF4-FFF2-40B4-BE49-F238E27FC236}">
                <a16:creationId xmlns:a16="http://schemas.microsoft.com/office/drawing/2014/main" id="{A3C28255-1BDC-43C9-80CA-5B2C418FE147}"/>
              </a:ext>
            </a:extLst>
          </p:cNvPr>
          <p:cNvSpPr>
            <a:spLocks xmlns:a="http://schemas.openxmlformats.org/drawingml/2006/main" noGrp="1"/>
          </p:cNvSpPr>
          <p:nvPr/>
        </p:nvSpPr>
        <p:spPr>
          <a:xfrm xmlns:a="http://schemas.openxmlformats.org/drawingml/2006/main">
            <a:off x="62865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B6B7C"/>
                </a:solidFill>
                <a:latin typeface="DejaVu Sans"/>
                <a:ea typeface="DejaVu Sans"/>
                <a:cs typeface="DejaVu Sans"/>
              </a:defRPr>
            </a:defPPr>
          </a:lstStyle>
          <a:p xmlns:a="http://schemas.openxmlformats.org/drawingml/2006/main">
            <a:pPr>
              <a:defRPr sz="1875" b="0">
                <a:solidFill>
                  <a:srgbClr val="5B6B7C"/>
                </a:solidFill>
                <a:latin typeface="DejaVu Sans"/>
                <a:ea typeface="DejaVu Sans"/>
                <a:cs typeface="DejaVu Sans"/>
              </a:defRPr>
            </a:pPr>
            <a:r>
              <a:rPr sz="1875" b="0">
                <a:solidFill>
                  <a:srgbClr val="5B6B7C"/>
                </a:solidFill>
                <a:latin typeface="DejaVu Sans"/>
                <a:ea typeface="DejaVu Sans"/>
                <a:cs typeface="DejaVu Sans"/>
              </a:rPr>
              <a:t>Reward = negative weighted penalties</a:t>
            </a:r>
          </a:p>
        </p:txBody>
      </p:sp>
      <p:sp>
        <p:nvSpPr>
          <p:cNvPr id="3" name="">
            <a:extLst xmlns:a="http://schemas.openxmlformats.org/drawingml/2006/main">
              <a:ext uri="{FF2B5EF4-FFF2-40B4-BE49-F238E27FC236}">
                <a16:creationId xmlns:a16="http://schemas.microsoft.com/office/drawing/2014/main" id="{1D74EE2F-6EC5-4B54-B579-5C49C9E966C9}"/>
              </a:ext>
            </a:extLst>
          </p:cNvPr>
          <p:cNvSpPr>
            <a:spLocks xmlns:a="http://schemas.openxmlformats.org/drawingml/2006/main" noGrp="1"/>
          </p:cNvSpPr>
          <p:nvPr/>
        </p:nvSpPr>
        <p:spPr>
          <a:xfrm xmlns:a="http://schemas.openxmlformats.org/drawingml/2006/main">
            <a:off x="62865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B6B7C"/>
                </a:solidFill>
                <a:latin typeface="DejaVu Sans"/>
                <a:ea typeface="DejaVu Sans"/>
                <a:cs typeface="DejaVu Sans"/>
              </a:defRPr>
            </a:defPPr>
          </a:lstStyle>
          <a:p xmlns:a="http://schemas.openxmlformats.org/drawingml/2006/main">
            <a:pPr>
              <a:defRPr sz="1200" b="0">
                <a:solidFill>
                  <a:srgbClr val="5B6B7C"/>
                </a:solidFill>
                <a:latin typeface="DejaVu Sans"/>
                <a:ea typeface="DejaVu Sans"/>
                <a:cs typeface="DejaVu Sans"/>
              </a:defRPr>
            </a:pPr>
            <a:r>
              <a:rPr sz="1200" b="0">
                <a:solidFill>
                  <a:srgbClr val="5B6B7C"/>
                </a:solidFill>
                <a:latin typeface="DejaVu Sans"/>
                <a:ea typeface="DejaVu Sans"/>
                <a:cs typeface="DejaVu Sans"/>
              </a:rPr>
              <a:t>SIMULATED API AUTOSCALING • PART 2</a:t>
            </a:r>
          </a:p>
        </p:txBody>
      </p:sp>
      <p:sp>
        <p:nvSpPr>
          <p:cNvPr id="4" name="">
            <a:extLst xmlns:a="http://schemas.openxmlformats.org/drawingml/2006/main">
              <a:ext uri="{FF2B5EF4-FFF2-40B4-BE49-F238E27FC236}">
                <a16:creationId xmlns:a16="http://schemas.microsoft.com/office/drawing/2014/main" id="{F9F83404-604B-431D-8212-BEF689314F0F}"/>
              </a:ext>
            </a:extLst>
          </p:cNvPr>
          <p:cNvSpPr>
            <a:spLocks xmlns:a="http://schemas.openxmlformats.org/drawingml/2006/main" noGrp="1"/>
          </p:cNvSpPr>
          <p:nvPr/>
        </p:nvSpPr>
        <p:spPr>
          <a:xfrm xmlns:a="http://schemas.openxmlformats.org/drawingml/2006/main">
            <a:off x="11182350" y="638175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B6B7C"/>
                </a:solidFill>
                <a:latin typeface="DejaVu Sans"/>
                <a:ea typeface="DejaVu Sans"/>
                <a:cs typeface="DejaVu Sans"/>
              </a:defRPr>
            </a:defPPr>
          </a:lstStyle>
          <a:p xmlns:a="http://schemas.openxmlformats.org/drawingml/2006/main">
            <a:pPr>
              <a:defRPr sz="1425" b="0">
                <a:solidFill>
                  <a:srgbClr val="5B6B7C"/>
                </a:solidFill>
                <a:latin typeface="DejaVu Sans"/>
                <a:ea typeface="DejaVu Sans"/>
                <a:cs typeface="DejaVu Sans"/>
              </a:defRPr>
            </a:pPr>
            <a:r>
              <a:rPr sz="1425" b="0">
                <a:solidFill>
                  <a:srgbClr val="5B6B7C"/>
                </a:solidFill>
                <a:latin typeface="DejaVu Sans"/>
                <a:ea typeface="DejaVu Sans"/>
                <a:cs typeface="DejaVu Sans"/>
              </a:rPr>
              <a:t>6</a:t>
            </a:r>
          </a:p>
        </p:txBody>
      </p:sp>
      <p:graphicFrame>
        <p:nvGraphicFramePr>
          <p:cNvPr id="5" name="">
            <a:extLst xmlns:a="http://schemas.openxmlformats.org/drawingml/2006/main">
              <a:ext uri="{FF2B5EF4-FFF2-40B4-BE49-F238E27FC236}">
                <a16:creationId xmlns:a16="http://schemas.microsoft.com/office/drawing/2014/main" id="{7BA31875-F8A8-4914-883E-21FF60868DF9}"/>
              </a:ext>
            </a:extLst>
          </p:cNvPr>
          <p:cNvGraphicFramePr/>
          <p:nvPr/>
        </p:nvGraphicFramePr>
        <p:xfrm>
          <a:off xmlns:a="http://schemas.openxmlformats.org/drawingml/2006/main" x="628650" y="2009775"/>
          <a:ext xmlns:a="http://schemas.openxmlformats.org/drawingml/2006/main" cx="10896600" cy="3067050"/>
        </p:xfrm>
        <a:graphic xmlns:a="http://schemas.openxmlformats.org/drawingml/2006/main">
          <a:graphicData uri="http://schemas.openxmlformats.org/drawingml/2006/table">
            <a:tbl>
              <a:tblPr/>
              <a:tblGrid>
                <a:gridCol w="3143250"/>
                <a:gridCol w="1524000"/>
                <a:gridCol w="6229350"/>
              </a:tblGrid>
              <a:tr h="613410">
                <a:tc>
                  <a:txBody>
                    <a:bodyPr/>
                    <a:lstStyle/>
                    <a:p>
                      <a:r>
                        <a:rPr sz="1875" b="1">
                          <a:solidFill>
                            <a:srgbClr val="FFFFFF"/>
                          </a:solidFill>
                          <a:latin typeface="DejaVu Sans"/>
                          <a:ea typeface="DejaVu Sans"/>
                          <a:cs typeface="DejaVu Sans"/>
                        </a:rPr>
                        <a:t>Penalty</a:t>
                      </a:r>
                    </a:p>
                  </a:txBody>
                  <a:tcPr marL="133350" marR="133350" marT="95250" marB="95250">
                    <a:solidFill>
                      <a:srgbClr val="172D44"/>
                    </a:solidFill>
                  </a:tcPr>
                </a:tc>
                <a:tc>
                  <a:txBody>
                    <a:bodyPr/>
                    <a:lstStyle/>
                    <a:p>
                      <a:r>
                        <a:rPr sz="1875" b="1">
                          <a:solidFill>
                            <a:srgbClr val="FFFFFF"/>
                          </a:solidFill>
                          <a:latin typeface="DejaVu Sans"/>
                          <a:ea typeface="DejaVu Sans"/>
                          <a:cs typeface="DejaVu Sans"/>
                        </a:rPr>
                        <a:t>Weight</a:t>
                      </a:r>
                    </a:p>
                  </a:txBody>
                  <a:tcPr marL="133350" marR="133350" marT="95250" marB="95250">
                    <a:solidFill>
                      <a:srgbClr val="172D44"/>
                    </a:solidFill>
                  </a:tcPr>
                </a:tc>
                <a:tc>
                  <a:txBody>
                    <a:bodyPr/>
                    <a:lstStyle/>
                    <a:p>
                      <a:r>
                        <a:rPr sz="1875" b="1">
                          <a:solidFill>
                            <a:srgbClr val="FFFFFF"/>
                          </a:solidFill>
                          <a:latin typeface="DejaVu Sans"/>
                          <a:ea typeface="DejaVu Sans"/>
                          <a:cs typeface="DejaVu Sans"/>
                        </a:rPr>
                        <a:t>Interval measure</a:t>
                      </a:r>
                    </a:p>
                  </a:txBody>
                  <a:tcPr marL="133350" marR="133350" marT="95250" marB="95250">
                    <a:solidFill>
                      <a:srgbClr val="172D44"/>
                    </a:solidFill>
                  </a:tcPr>
                </a:tc>
              </a:tr>
              <a:tr h="613410">
                <a:tc>
                  <a:txBody>
                    <a:bodyPr/>
                    <a:lstStyle/>
                    <a:p>
                      <a:r>
                        <a:rPr sz="1875">
                          <a:solidFill>
                            <a:srgbClr val="263A4E"/>
                          </a:solidFill>
                          <a:latin typeface="DejaVu Sans"/>
                          <a:ea typeface="DejaVu Sans"/>
                          <a:cs typeface="DejaVu Sans"/>
                        </a:rPr>
                        <a:t>Capacity</a:t>
                      </a:r>
                    </a:p>
                  </a:txBody>
                  <a:tcPr marL="133350" marR="133350" marT="95250" marB="95250">
                    <a:solidFill>
                      <a:srgbClr val="FFFFFF"/>
                    </a:solidFill>
                  </a:tcPr>
                </a:tc>
                <a:tc>
                  <a:txBody>
                    <a:bodyPr/>
                    <a:lstStyle/>
                    <a:p>
                      <a:r>
                        <a:rPr sz="1875">
                          <a:solidFill>
                            <a:srgbClr val="263A4E"/>
                          </a:solidFill>
                          <a:latin typeface="DejaVu Sans"/>
                          <a:ea typeface="DejaVu Sans"/>
                          <a:cs typeface="DejaVu Sans"/>
                        </a:rPr>
                        <a:t>0.1</a:t>
                      </a:r>
                    </a:p>
                  </a:txBody>
                  <a:tcPr marL="133350" marR="133350" marT="95250" marB="95250">
                    <a:solidFill>
                      <a:srgbClr val="FFFFFF"/>
                    </a:solidFill>
                  </a:tcPr>
                </a:tc>
                <a:tc>
                  <a:txBody>
                    <a:bodyPr/>
                    <a:lstStyle/>
                    <a:p>
                      <a:r>
                        <a:rPr sz="1875">
                          <a:solidFill>
                            <a:srgbClr val="263A4E"/>
                          </a:solidFill>
                          <a:latin typeface="DejaVu Sans"/>
                          <a:ea typeface="DejaVu Sans"/>
                          <a:cs typeface="DejaVu Sans"/>
                        </a:rPr>
                        <a:t>Mean allocated replicas / 10</a:t>
                      </a:r>
                    </a:p>
                  </a:txBody>
                  <a:tcPr marL="133350" marR="133350" marT="95250" marB="95250">
                    <a:solidFill>
                      <a:srgbClr val="FFFFFF"/>
                    </a:solidFill>
                  </a:tcPr>
                </a:tc>
              </a:tr>
              <a:tr h="613410">
                <a:tc>
                  <a:txBody>
                    <a:bodyPr/>
                    <a:lstStyle/>
                    <a:p>
                      <a:r>
                        <a:rPr sz="1875">
                          <a:solidFill>
                            <a:srgbClr val="263A4E"/>
                          </a:solidFill>
                          <a:latin typeface="DejaVu Sans"/>
                          <a:ea typeface="DejaVu Sans"/>
                          <a:cs typeface="DejaVu Sans"/>
                        </a:rPr>
                        <a:t>Target violations</a:t>
                      </a:r>
                    </a:p>
                  </a:txBody>
                  <a:tcPr marL="133350" marR="133350" marT="95250" marB="95250">
                    <a:solidFill>
                      <a:srgbClr val="FFFFFF"/>
                    </a:solidFill>
                  </a:tcPr>
                </a:tc>
                <a:tc>
                  <a:txBody>
                    <a:bodyPr/>
                    <a:lstStyle/>
                    <a:p>
                      <a:r>
                        <a:rPr sz="1875">
                          <a:solidFill>
                            <a:srgbClr val="263A4E"/>
                          </a:solidFill>
                          <a:latin typeface="DejaVu Sans"/>
                          <a:ea typeface="DejaVu Sans"/>
                          <a:cs typeface="DejaVu Sans"/>
                        </a:rPr>
                        <a:t>5.0</a:t>
                      </a:r>
                    </a:p>
                  </a:txBody>
                  <a:tcPr marL="133350" marR="133350" marT="95250" marB="95250">
                    <a:solidFill>
                      <a:srgbClr val="FFFFFF"/>
                    </a:solidFill>
                  </a:tcPr>
                </a:tc>
                <a:tc>
                  <a:txBody>
                    <a:bodyPr/>
                    <a:lstStyle/>
                    <a:p>
                      <a:r>
                        <a:rPr sz="1875">
                          <a:solidFill>
                            <a:srgbClr val="263A4E"/>
                          </a:solidFill>
                          <a:latin typeface="DejaVu Sans"/>
                          <a:ea typeface="DejaVu Sans"/>
                          <a:cs typeface="DejaVu Sans"/>
                        </a:rPr>
                        <a:t>Bad / resolved requests</a:t>
                      </a:r>
                    </a:p>
                  </a:txBody>
                  <a:tcPr marL="133350" marR="133350" marT="95250" marB="95250">
                    <a:solidFill>
                      <a:srgbClr val="FFFFFF"/>
                    </a:solidFill>
                  </a:tcPr>
                </a:tc>
              </a:tr>
              <a:tr h="613410">
                <a:tc>
                  <a:txBody>
                    <a:bodyPr/>
                    <a:lstStyle/>
                    <a:p>
                      <a:r>
                        <a:rPr sz="1875">
                          <a:solidFill>
                            <a:srgbClr val="263A4E"/>
                          </a:solidFill>
                          <a:latin typeface="DejaVu Sans"/>
                          <a:ea typeface="DejaVu Sans"/>
                          <a:cs typeface="DejaVu Sans"/>
                        </a:rPr>
                        <a:t>Queue</a:t>
                      </a:r>
                    </a:p>
                  </a:txBody>
                  <a:tcPr marL="133350" marR="133350" marT="95250" marB="95250">
                    <a:solidFill>
                      <a:srgbClr val="FFFFFF"/>
                    </a:solidFill>
                  </a:tcPr>
                </a:tc>
                <a:tc>
                  <a:txBody>
                    <a:bodyPr/>
                    <a:lstStyle/>
                    <a:p>
                      <a:r>
                        <a:rPr sz="1875">
                          <a:solidFill>
                            <a:srgbClr val="263A4E"/>
                          </a:solidFill>
                          <a:latin typeface="DejaVu Sans"/>
                          <a:ea typeface="DejaVu Sans"/>
                          <a:cs typeface="DejaVu Sans"/>
                        </a:rPr>
                        <a:t>0.5</a:t>
                      </a:r>
                    </a:p>
                  </a:txBody>
                  <a:tcPr marL="133350" marR="133350" marT="95250" marB="95250">
                    <a:solidFill>
                      <a:srgbClr val="FFFFFF"/>
                    </a:solidFill>
                  </a:tcPr>
                </a:tc>
                <a:tc>
                  <a:txBody>
                    <a:bodyPr/>
                    <a:lstStyle/>
                    <a:p>
                      <a:r>
                        <a:rPr sz="1875">
                          <a:solidFill>
                            <a:srgbClr val="263A4E"/>
                          </a:solidFill>
                          <a:latin typeface="DejaVu Sans"/>
                          <a:ea typeface="DejaVu Sans"/>
                          <a:cs typeface="DejaVu Sans"/>
                        </a:rPr>
                        <a:t>Mean queue size / 1,000</a:t>
                      </a:r>
                    </a:p>
                  </a:txBody>
                  <a:tcPr marL="133350" marR="133350" marT="95250" marB="95250">
                    <a:solidFill>
                      <a:srgbClr val="FFFFFF"/>
                    </a:solidFill>
                  </a:tcPr>
                </a:tc>
              </a:tr>
              <a:tr h="613410">
                <a:tc>
                  <a:txBody>
                    <a:bodyPr/>
                    <a:lstStyle/>
                    <a:p>
                      <a:r>
                        <a:rPr sz="1875">
                          <a:solidFill>
                            <a:srgbClr val="263A4E"/>
                          </a:solidFill>
                          <a:latin typeface="DejaVu Sans"/>
                          <a:ea typeface="DejaVu Sans"/>
                          <a:cs typeface="DejaVu Sans"/>
                        </a:rPr>
                        <a:t>Scaling</a:t>
                      </a:r>
                    </a:p>
                  </a:txBody>
                  <a:tcPr marL="133350" marR="133350" marT="95250" marB="95250">
                    <a:solidFill>
                      <a:srgbClr val="FFFFFF"/>
                    </a:solidFill>
                  </a:tcPr>
                </a:tc>
                <a:tc>
                  <a:txBody>
                    <a:bodyPr/>
                    <a:lstStyle/>
                    <a:p>
                      <a:r>
                        <a:rPr sz="1875">
                          <a:solidFill>
                            <a:srgbClr val="263A4E"/>
                          </a:solidFill>
                          <a:latin typeface="DejaVu Sans"/>
                          <a:ea typeface="DejaVu Sans"/>
                          <a:cs typeface="DejaVu Sans"/>
                        </a:rPr>
                        <a:t>0.02</a:t>
                      </a:r>
                    </a:p>
                  </a:txBody>
                  <a:tcPr marL="133350" marR="133350" marT="95250" marB="95250">
                    <a:solidFill>
                      <a:srgbClr val="FFFFFF"/>
                    </a:solidFill>
                  </a:tcPr>
                </a:tc>
                <a:tc>
                  <a:txBody>
                    <a:bodyPr/>
                    <a:lstStyle/>
                    <a:p>
                      <a:r>
                        <a:rPr sz="1875">
                          <a:solidFill>
                            <a:srgbClr val="263A4E"/>
                          </a:solidFill>
                          <a:latin typeface="DejaVu Sans"/>
                          <a:ea typeface="DejaVu Sans"/>
                          <a:cs typeface="DejaVu Sans"/>
                        </a:rPr>
                        <a:t>Each executed change</a:t>
                      </a:r>
                    </a:p>
                  </a:txBody>
                  <a:tcPr marL="133350" marR="133350" marT="95250" marB="9525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6BCE124-AE3C-4F76-B36C-3D181D1C01BF}"/>
              </a:ext>
            </a:extLst>
          </p:cNvPr>
          <p:cNvSpPr>
            <a:spLocks xmlns:a="http://schemas.openxmlformats.org/drawingml/2006/main" noGrp="1"/>
          </p:cNvSpPr>
          <p:nvPr/>
        </p:nvSpPr>
        <p:spPr>
          <a:xfrm xmlns:a="http://schemas.openxmlformats.org/drawingml/2006/main">
            <a:off x="628650" y="5314950"/>
            <a:ext cx="1085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63A4E"/>
                </a:solidFill>
                <a:latin typeface="DejaVu Sans"/>
                <a:ea typeface="DejaVu Sans"/>
                <a:cs typeface="DejaVu Sans"/>
              </a:defRPr>
            </a:defPPr>
          </a:lstStyle>
          <a:p xmlns:a="http://schemas.openxmlformats.org/drawingml/2006/main">
            <a:pPr>
              <a:defRPr sz="1875" b="0">
                <a:solidFill>
                  <a:srgbClr val="263A4E"/>
                </a:solidFill>
                <a:latin typeface="DejaVu Sans"/>
                <a:ea typeface="DejaVu Sans"/>
                <a:cs typeface="DejaVu Sans"/>
              </a:defRPr>
            </a:pPr>
            <a:r>
              <a:rPr sz="1875" b="0">
                <a:solidFill>
                  <a:srgbClr val="263A4E"/>
                </a:solidFill>
                <a:latin typeface="DejaVu Sans"/>
                <a:ea typeface="DejaVu Sans"/>
                <a:cs typeface="DejaVu Sans"/>
              </a:rPr>
              <a:t>Starting replicas incur cost. No resolved requests → zero violation fraction.</a:t>
            </a:r>
          </a:p>
        </p:txBody>
      </p:sp>
      <p:sp>
        <p:nvSpPr>
          <p:cNvPr id="7" name="">
            <a:extLst xmlns:a="http://schemas.openxmlformats.org/drawingml/2006/main">
              <a:ext uri="{FF2B5EF4-FFF2-40B4-BE49-F238E27FC236}">
                <a16:creationId xmlns:a16="http://schemas.microsoft.com/office/drawing/2014/main" id="{020405E0-248F-4EF3-A7B0-89B82BA2BBB4}"/>
              </a:ext>
            </a:extLst>
          </p:cNvPr>
          <p:cNvSpPr>
            <a:spLocks xmlns:a="http://schemas.openxmlformats.org/drawingml/2006/main" noGrp="1"/>
          </p:cNvSpPr>
          <p:nvPr/>
        </p:nvSpPr>
        <p:spPr>
          <a:xfrm xmlns:a="http://schemas.openxmlformats.org/drawingml/2006/main">
            <a:off x="628650" y="58864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DC7841"/>
                </a:solidFill>
                <a:latin typeface="DejaVu Sans"/>
                <a:ea typeface="DejaVu Sans"/>
                <a:cs typeface="DejaVu Sans"/>
              </a:defRPr>
            </a:defPPr>
          </a:lstStyle>
          <a:p xmlns:a="http://schemas.openxmlformats.org/drawingml/2006/main">
            <a:pPr>
              <a:defRPr sz="1800" b="1">
                <a:solidFill>
                  <a:srgbClr val="DC7841"/>
                </a:solidFill>
                <a:latin typeface="DejaVu Sans"/>
                <a:ea typeface="DejaVu Sans"/>
                <a:cs typeface="DejaVu Sans"/>
              </a:defRPr>
            </a:pPr>
            <a:r>
              <a:rPr sz="1800" b="1">
                <a:solidFill>
                  <a:srgbClr val="DC7841"/>
                </a:solidFill>
                <a:latin typeface="DejaVu Sans"/>
                <a:ea typeface="DejaVu Sans"/>
                <a:cs typeface="DejaVu Sans"/>
              </a:rPr>
              <a:t>Initial weights retained; no extensive reward search.</a:t>
            </a:r>
          </a:p>
        </p:txBody>
      </p:sp>
    </p:spTree>
    <p:extLst>
      <p:ext uri="{BB962C8B-B14F-4D97-AF65-F5344CB8AC3E}">
        <p14:creationId xmlns:p14="http://schemas.microsoft.com/office/powerpoint/2010/main" val="8031772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25929B5-5BBB-48BF-A7AC-762B3491ABCE}"/>
              </a:ext>
            </a:extLst>
          </p:cNvPr>
          <p:cNvSpPr>
            <a:spLocks xmlns:a="http://schemas.openxmlformats.org/drawingml/2006/main" noGrp="1"/>
          </p:cNvSpPr>
          <p:nvPr/>
        </p:nvSpPr>
        <p:spPr>
          <a:xfrm xmlns:a="http://schemas.openxmlformats.org/drawingml/2006/main">
            <a:off x="609600" y="457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44"/>
                </a:solidFill>
                <a:latin typeface="DejaVu Sans"/>
                <a:ea typeface="DejaVu Sans"/>
                <a:cs typeface="DejaVu Sans"/>
              </a:defRPr>
            </a:defPPr>
          </a:lstStyle>
          <a:p xmlns:a="http://schemas.openxmlformats.org/drawingml/2006/main">
            <a:pPr>
              <a:defRPr sz="3150" b="1">
                <a:solidFill>
                  <a:srgbClr val="172D44"/>
                </a:solidFill>
                <a:latin typeface="DejaVu Sans"/>
                <a:ea typeface="DejaVu Sans"/>
                <a:cs typeface="DejaVu Sans"/>
              </a:defRPr>
            </a:pPr>
            <a:r>
              <a:rPr sz="3150" b="1">
                <a:solidFill>
                  <a:srgbClr val="172D44"/>
                </a:solidFill>
                <a:latin typeface="DejaVu Sans"/>
                <a:ea typeface="DejaVu Sans"/>
                <a:cs typeface="DejaVu Sans"/>
              </a:rPr>
              <a:t>PPO and the actor–critic model</a:t>
            </a:r>
          </a:p>
        </p:txBody>
      </p:sp>
      <p:sp>
        <p:nvSpPr>
          <p:cNvPr id="2" name="">
            <a:extLst xmlns:a="http://schemas.openxmlformats.org/drawingml/2006/main">
              <a:ext uri="{FF2B5EF4-FFF2-40B4-BE49-F238E27FC236}">
                <a16:creationId xmlns:a16="http://schemas.microsoft.com/office/drawing/2014/main" id="{CFF1A538-8AB6-4C1E-AAF1-98ED90B2E653}"/>
              </a:ext>
            </a:extLst>
          </p:cNvPr>
          <p:cNvSpPr>
            <a:spLocks xmlns:a="http://schemas.openxmlformats.org/drawingml/2006/main" noGrp="1"/>
          </p:cNvSpPr>
          <p:nvPr/>
        </p:nvSpPr>
        <p:spPr>
          <a:xfrm xmlns:a="http://schemas.openxmlformats.org/drawingml/2006/main">
            <a:off x="62865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B6B7C"/>
                </a:solidFill>
                <a:latin typeface="DejaVu Sans"/>
                <a:ea typeface="DejaVu Sans"/>
                <a:cs typeface="DejaVu Sans"/>
              </a:defRPr>
            </a:defPPr>
          </a:lstStyle>
          <a:p xmlns:a="http://schemas.openxmlformats.org/drawingml/2006/main">
            <a:pPr>
              <a:defRPr sz="1875" b="0">
                <a:solidFill>
                  <a:srgbClr val="5B6B7C"/>
                </a:solidFill>
                <a:latin typeface="DejaVu Sans"/>
                <a:ea typeface="DejaVu Sans"/>
                <a:cs typeface="DejaVu Sans"/>
              </a:defRPr>
            </a:pPr>
            <a:r>
              <a:rPr sz="1875" b="0">
                <a:solidFill>
                  <a:srgbClr val="5B6B7C"/>
                </a:solidFill>
                <a:latin typeface="DejaVu Sans"/>
                <a:ea typeface="DejaVu Sans"/>
                <a:cs typeface="DejaVu Sans"/>
              </a:rPr>
              <a:t>Clipped policy updates with Generalized Advantage Estimation</a:t>
            </a:r>
          </a:p>
        </p:txBody>
      </p:sp>
      <p:sp>
        <p:nvSpPr>
          <p:cNvPr id="3" name="">
            <a:extLst xmlns:a="http://schemas.openxmlformats.org/drawingml/2006/main">
              <a:ext uri="{FF2B5EF4-FFF2-40B4-BE49-F238E27FC236}">
                <a16:creationId xmlns:a16="http://schemas.microsoft.com/office/drawing/2014/main" id="{964AA0DA-8A42-415A-A82A-59658DE26F3F}"/>
              </a:ext>
            </a:extLst>
          </p:cNvPr>
          <p:cNvSpPr>
            <a:spLocks xmlns:a="http://schemas.openxmlformats.org/drawingml/2006/main" noGrp="1"/>
          </p:cNvSpPr>
          <p:nvPr/>
        </p:nvSpPr>
        <p:spPr>
          <a:xfrm xmlns:a="http://schemas.openxmlformats.org/drawingml/2006/main">
            <a:off x="62865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B6B7C"/>
                </a:solidFill>
                <a:latin typeface="DejaVu Sans"/>
                <a:ea typeface="DejaVu Sans"/>
                <a:cs typeface="DejaVu Sans"/>
              </a:defRPr>
            </a:defPPr>
          </a:lstStyle>
          <a:p xmlns:a="http://schemas.openxmlformats.org/drawingml/2006/main">
            <a:pPr>
              <a:defRPr sz="1200" b="0">
                <a:solidFill>
                  <a:srgbClr val="5B6B7C"/>
                </a:solidFill>
                <a:latin typeface="DejaVu Sans"/>
                <a:ea typeface="DejaVu Sans"/>
                <a:cs typeface="DejaVu Sans"/>
              </a:defRPr>
            </a:pPr>
            <a:r>
              <a:rPr sz="1200" b="0">
                <a:solidFill>
                  <a:srgbClr val="5B6B7C"/>
                </a:solidFill>
                <a:latin typeface="DejaVu Sans"/>
                <a:ea typeface="DejaVu Sans"/>
                <a:cs typeface="DejaVu Sans"/>
              </a:rPr>
              <a:t>SIMULATED API AUTOSCALING • PART 2</a:t>
            </a:r>
          </a:p>
        </p:txBody>
      </p:sp>
      <p:sp>
        <p:nvSpPr>
          <p:cNvPr id="4" name="">
            <a:extLst xmlns:a="http://schemas.openxmlformats.org/drawingml/2006/main">
              <a:ext uri="{FF2B5EF4-FFF2-40B4-BE49-F238E27FC236}">
                <a16:creationId xmlns:a16="http://schemas.microsoft.com/office/drawing/2014/main" id="{3591FB3F-A7DC-4943-AC4C-4B593E4BCCC1}"/>
              </a:ext>
            </a:extLst>
          </p:cNvPr>
          <p:cNvSpPr>
            <a:spLocks xmlns:a="http://schemas.openxmlformats.org/drawingml/2006/main" noGrp="1"/>
          </p:cNvSpPr>
          <p:nvPr/>
        </p:nvSpPr>
        <p:spPr>
          <a:xfrm xmlns:a="http://schemas.openxmlformats.org/drawingml/2006/main">
            <a:off x="11182350" y="638175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B6B7C"/>
                </a:solidFill>
                <a:latin typeface="DejaVu Sans"/>
                <a:ea typeface="DejaVu Sans"/>
                <a:cs typeface="DejaVu Sans"/>
              </a:defRPr>
            </a:defPPr>
          </a:lstStyle>
          <a:p xmlns:a="http://schemas.openxmlformats.org/drawingml/2006/main">
            <a:pPr>
              <a:defRPr sz="1425" b="0">
                <a:solidFill>
                  <a:srgbClr val="5B6B7C"/>
                </a:solidFill>
                <a:latin typeface="DejaVu Sans"/>
                <a:ea typeface="DejaVu Sans"/>
                <a:cs typeface="DejaVu Sans"/>
              </a:defRPr>
            </a:pPr>
            <a:r>
              <a:rPr sz="1425" b="0">
                <a:solidFill>
                  <a:srgbClr val="5B6B7C"/>
                </a:solidFill>
                <a:latin typeface="DejaVu Sans"/>
                <a:ea typeface="DejaVu Sans"/>
                <a:cs typeface="DejaVu Sans"/>
              </a:rPr>
              <a:t>7</a:t>
            </a:r>
          </a:p>
        </p:txBody>
      </p:sp>
      <p:sp>
        <p:nvSpPr>
          <p:cNvPr id="5" name="">
            <a:extLst xmlns:a="http://schemas.openxmlformats.org/drawingml/2006/main">
              <a:ext uri="{FF2B5EF4-FFF2-40B4-BE49-F238E27FC236}">
                <a16:creationId xmlns:a16="http://schemas.microsoft.com/office/drawing/2014/main" id="{57C23DF6-6D91-4A05-8FF9-D2ADA3706AAE}"/>
              </a:ext>
            </a:extLst>
          </p:cNvPr>
          <p:cNvSpPr>
            <a:spLocks xmlns:a="http://schemas.openxmlformats.org/drawingml/2006/main" noGrp="1"/>
          </p:cNvSpPr>
          <p:nvPr/>
        </p:nvSpPr>
        <p:spPr>
          <a:xfrm xmlns:a="http://schemas.openxmlformats.org/drawingml/2006/main">
            <a:off x="628650" y="202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63A4E"/>
                </a:solidFill>
                <a:latin typeface="DejaVu Sans"/>
                <a:ea typeface="DejaVu Sans"/>
                <a:cs typeface="DejaVu Sans"/>
              </a:defRPr>
            </a:defPPr>
          </a:lstStyle>
          <a:p xmlns:a="http://schemas.openxmlformats.org/drawingml/2006/main">
            <a:pPr>
              <a:defRPr sz="2325" b="1">
                <a:solidFill>
                  <a:srgbClr val="263A4E"/>
                </a:solidFill>
                <a:latin typeface="DejaVu Sans"/>
                <a:ea typeface="DejaVu Sans"/>
                <a:cs typeface="DejaVu Sans"/>
              </a:defRPr>
            </a:pPr>
            <a:r>
              <a:rPr sz="2325" b="1">
                <a:solidFill>
                  <a:srgbClr val="263A4E"/>
                </a:solidFill>
                <a:latin typeface="DejaVu Sans"/>
                <a:ea typeface="DejaVu Sans"/>
                <a:cs typeface="DejaVu Sans"/>
              </a:rPr>
              <a:t>Actor: 9 → 64 → 64 → 3 action probabilities</a:t>
            </a:r>
          </a:p>
        </p:txBody>
      </p:sp>
      <p:sp>
        <p:nvSpPr>
          <p:cNvPr id="6" name="">
            <a:extLst xmlns:a="http://schemas.openxmlformats.org/drawingml/2006/main">
              <a:ext uri="{FF2B5EF4-FFF2-40B4-BE49-F238E27FC236}">
                <a16:creationId xmlns:a16="http://schemas.microsoft.com/office/drawing/2014/main" id="{E2FA3632-94AF-49E6-B598-71D706603B8A}"/>
              </a:ext>
            </a:extLst>
          </p:cNvPr>
          <p:cNvSpPr>
            <a:spLocks xmlns:a="http://schemas.openxmlformats.org/drawingml/2006/main" noGrp="1"/>
          </p:cNvSpPr>
          <p:nvPr/>
        </p:nvSpPr>
        <p:spPr>
          <a:xfrm xmlns:a="http://schemas.openxmlformats.org/drawingml/2006/main">
            <a:off x="628650" y="26670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63A4E"/>
                </a:solidFill>
                <a:latin typeface="DejaVu Sans"/>
                <a:ea typeface="DejaVu Sans"/>
                <a:cs typeface="DejaVu Sans"/>
              </a:defRPr>
            </a:defPPr>
          </a:lstStyle>
          <a:p xmlns:a="http://schemas.openxmlformats.org/drawingml/2006/main">
            <a:pPr>
              <a:defRPr sz="2325" b="1">
                <a:solidFill>
                  <a:srgbClr val="263A4E"/>
                </a:solidFill>
                <a:latin typeface="DejaVu Sans"/>
                <a:ea typeface="DejaVu Sans"/>
                <a:cs typeface="DejaVu Sans"/>
              </a:defRPr>
            </a:pPr>
            <a:r>
              <a:rPr sz="2325" b="1">
                <a:solidFill>
                  <a:srgbClr val="263A4E"/>
                </a:solidFill>
                <a:latin typeface="DejaVu Sans"/>
                <a:ea typeface="DejaVu Sans"/>
                <a:cs typeface="DejaVu Sans"/>
              </a:rPr>
              <a:t>Critic: 9 → 64 → 64 → 1 estimated return</a:t>
            </a:r>
          </a:p>
        </p:txBody>
      </p:sp>
      <p:sp>
        <p:nvSpPr>
          <p:cNvPr id="7" name="">
            <a:extLst xmlns:a="http://schemas.openxmlformats.org/drawingml/2006/main">
              <a:ext uri="{FF2B5EF4-FFF2-40B4-BE49-F238E27FC236}">
                <a16:creationId xmlns:a16="http://schemas.microsoft.com/office/drawing/2014/main" id="{15DE2778-A44C-4D07-B9AB-73F30D35D561}"/>
              </a:ext>
            </a:extLst>
          </p:cNvPr>
          <p:cNvSpPr>
            <a:spLocks xmlns:a="http://schemas.openxmlformats.org/drawingml/2006/main" noGrp="1"/>
          </p:cNvSpPr>
          <p:nvPr/>
        </p:nvSpPr>
        <p:spPr>
          <a:xfrm xmlns:a="http://schemas.openxmlformats.org/drawingml/2006/main">
            <a:off x="628650" y="32670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A4E"/>
                </a:solidFill>
                <a:latin typeface="DejaVu Sans"/>
                <a:ea typeface="DejaVu Sans"/>
                <a:cs typeface="DejaVu Sans"/>
              </a:defRPr>
            </a:defPPr>
          </a:lstStyle>
          <a:p xmlns:a="http://schemas.openxmlformats.org/drawingml/2006/main">
            <a:pPr>
              <a:defRPr sz="1950" b="0">
                <a:solidFill>
                  <a:srgbClr val="263A4E"/>
                </a:solidFill>
                <a:latin typeface="DejaVu Sans"/>
                <a:ea typeface="DejaVu Sans"/>
                <a:cs typeface="DejaVu Sans"/>
              </a:defRPr>
            </a:pPr>
            <a:r>
              <a:rPr sz="1950" b="0">
                <a:solidFill>
                  <a:srgbClr val="263A4E"/>
                </a:solidFill>
                <a:latin typeface="DejaVu Sans"/>
                <a:ea typeface="DejaVu Sans"/>
                <a:cs typeface="DejaVu Sans"/>
              </a:rPr>
              <a:t>Both networks: tanh hidden layers; separate parameters.</a:t>
            </a:r>
          </a:p>
        </p:txBody>
      </p:sp>
      <p:sp>
        <p:nvSpPr>
          <p:cNvPr id="8" name="">
            <a:extLst xmlns:a="http://schemas.openxmlformats.org/drawingml/2006/main">
              <a:ext uri="{FF2B5EF4-FFF2-40B4-BE49-F238E27FC236}">
                <a16:creationId xmlns:a16="http://schemas.microsoft.com/office/drawing/2014/main" id="{7982002A-6F2A-4E28-9BFC-417D0DF81163}"/>
              </a:ext>
            </a:extLst>
          </p:cNvPr>
          <p:cNvSpPr>
            <a:spLocks xmlns:a="http://schemas.openxmlformats.org/drawingml/2006/main" noGrp="1"/>
          </p:cNvSpPr>
          <p:nvPr/>
        </p:nvSpPr>
        <p:spPr>
          <a:xfrm xmlns:a="http://schemas.openxmlformats.org/drawingml/2006/main">
            <a:off x="628650" y="4010025"/>
            <a:ext cx="107632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A4E"/>
                </a:solidFill>
                <a:latin typeface="DejaVu Sans"/>
                <a:ea typeface="DejaVu Sans"/>
                <a:cs typeface="DejaVu Sans"/>
              </a:defRPr>
            </a:defPPr>
          </a:lstStyle>
          <a:p xmlns:a="http://schemas.openxmlformats.org/drawingml/2006/main">
            <a:pPr>
              <a:defRPr sz="2175" b="0">
                <a:solidFill>
                  <a:srgbClr val="263A4E"/>
                </a:solidFill>
                <a:latin typeface="DejaVu Sans"/>
                <a:ea typeface="DejaVu Sans"/>
                <a:cs typeface="DejaVu Sans"/>
              </a:defRPr>
            </a:pPr>
            <a:r>
              <a:rPr sz="2175" b="0">
                <a:solidFill>
                  <a:srgbClr val="263A4E"/>
                </a:solidFill>
                <a:latin typeface="DejaVu Sans"/>
                <a:ea typeface="DejaVu Sans"/>
                <a:cs typeface="DejaVu Sans"/>
              </a:rPr>
              <a:t>PPO clip 0.2  |  discount 0.99  |  GAE λ 0.95</a:t>
            </a:r>
          </a:p>
          <a:p xmlns:a="http://schemas.openxmlformats.org/drawingml/2006/main">
            <a:pPr>
              <a:defRPr sz="2175" b="0">
                <a:solidFill>
                  <a:srgbClr val="263A4E"/>
                </a:solidFill>
                <a:latin typeface="DejaVu Sans"/>
                <a:ea typeface="DejaVu Sans"/>
                <a:cs typeface="DejaVu Sans"/>
              </a:defRPr>
            </a:pPr>
            <a:r>
              <a:rPr sz="2175" b="0">
                <a:solidFill>
                  <a:srgbClr val="263A4E"/>
                </a:solidFill>
                <a:latin typeface="DejaVu Sans"/>
                <a:ea typeface="DejaVu Sans"/>
                <a:cs typeface="DejaVu Sans"/>
              </a:rPr>
              <a:t>Adam learning rate 0.0003  |  entropy coefficient 0.01</a:t>
            </a:r>
          </a:p>
          <a:p xmlns:a="http://schemas.openxmlformats.org/drawingml/2006/main">
            <a:pPr>
              <a:defRPr sz="2175" b="0">
                <a:solidFill>
                  <a:srgbClr val="263A4E"/>
                </a:solidFill>
                <a:latin typeface="DejaVu Sans"/>
                <a:ea typeface="DejaVu Sans"/>
                <a:cs typeface="DejaVu Sans"/>
              </a:defRPr>
            </a:pPr>
            <a:r>
              <a:rPr sz="2175" b="0">
                <a:solidFill>
                  <a:srgbClr val="263A4E"/>
                </a:solidFill>
                <a:latin typeface="DejaVu Sans"/>
                <a:ea typeface="DejaVu Sans"/>
                <a:cs typeface="DejaVu Sans"/>
              </a:rPr>
              <a:t>1,024-step rollouts  |  10 epochs  |  minibatches ≤64</a:t>
            </a:r>
          </a:p>
        </p:txBody>
      </p:sp>
      <p:sp>
        <p:nvSpPr>
          <p:cNvPr id="9" name="">
            <a:extLst xmlns:a="http://schemas.openxmlformats.org/drawingml/2006/main">
              <a:ext uri="{FF2B5EF4-FFF2-40B4-BE49-F238E27FC236}">
                <a16:creationId xmlns:a16="http://schemas.microsoft.com/office/drawing/2014/main" id="{E96C2D58-D943-4660-9877-B86B96B2191C}"/>
              </a:ext>
            </a:extLst>
          </p:cNvPr>
          <p:cNvSpPr>
            <a:spLocks xmlns:a="http://schemas.openxmlformats.org/drawingml/2006/main" noGrp="1"/>
          </p:cNvSpPr>
          <p:nvPr/>
        </p:nvSpPr>
        <p:spPr>
          <a:xfrm xmlns:a="http://schemas.openxmlformats.org/drawingml/2006/main">
            <a:off x="628650" y="58293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1867A"/>
                </a:solidFill>
                <a:latin typeface="DejaVu Sans"/>
                <a:ea typeface="DejaVu Sans"/>
                <a:cs typeface="DejaVu Sans"/>
              </a:defRPr>
            </a:defPPr>
          </a:lstStyle>
          <a:p xmlns:a="http://schemas.openxmlformats.org/drawingml/2006/main">
            <a:pPr>
              <a:defRPr sz="1800" b="0">
                <a:solidFill>
                  <a:srgbClr val="21867A"/>
                </a:solidFill>
                <a:latin typeface="DejaVu Sans"/>
                <a:ea typeface="DejaVu Sans"/>
                <a:cs typeface="DejaVu Sans"/>
              </a:defRPr>
            </a:pPr>
            <a:r>
              <a:rPr sz="1800" b="0">
                <a:solidFill>
                  <a:srgbClr val="21867A"/>
                </a:solidFill>
                <a:latin typeface="DejaVu Sans"/>
                <a:ea typeface="DejaVu Sans"/>
                <a:cs typeface="DejaVu Sans"/>
              </a:rPr>
              <a:t>Sample actions during training; choose most probable at test time.</a:t>
            </a:r>
          </a:p>
        </p:txBody>
      </p:sp>
    </p:spTree>
    <p:extLst>
      <p:ext uri="{BB962C8B-B14F-4D97-AF65-F5344CB8AC3E}">
        <p14:creationId xmlns:p14="http://schemas.microsoft.com/office/powerpoint/2010/main" val="19404512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271E0C4-9E93-4A69-92F6-2A45B456C3DF}"/>
              </a:ext>
            </a:extLst>
          </p:cNvPr>
          <p:cNvSpPr>
            <a:spLocks xmlns:a="http://schemas.openxmlformats.org/drawingml/2006/main" noGrp="1"/>
          </p:cNvSpPr>
          <p:nvPr/>
        </p:nvSpPr>
        <p:spPr>
          <a:xfrm xmlns:a="http://schemas.openxmlformats.org/drawingml/2006/main">
            <a:off x="609600" y="457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44"/>
                </a:solidFill>
                <a:latin typeface="DejaVu Sans"/>
                <a:ea typeface="DejaVu Sans"/>
                <a:cs typeface="DejaVu Sans"/>
              </a:defRPr>
            </a:defPPr>
          </a:lstStyle>
          <a:p xmlns:a="http://schemas.openxmlformats.org/drawingml/2006/main">
            <a:pPr>
              <a:defRPr sz="3150" b="1">
                <a:solidFill>
                  <a:srgbClr val="172D44"/>
                </a:solidFill>
                <a:latin typeface="DejaVu Sans"/>
                <a:ea typeface="DejaVu Sans"/>
                <a:cs typeface="DejaVu Sans"/>
              </a:defRPr>
            </a:pPr>
            <a:r>
              <a:rPr sz="3150" b="1">
                <a:solidFill>
                  <a:srgbClr val="172D44"/>
                </a:solidFill>
                <a:latin typeface="DejaVu Sans"/>
                <a:ea typeface="DejaVu Sans"/>
                <a:cs typeface="DejaVu Sans"/>
              </a:rPr>
              <a:t>Implementation and changes to the plan</a:t>
            </a:r>
          </a:p>
        </p:txBody>
      </p:sp>
      <p:sp>
        <p:nvSpPr>
          <p:cNvPr id="2" name="">
            <a:extLst xmlns:a="http://schemas.openxmlformats.org/drawingml/2006/main">
              <a:ext uri="{FF2B5EF4-FFF2-40B4-BE49-F238E27FC236}">
                <a16:creationId xmlns:a16="http://schemas.microsoft.com/office/drawing/2014/main" id="{381DFADA-8717-45A2-A1C1-ED123CA296A1}"/>
              </a:ext>
            </a:extLst>
          </p:cNvPr>
          <p:cNvSpPr>
            <a:spLocks xmlns:a="http://schemas.openxmlformats.org/drawingml/2006/main" noGrp="1"/>
          </p:cNvSpPr>
          <p:nvPr/>
        </p:nvSpPr>
        <p:spPr>
          <a:xfrm xmlns:a="http://schemas.openxmlformats.org/drawingml/2006/main">
            <a:off x="62865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B6B7C"/>
                </a:solidFill>
                <a:latin typeface="DejaVu Sans"/>
                <a:ea typeface="DejaVu Sans"/>
                <a:cs typeface="DejaVu Sans"/>
              </a:defRPr>
            </a:defPPr>
          </a:lstStyle>
          <a:p xmlns:a="http://schemas.openxmlformats.org/drawingml/2006/main">
            <a:pPr>
              <a:defRPr sz="1875" b="0">
                <a:solidFill>
                  <a:srgbClr val="5B6B7C"/>
                </a:solidFill>
                <a:latin typeface="DejaVu Sans"/>
                <a:ea typeface="DejaVu Sans"/>
                <a:cs typeface="DejaVu Sans"/>
              </a:defRPr>
            </a:pPr>
            <a:r>
              <a:rPr sz="1875" b="0">
                <a:solidFill>
                  <a:srgbClr val="5B6B7C"/>
                </a:solidFill>
                <a:latin typeface="DejaVu Sans"/>
                <a:ea typeface="DejaVu Sans"/>
                <a:cs typeface="DejaVu Sans"/>
              </a:rPr>
              <a:t>A complete local workflow with numerical checks</a:t>
            </a:r>
          </a:p>
        </p:txBody>
      </p:sp>
      <p:sp>
        <p:nvSpPr>
          <p:cNvPr id="3" name="">
            <a:extLst xmlns:a="http://schemas.openxmlformats.org/drawingml/2006/main">
              <a:ext uri="{FF2B5EF4-FFF2-40B4-BE49-F238E27FC236}">
                <a16:creationId xmlns:a16="http://schemas.microsoft.com/office/drawing/2014/main" id="{DD66C2F5-FF6D-4E42-B9B8-11A0E6F9AE06}"/>
              </a:ext>
            </a:extLst>
          </p:cNvPr>
          <p:cNvSpPr>
            <a:spLocks xmlns:a="http://schemas.openxmlformats.org/drawingml/2006/main" noGrp="1"/>
          </p:cNvSpPr>
          <p:nvPr/>
        </p:nvSpPr>
        <p:spPr>
          <a:xfrm xmlns:a="http://schemas.openxmlformats.org/drawingml/2006/main">
            <a:off x="62865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B6B7C"/>
                </a:solidFill>
                <a:latin typeface="DejaVu Sans"/>
                <a:ea typeface="DejaVu Sans"/>
                <a:cs typeface="DejaVu Sans"/>
              </a:defRPr>
            </a:defPPr>
          </a:lstStyle>
          <a:p xmlns:a="http://schemas.openxmlformats.org/drawingml/2006/main">
            <a:pPr>
              <a:defRPr sz="1200" b="0">
                <a:solidFill>
                  <a:srgbClr val="5B6B7C"/>
                </a:solidFill>
                <a:latin typeface="DejaVu Sans"/>
                <a:ea typeface="DejaVu Sans"/>
                <a:cs typeface="DejaVu Sans"/>
              </a:defRPr>
            </a:pPr>
            <a:r>
              <a:rPr sz="1200" b="0">
                <a:solidFill>
                  <a:srgbClr val="5B6B7C"/>
                </a:solidFill>
                <a:latin typeface="DejaVu Sans"/>
                <a:ea typeface="DejaVu Sans"/>
                <a:cs typeface="DejaVu Sans"/>
              </a:rPr>
              <a:t>SIMULATED API AUTOSCALING • PART 2</a:t>
            </a:r>
          </a:p>
        </p:txBody>
      </p:sp>
      <p:sp>
        <p:nvSpPr>
          <p:cNvPr id="4" name="">
            <a:extLst xmlns:a="http://schemas.openxmlformats.org/drawingml/2006/main">
              <a:ext uri="{FF2B5EF4-FFF2-40B4-BE49-F238E27FC236}">
                <a16:creationId xmlns:a16="http://schemas.microsoft.com/office/drawing/2014/main" id="{1147501A-A437-4D0D-AD5A-A40AA24311D0}"/>
              </a:ext>
            </a:extLst>
          </p:cNvPr>
          <p:cNvSpPr>
            <a:spLocks xmlns:a="http://schemas.openxmlformats.org/drawingml/2006/main" noGrp="1"/>
          </p:cNvSpPr>
          <p:nvPr/>
        </p:nvSpPr>
        <p:spPr>
          <a:xfrm xmlns:a="http://schemas.openxmlformats.org/drawingml/2006/main">
            <a:off x="11182350" y="638175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B6B7C"/>
                </a:solidFill>
                <a:latin typeface="DejaVu Sans"/>
                <a:ea typeface="DejaVu Sans"/>
                <a:cs typeface="DejaVu Sans"/>
              </a:defRPr>
            </a:defPPr>
          </a:lstStyle>
          <a:p xmlns:a="http://schemas.openxmlformats.org/drawingml/2006/main">
            <a:pPr>
              <a:defRPr sz="1425" b="0">
                <a:solidFill>
                  <a:srgbClr val="5B6B7C"/>
                </a:solidFill>
                <a:latin typeface="DejaVu Sans"/>
                <a:ea typeface="DejaVu Sans"/>
                <a:cs typeface="DejaVu Sans"/>
              </a:defRPr>
            </a:pPr>
            <a:r>
              <a:rPr sz="1425" b="0">
                <a:solidFill>
                  <a:srgbClr val="5B6B7C"/>
                </a:solidFill>
                <a:latin typeface="DejaVu Sans"/>
                <a:ea typeface="DejaVu Sans"/>
                <a:cs typeface="DejaVu Sans"/>
              </a:rPr>
              <a:t>8</a:t>
            </a:r>
          </a:p>
        </p:txBody>
      </p:sp>
      <p:sp>
        <p:nvSpPr>
          <p:cNvPr id="5" name="">
            <a:extLst xmlns:a="http://schemas.openxmlformats.org/drawingml/2006/main">
              <a:ext uri="{FF2B5EF4-FFF2-40B4-BE49-F238E27FC236}">
                <a16:creationId xmlns:a16="http://schemas.microsoft.com/office/drawing/2014/main" id="{82FC09B5-2FFA-482C-AB65-EC23726225CA}"/>
              </a:ext>
            </a:extLst>
          </p:cNvPr>
          <p:cNvSpPr>
            <a:spLocks xmlns:a="http://schemas.openxmlformats.org/drawingml/2006/main" noGrp="1"/>
          </p:cNvSpPr>
          <p:nvPr/>
        </p:nvSpPr>
        <p:spPr>
          <a:xfrm xmlns:a="http://schemas.openxmlformats.org/drawingml/2006/main">
            <a:off x="628650" y="2000250"/>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D44"/>
                </a:solidFill>
                <a:latin typeface="DejaVu Sans"/>
                <a:ea typeface="DejaVu Sans"/>
                <a:cs typeface="DejaVu Sans"/>
              </a:defRPr>
            </a:defPPr>
          </a:lstStyle>
          <a:p xmlns:a="http://schemas.openxmlformats.org/drawingml/2006/main">
            <a:pPr>
              <a:defRPr sz="2250" b="1">
                <a:solidFill>
                  <a:srgbClr val="172D44"/>
                </a:solidFill>
                <a:latin typeface="DejaVu Sans"/>
                <a:ea typeface="DejaVu Sans"/>
                <a:cs typeface="DejaVu Sans"/>
              </a:defRPr>
            </a:pPr>
            <a:r>
              <a:rPr sz="2250" b="1">
                <a:solidFill>
                  <a:srgbClr val="172D44"/>
                </a:solidFill>
                <a:latin typeface="DejaVu Sans"/>
                <a:ea typeface="DejaVu Sans"/>
                <a:cs typeface="DejaVu Sans"/>
              </a:rPr>
              <a:t>Core components</a:t>
            </a:r>
          </a:p>
        </p:txBody>
      </p:sp>
      <p:sp>
        <p:nvSpPr>
          <p:cNvPr id="6" name="">
            <a:extLst xmlns:a="http://schemas.openxmlformats.org/drawingml/2006/main">
              <a:ext uri="{FF2B5EF4-FFF2-40B4-BE49-F238E27FC236}">
                <a16:creationId xmlns:a16="http://schemas.microsoft.com/office/drawing/2014/main" id="{501CFBEA-74AE-4B25-812C-38BA03E80EB2}"/>
              </a:ext>
            </a:extLst>
          </p:cNvPr>
          <p:cNvSpPr>
            <a:spLocks xmlns:a="http://schemas.openxmlformats.org/drawingml/2006/main" noGrp="1"/>
          </p:cNvSpPr>
          <p:nvPr/>
        </p:nvSpPr>
        <p:spPr>
          <a:xfrm xmlns:a="http://schemas.openxmlformats.org/drawingml/2006/main">
            <a:off x="628650" y="24003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A4E"/>
                </a:solidFill>
                <a:latin typeface="DejaVu Sans"/>
                <a:ea typeface="DejaVu Sans"/>
                <a:cs typeface="DejaVu Sans"/>
              </a:defRPr>
            </a:defPPr>
          </a:lstStyle>
          <a:p xmlns:a="http://schemas.openxmlformats.org/drawingml/2006/main">
            <a:pPr>
              <a:defRPr sz="1950" b="0">
                <a:solidFill>
                  <a:srgbClr val="263A4E"/>
                </a:solidFill>
                <a:latin typeface="DejaVu Sans"/>
                <a:ea typeface="DejaVu Sans"/>
                <a:cs typeface="DejaVu Sans"/>
              </a:defRPr>
            </a:pPr>
            <a:r>
              <a:rPr sz="1950" b="0">
                <a:solidFill>
                  <a:srgbClr val="263A4E"/>
                </a:solidFill>
                <a:latin typeface="DejaVu Sans"/>
                <a:ea typeface="DejaVu Sans"/>
                <a:cs typeface="DejaVu Sans"/>
              </a:rPr>
              <a:t>Simulator → controllers → training → evaluation → plots and replay.</a:t>
            </a:r>
          </a:p>
        </p:txBody>
      </p:sp>
      <p:sp>
        <p:nvSpPr>
          <p:cNvPr id="7" name="">
            <a:extLst xmlns:a="http://schemas.openxmlformats.org/drawingml/2006/main">
              <a:ext uri="{FF2B5EF4-FFF2-40B4-BE49-F238E27FC236}">
                <a16:creationId xmlns:a16="http://schemas.microsoft.com/office/drawing/2014/main" id="{39318F43-6293-4DA5-A336-EA6472FB4081}"/>
              </a:ext>
            </a:extLst>
          </p:cNvPr>
          <p:cNvSpPr>
            <a:spLocks xmlns:a="http://schemas.openxmlformats.org/drawingml/2006/main" noGrp="1"/>
          </p:cNvSpPr>
          <p:nvPr/>
        </p:nvSpPr>
        <p:spPr>
          <a:xfrm xmlns:a="http://schemas.openxmlformats.org/drawingml/2006/main">
            <a:off x="628650" y="3200400"/>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D44"/>
                </a:solidFill>
                <a:latin typeface="DejaVu Sans"/>
                <a:ea typeface="DejaVu Sans"/>
                <a:cs typeface="DejaVu Sans"/>
              </a:defRPr>
            </a:defPPr>
          </a:lstStyle>
          <a:p xmlns:a="http://schemas.openxmlformats.org/drawingml/2006/main">
            <a:pPr>
              <a:defRPr sz="2250" b="1">
                <a:solidFill>
                  <a:srgbClr val="172D44"/>
                </a:solidFill>
                <a:latin typeface="DejaVu Sans"/>
                <a:ea typeface="DejaVu Sans"/>
                <a:cs typeface="DejaVu Sans"/>
              </a:defRPr>
            </a:pPr>
            <a:r>
              <a:rPr sz="2250" b="1">
                <a:solidFill>
                  <a:srgbClr val="172D44"/>
                </a:solidFill>
                <a:latin typeface="DejaVu Sans"/>
                <a:ea typeface="DejaVu Sans"/>
                <a:cs typeface="DejaVu Sans"/>
              </a:rPr>
              <a:t>Framework change from Part 1</a:t>
            </a:r>
          </a:p>
        </p:txBody>
      </p:sp>
      <p:sp>
        <p:nvSpPr>
          <p:cNvPr id="8" name="">
            <a:extLst xmlns:a="http://schemas.openxmlformats.org/drawingml/2006/main">
              <a:ext uri="{FF2B5EF4-FFF2-40B4-BE49-F238E27FC236}">
                <a16:creationId xmlns:a16="http://schemas.microsoft.com/office/drawing/2014/main" id="{9C3B65A2-0552-423E-B365-DF1B1CD946D1}"/>
              </a:ext>
            </a:extLst>
          </p:cNvPr>
          <p:cNvSpPr>
            <a:spLocks xmlns:a="http://schemas.openxmlformats.org/drawingml/2006/main" noGrp="1"/>
          </p:cNvSpPr>
          <p:nvPr/>
        </p:nvSpPr>
        <p:spPr>
          <a:xfrm xmlns:a="http://schemas.openxmlformats.org/drawingml/2006/main">
            <a:off x="628650" y="36004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A4E"/>
                </a:solidFill>
                <a:latin typeface="DejaVu Sans"/>
                <a:ea typeface="DejaVu Sans"/>
                <a:cs typeface="DejaVu Sans"/>
              </a:defRPr>
            </a:defPPr>
          </a:lstStyle>
          <a:p xmlns:a="http://schemas.openxmlformats.org/drawingml/2006/main">
            <a:pPr>
              <a:defRPr sz="1950" b="0">
                <a:solidFill>
                  <a:srgbClr val="263A4E"/>
                </a:solidFill>
                <a:latin typeface="DejaVu Sans"/>
                <a:ea typeface="DejaVu Sans"/>
                <a:cs typeface="DejaVu Sans"/>
              </a:defRPr>
            </a:pPr>
            <a:r>
              <a:rPr sz="1950" b="0">
                <a:solidFill>
                  <a:srgbClr val="263A4E"/>
                </a:solidFill>
                <a:latin typeface="DejaVu Sans"/>
                <a:ea typeface="DejaVu Sans"/>
                <a:cs typeface="DejaVu Sans"/>
              </a:rPr>
              <a:t>NumPy manual backpropagation instead of PyTorch / Gymnasium.</a:t>
            </a:r>
          </a:p>
        </p:txBody>
      </p:sp>
      <p:sp>
        <p:nvSpPr>
          <p:cNvPr id="9" name="">
            <a:extLst xmlns:a="http://schemas.openxmlformats.org/drawingml/2006/main">
              <a:ext uri="{FF2B5EF4-FFF2-40B4-BE49-F238E27FC236}">
                <a16:creationId xmlns:a16="http://schemas.microsoft.com/office/drawing/2014/main" id="{F533FBA4-4BCD-4588-86F5-AEB79F370FFC}"/>
              </a:ext>
            </a:extLst>
          </p:cNvPr>
          <p:cNvSpPr>
            <a:spLocks xmlns:a="http://schemas.openxmlformats.org/drawingml/2006/main" noGrp="1"/>
          </p:cNvSpPr>
          <p:nvPr/>
        </p:nvSpPr>
        <p:spPr>
          <a:xfrm xmlns:a="http://schemas.openxmlformats.org/drawingml/2006/main">
            <a:off x="628650" y="4400550"/>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D44"/>
                </a:solidFill>
                <a:latin typeface="DejaVu Sans"/>
                <a:ea typeface="DejaVu Sans"/>
                <a:cs typeface="DejaVu Sans"/>
              </a:defRPr>
            </a:defPPr>
          </a:lstStyle>
          <a:p xmlns:a="http://schemas.openxmlformats.org/drawingml/2006/main">
            <a:pPr>
              <a:defRPr sz="2250" b="1">
                <a:solidFill>
                  <a:srgbClr val="172D44"/>
                </a:solidFill>
                <a:latin typeface="DejaVu Sans"/>
                <a:ea typeface="DejaVu Sans"/>
                <a:cs typeface="DejaVu Sans"/>
              </a:defRPr>
            </a:pPr>
            <a:r>
              <a:rPr sz="2250" b="1">
                <a:solidFill>
                  <a:srgbClr val="172D44"/>
                </a:solidFill>
                <a:latin typeface="DejaVu Sans"/>
                <a:ea typeface="DejaVu Sans"/>
                <a:cs typeface="DejaVu Sans"/>
              </a:rPr>
              <a:t>Verification and scope</a:t>
            </a:r>
          </a:p>
        </p:txBody>
      </p:sp>
      <p:sp>
        <p:nvSpPr>
          <p:cNvPr id="10" name="">
            <a:extLst xmlns:a="http://schemas.openxmlformats.org/drawingml/2006/main">
              <a:ext uri="{FF2B5EF4-FFF2-40B4-BE49-F238E27FC236}">
                <a16:creationId xmlns:a16="http://schemas.microsoft.com/office/drawing/2014/main" id="{42FA03C7-6552-43F3-B134-5CD79CE5A4ED}"/>
              </a:ext>
            </a:extLst>
          </p:cNvPr>
          <p:cNvSpPr>
            <a:spLocks xmlns:a="http://schemas.openxmlformats.org/drawingml/2006/main" noGrp="1"/>
          </p:cNvSpPr>
          <p:nvPr/>
        </p:nvSpPr>
        <p:spPr>
          <a:xfrm xmlns:a="http://schemas.openxmlformats.org/drawingml/2006/main">
            <a:off x="628650" y="48006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A4E"/>
                </a:solidFill>
                <a:latin typeface="DejaVu Sans"/>
                <a:ea typeface="DejaVu Sans"/>
                <a:cs typeface="DejaVu Sans"/>
              </a:defRPr>
            </a:defPPr>
          </a:lstStyle>
          <a:p xmlns:a="http://schemas.openxmlformats.org/drawingml/2006/main">
            <a:pPr>
              <a:defRPr sz="1950" b="0">
                <a:solidFill>
                  <a:srgbClr val="263A4E"/>
                </a:solidFill>
                <a:latin typeface="DejaVu Sans"/>
                <a:ea typeface="DejaVu Sans"/>
                <a:cs typeface="DejaVu Sans"/>
              </a:defRPr>
            </a:pPr>
            <a:r>
              <a:rPr sz="1950" b="0">
                <a:solidFill>
                  <a:srgbClr val="263A4E"/>
                </a:solidFill>
                <a:latin typeface="DejaVu Sans"/>
                <a:ea typeface="DejaVu Sans"/>
                <a:cs typeface="DejaVu Sans"/>
              </a:rPr>
              <a:t>9 tests: gradients, GAE λ extremes, entropy, accounting, reproducibility.</a:t>
            </a:r>
          </a:p>
          <a:p xmlns:a="http://schemas.openxmlformats.org/drawingml/2006/main">
            <a:pPr>
              <a:defRPr sz="1950" b="0">
                <a:solidFill>
                  <a:srgbClr val="263A4E"/>
                </a:solidFill>
                <a:latin typeface="DejaVu Sans"/>
                <a:ea typeface="DejaVu Sans"/>
                <a:cs typeface="DejaVu Sans"/>
              </a:defRPr>
            </a:pPr>
            <a:r>
              <a:rPr sz="1950" b="0">
                <a:solidFill>
                  <a:srgbClr val="263A4E"/>
                </a:solidFill>
                <a:latin typeface="DejaVu Sans"/>
                <a:ea typeface="DejaVu Sans"/>
                <a:cs typeface="DejaVu Sans"/>
              </a:rPr>
              <a:t>DQN remains an alternative; no DQN experiment was run.</a:t>
            </a:r>
          </a:p>
        </p:txBody>
      </p:sp>
    </p:spTree>
    <p:extLst>
      <p:ext uri="{BB962C8B-B14F-4D97-AF65-F5344CB8AC3E}">
        <p14:creationId xmlns:p14="http://schemas.microsoft.com/office/powerpoint/2010/main" val="142973032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399D1CC-5EF4-4453-9D22-ABB8767D5C05}"/>
              </a:ext>
            </a:extLst>
          </p:cNvPr>
          <p:cNvSpPr>
            <a:spLocks xmlns:a="http://schemas.openxmlformats.org/drawingml/2006/main" noGrp="1"/>
          </p:cNvSpPr>
          <p:nvPr/>
        </p:nvSpPr>
        <p:spPr>
          <a:xfrm xmlns:a="http://schemas.openxmlformats.org/drawingml/2006/main">
            <a:off x="609600" y="457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44"/>
                </a:solidFill>
                <a:latin typeface="DejaVu Sans"/>
                <a:ea typeface="DejaVu Sans"/>
                <a:cs typeface="DejaVu Sans"/>
              </a:defRPr>
            </a:defPPr>
          </a:lstStyle>
          <a:p xmlns:a="http://schemas.openxmlformats.org/drawingml/2006/main">
            <a:pPr>
              <a:defRPr sz="3150" b="1">
                <a:solidFill>
                  <a:srgbClr val="172D44"/>
                </a:solidFill>
                <a:latin typeface="DejaVu Sans"/>
                <a:ea typeface="DejaVu Sans"/>
                <a:cs typeface="DejaVu Sans"/>
              </a:defRPr>
            </a:pPr>
            <a:r>
              <a:rPr sz="3150" b="1">
                <a:solidFill>
                  <a:srgbClr val="172D44"/>
                </a:solidFill>
                <a:latin typeface="DejaVu Sans"/>
                <a:ea typeface="DejaVu Sans"/>
                <a:cs typeface="DejaVu Sans"/>
              </a:rPr>
              <a:t>Training and evaluation protocol</a:t>
            </a:r>
          </a:p>
        </p:txBody>
      </p:sp>
      <p:sp>
        <p:nvSpPr>
          <p:cNvPr id="2" name="">
            <a:extLst xmlns:a="http://schemas.openxmlformats.org/drawingml/2006/main">
              <a:ext uri="{FF2B5EF4-FFF2-40B4-BE49-F238E27FC236}">
                <a16:creationId xmlns:a16="http://schemas.microsoft.com/office/drawing/2014/main" id="{0B4A5B9D-E761-4951-9331-F949406F78E6}"/>
              </a:ext>
            </a:extLst>
          </p:cNvPr>
          <p:cNvSpPr>
            <a:spLocks xmlns:a="http://schemas.openxmlformats.org/drawingml/2006/main" noGrp="1"/>
          </p:cNvSpPr>
          <p:nvPr/>
        </p:nvSpPr>
        <p:spPr>
          <a:xfrm xmlns:a="http://schemas.openxmlformats.org/drawingml/2006/main">
            <a:off x="62865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B6B7C"/>
                </a:solidFill>
                <a:latin typeface="DejaVu Sans"/>
                <a:ea typeface="DejaVu Sans"/>
                <a:cs typeface="DejaVu Sans"/>
              </a:defRPr>
            </a:defPPr>
          </a:lstStyle>
          <a:p xmlns:a="http://schemas.openxmlformats.org/drawingml/2006/main">
            <a:pPr>
              <a:defRPr sz="1875" b="0">
                <a:solidFill>
                  <a:srgbClr val="5B6B7C"/>
                </a:solidFill>
                <a:latin typeface="DejaVu Sans"/>
                <a:ea typeface="DejaVu Sans"/>
                <a:cs typeface="DejaVu Sans"/>
              </a:defRPr>
            </a:pPr>
            <a:r>
              <a:rPr sz="1875" b="0">
                <a:solidFill>
                  <a:srgbClr val="5B6B7C"/>
                </a:solidFill>
                <a:latin typeface="DejaVu Sans"/>
                <a:ea typeface="DejaVu Sans"/>
                <a:cs typeface="DejaVu Sans"/>
              </a:rPr>
              <a:t>Validation selects settings; testing measures outcomes</a:t>
            </a:r>
          </a:p>
        </p:txBody>
      </p:sp>
      <p:sp>
        <p:nvSpPr>
          <p:cNvPr id="3" name="">
            <a:extLst xmlns:a="http://schemas.openxmlformats.org/drawingml/2006/main">
              <a:ext uri="{FF2B5EF4-FFF2-40B4-BE49-F238E27FC236}">
                <a16:creationId xmlns:a16="http://schemas.microsoft.com/office/drawing/2014/main" id="{A8D56BE6-A94E-49D0-9A76-9F4531436BC7}"/>
              </a:ext>
            </a:extLst>
          </p:cNvPr>
          <p:cNvSpPr>
            <a:spLocks xmlns:a="http://schemas.openxmlformats.org/drawingml/2006/main" noGrp="1"/>
          </p:cNvSpPr>
          <p:nvPr/>
        </p:nvSpPr>
        <p:spPr>
          <a:xfrm xmlns:a="http://schemas.openxmlformats.org/drawingml/2006/main">
            <a:off x="62865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B6B7C"/>
                </a:solidFill>
                <a:latin typeface="DejaVu Sans"/>
                <a:ea typeface="DejaVu Sans"/>
                <a:cs typeface="DejaVu Sans"/>
              </a:defRPr>
            </a:defPPr>
          </a:lstStyle>
          <a:p xmlns:a="http://schemas.openxmlformats.org/drawingml/2006/main">
            <a:pPr>
              <a:defRPr sz="1200" b="0">
                <a:solidFill>
                  <a:srgbClr val="5B6B7C"/>
                </a:solidFill>
                <a:latin typeface="DejaVu Sans"/>
                <a:ea typeface="DejaVu Sans"/>
                <a:cs typeface="DejaVu Sans"/>
              </a:defRPr>
            </a:pPr>
            <a:r>
              <a:rPr sz="1200" b="0">
                <a:solidFill>
                  <a:srgbClr val="5B6B7C"/>
                </a:solidFill>
                <a:latin typeface="DejaVu Sans"/>
                <a:ea typeface="DejaVu Sans"/>
                <a:cs typeface="DejaVu Sans"/>
              </a:rPr>
              <a:t>SIMULATED API AUTOSCALING • PART 2</a:t>
            </a:r>
          </a:p>
        </p:txBody>
      </p:sp>
      <p:sp>
        <p:nvSpPr>
          <p:cNvPr id="4" name="">
            <a:extLst xmlns:a="http://schemas.openxmlformats.org/drawingml/2006/main">
              <a:ext uri="{FF2B5EF4-FFF2-40B4-BE49-F238E27FC236}">
                <a16:creationId xmlns:a16="http://schemas.microsoft.com/office/drawing/2014/main" id="{F873642A-0C2F-4B49-A84F-1ADA27AAEB05}"/>
              </a:ext>
            </a:extLst>
          </p:cNvPr>
          <p:cNvSpPr>
            <a:spLocks xmlns:a="http://schemas.openxmlformats.org/drawingml/2006/main" noGrp="1"/>
          </p:cNvSpPr>
          <p:nvPr/>
        </p:nvSpPr>
        <p:spPr>
          <a:xfrm xmlns:a="http://schemas.openxmlformats.org/drawingml/2006/main">
            <a:off x="11182350" y="638175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B6B7C"/>
                </a:solidFill>
                <a:latin typeface="DejaVu Sans"/>
                <a:ea typeface="DejaVu Sans"/>
                <a:cs typeface="DejaVu Sans"/>
              </a:defRPr>
            </a:defPPr>
          </a:lstStyle>
          <a:p xmlns:a="http://schemas.openxmlformats.org/drawingml/2006/main">
            <a:pPr>
              <a:defRPr sz="1425" b="0">
                <a:solidFill>
                  <a:srgbClr val="5B6B7C"/>
                </a:solidFill>
                <a:latin typeface="DejaVu Sans"/>
                <a:ea typeface="DejaVu Sans"/>
                <a:cs typeface="DejaVu Sans"/>
              </a:defRPr>
            </a:pPr>
            <a:r>
              <a:rPr sz="1425" b="0">
                <a:solidFill>
                  <a:srgbClr val="5B6B7C"/>
                </a:solidFill>
                <a:latin typeface="DejaVu Sans"/>
                <a:ea typeface="DejaVu Sans"/>
                <a:cs typeface="DejaVu Sans"/>
              </a:rPr>
              <a:t>9</a:t>
            </a:r>
          </a:p>
        </p:txBody>
      </p:sp>
      <p:graphicFrame>
        <p:nvGraphicFramePr>
          <p:cNvPr id="5" name="">
            <a:extLst xmlns:a="http://schemas.openxmlformats.org/drawingml/2006/main">
              <a:ext uri="{FF2B5EF4-FFF2-40B4-BE49-F238E27FC236}">
                <a16:creationId xmlns:a16="http://schemas.microsoft.com/office/drawing/2014/main" id="{AE6EEB4E-B67A-4162-9B55-29464F4E0A1F}"/>
              </a:ext>
            </a:extLst>
          </p:cNvPr>
          <p:cNvGraphicFramePr/>
          <p:nvPr/>
        </p:nvGraphicFramePr>
        <p:xfrm>
          <a:off xmlns:a="http://schemas.openxmlformats.org/drawingml/2006/main" x="628650" y="1914525"/>
          <a:ext xmlns:a="http://schemas.openxmlformats.org/drawingml/2006/main" cx="10896600" cy="3638550"/>
        </p:xfrm>
        <a:graphic xmlns:a="http://schemas.openxmlformats.org/drawingml/2006/main">
          <a:graphicData uri="http://schemas.openxmlformats.org/drawingml/2006/table">
            <a:tbl>
              <a:tblPr/>
              <a:tblGrid>
                <a:gridCol w="2762250"/>
                <a:gridCol w="8134350"/>
              </a:tblGrid>
              <a:tr h="606425">
                <a:tc>
                  <a:txBody>
                    <a:bodyPr/>
                    <a:lstStyle/>
                    <a:p>
                      <a:r>
                        <a:rPr sz="1875" b="1">
                          <a:solidFill>
                            <a:srgbClr val="FFFFFF"/>
                          </a:solidFill>
                          <a:latin typeface="DejaVu Sans"/>
                          <a:ea typeface="DejaVu Sans"/>
                          <a:cs typeface="DejaVu Sans"/>
                        </a:rPr>
                        <a:t>Stage</a:t>
                      </a:r>
                    </a:p>
                  </a:txBody>
                  <a:tcPr marL="133350" marR="133350" marT="95250" marB="95250">
                    <a:solidFill>
                      <a:srgbClr val="172D44"/>
                    </a:solidFill>
                  </a:tcPr>
                </a:tc>
                <a:tc>
                  <a:txBody>
                    <a:bodyPr/>
                    <a:lstStyle/>
                    <a:p>
                      <a:r>
                        <a:rPr sz="1875" b="1">
                          <a:solidFill>
                            <a:srgbClr val="FFFFFF"/>
                          </a:solidFill>
                          <a:latin typeface="DejaVu Sans"/>
                          <a:ea typeface="DejaVu Sans"/>
                          <a:cs typeface="DejaVu Sans"/>
                        </a:rPr>
                        <a:t>Protocol</a:t>
                      </a:r>
                    </a:p>
                  </a:txBody>
                  <a:tcPr marL="133350" marR="133350" marT="95250" marB="95250">
                    <a:solidFill>
                      <a:srgbClr val="172D44"/>
                    </a:solidFill>
                  </a:tcPr>
                </a:tc>
              </a:tr>
              <a:tr h="606425">
                <a:tc>
                  <a:txBody>
                    <a:bodyPr/>
                    <a:lstStyle/>
                    <a:p>
                      <a:r>
                        <a:rPr sz="1875">
                          <a:solidFill>
                            <a:srgbClr val="263A4E"/>
                          </a:solidFill>
                          <a:latin typeface="DejaVu Sans"/>
                          <a:ea typeface="DejaVu Sans"/>
                          <a:cs typeface="DejaVu Sans"/>
                        </a:rPr>
                        <a:t>Training</a:t>
                      </a:r>
                    </a:p>
                  </a:txBody>
                  <a:tcPr marL="133350" marR="133350" marT="95250" marB="95250">
                    <a:solidFill>
                      <a:srgbClr val="FFFFFF"/>
                    </a:solidFill>
                  </a:tcPr>
                </a:tc>
                <a:tc>
                  <a:txBody>
                    <a:bodyPr/>
                    <a:lstStyle/>
                    <a:p>
                      <a:r>
                        <a:rPr sz="1875">
                          <a:solidFill>
                            <a:srgbClr val="263A4E"/>
                          </a:solidFill>
                          <a:latin typeface="DejaVu Sans"/>
                          <a:ea typeface="DejaVu Sans"/>
                          <a:cs typeface="DejaVu Sans"/>
                        </a:rPr>
                        <a:t>10 seeds × 50,000 decisions</a:t>
                      </a:r>
                    </a:p>
                  </a:txBody>
                  <a:tcPr marL="133350" marR="133350" marT="95250" marB="95250">
                    <a:solidFill>
                      <a:srgbClr val="FFFFFF"/>
                    </a:solidFill>
                  </a:tcPr>
                </a:tc>
              </a:tr>
              <a:tr h="606425">
                <a:tc>
                  <a:txBody>
                    <a:bodyPr/>
                    <a:lstStyle/>
                    <a:p>
                      <a:r>
                        <a:rPr sz="1875">
                          <a:solidFill>
                            <a:srgbClr val="263A4E"/>
                          </a:solidFill>
                          <a:latin typeface="DejaVu Sans"/>
                          <a:ea typeface="DejaVu Sans"/>
                          <a:cs typeface="DejaVu Sans"/>
                        </a:rPr>
                        <a:t>Validation</a:t>
                      </a:r>
                    </a:p>
                  </a:txBody>
                  <a:tcPr marL="133350" marR="133350" marT="95250" marB="95250">
                    <a:solidFill>
                      <a:srgbClr val="FFFFFF"/>
                    </a:solidFill>
                  </a:tcPr>
                </a:tc>
                <a:tc>
                  <a:txBody>
                    <a:bodyPr/>
                    <a:lstStyle/>
                    <a:p>
                      <a:r>
                        <a:rPr sz="1875">
                          <a:solidFill>
                            <a:srgbClr val="263A4E"/>
                          </a:solidFill>
                          <a:latin typeface="DejaVu Sans"/>
                          <a:ea typeface="DejaVu Sans"/>
                          <a:cs typeface="DejaVu Sans"/>
                        </a:rPr>
                        <a:t>20 traces; tune baselines and select checkpoints</a:t>
                      </a:r>
                    </a:p>
                  </a:txBody>
                  <a:tcPr marL="133350" marR="133350" marT="95250" marB="95250">
                    <a:solidFill>
                      <a:srgbClr val="FFFFFF"/>
                    </a:solidFill>
                  </a:tcPr>
                </a:tc>
              </a:tr>
              <a:tr h="606425">
                <a:tc>
                  <a:txBody>
                    <a:bodyPr/>
                    <a:lstStyle/>
                    <a:p>
                      <a:r>
                        <a:rPr sz="1875">
                          <a:solidFill>
                            <a:srgbClr val="263A4E"/>
                          </a:solidFill>
                          <a:latin typeface="DejaVu Sans"/>
                          <a:ea typeface="DejaVu Sans"/>
                          <a:cs typeface="DejaVu Sans"/>
                        </a:rPr>
                        <a:t>Testing</a:t>
                      </a:r>
                    </a:p>
                  </a:txBody>
                  <a:tcPr marL="133350" marR="133350" marT="95250" marB="95250">
                    <a:solidFill>
                      <a:srgbClr val="FFFFFF"/>
                    </a:solidFill>
                  </a:tcPr>
                </a:tc>
                <a:tc>
                  <a:txBody>
                    <a:bodyPr/>
                    <a:lstStyle/>
                    <a:p>
                      <a:r>
                        <a:rPr sz="1875">
                          <a:solidFill>
                            <a:srgbClr val="263A4E"/>
                          </a:solidFill>
                          <a:latin typeface="DejaVu Sans"/>
                          <a:ea typeface="DejaVu Sans"/>
                          <a:cs typeface="DejaVu Sans"/>
                        </a:rPr>
                        <a:t>30 held-out traces: 10 per workload class</a:t>
                      </a:r>
                    </a:p>
                  </a:txBody>
                  <a:tcPr marL="133350" marR="133350" marT="95250" marB="95250">
                    <a:solidFill>
                      <a:srgbClr val="FFFFFF"/>
                    </a:solidFill>
                  </a:tcPr>
                </a:tc>
              </a:tr>
              <a:tr h="606425">
                <a:tc>
                  <a:txBody>
                    <a:bodyPr/>
                    <a:lstStyle/>
                    <a:p>
                      <a:r>
                        <a:rPr sz="1875">
                          <a:solidFill>
                            <a:srgbClr val="263A4E"/>
                          </a:solidFill>
                          <a:latin typeface="DejaVu Sans"/>
                          <a:ea typeface="DejaVu Sans"/>
                          <a:cs typeface="DejaVu Sans"/>
                        </a:rPr>
                        <a:t>Baselines</a:t>
                      </a:r>
                    </a:p>
                  </a:txBody>
                  <a:tcPr marL="133350" marR="133350" marT="95250" marB="95250">
                    <a:solidFill>
                      <a:srgbClr val="FFFFFF"/>
                    </a:solidFill>
                  </a:tcPr>
                </a:tc>
                <a:tc>
                  <a:txBody>
                    <a:bodyPr/>
                    <a:lstStyle/>
                    <a:p>
                      <a:r>
                        <a:rPr sz="1875">
                          <a:solidFill>
                            <a:srgbClr val="263A4E"/>
                          </a:solidFill>
                          <a:latin typeface="DejaVu Sans"/>
                          <a:ea typeface="DejaVu Sans"/>
                          <a:cs typeface="DejaVu Sans"/>
                        </a:rPr>
                        <a:t>Fixed target 8; threshold upper/lower 0.6/0.2</a:t>
                      </a:r>
                    </a:p>
                  </a:txBody>
                  <a:tcPr marL="133350" marR="133350" marT="95250" marB="95250">
                    <a:solidFill>
                      <a:srgbClr val="FFFFFF"/>
                    </a:solidFill>
                  </a:tcPr>
                </a:tc>
              </a:tr>
              <a:tr h="606425">
                <a:tc>
                  <a:txBody>
                    <a:bodyPr/>
                    <a:lstStyle/>
                    <a:p>
                      <a:r>
                        <a:rPr sz="1875">
                          <a:solidFill>
                            <a:srgbClr val="263A4E"/>
                          </a:solidFill>
                          <a:latin typeface="DejaVu Sans"/>
                          <a:ea typeface="DejaVu Sans"/>
                          <a:cs typeface="DejaVu Sans"/>
                        </a:rPr>
                        <a:t>Fair comparison</a:t>
                      </a:r>
                    </a:p>
                  </a:txBody>
                  <a:tcPr marL="133350" marR="133350" marT="95250" marB="95250">
                    <a:solidFill>
                      <a:srgbClr val="FFFFFF"/>
                    </a:solidFill>
                  </a:tcPr>
                </a:tc>
                <a:tc>
                  <a:txBody>
                    <a:bodyPr/>
                    <a:lstStyle/>
                    <a:p>
                      <a:r>
                        <a:rPr sz="1875">
                          <a:solidFill>
                            <a:srgbClr val="263A4E"/>
                          </a:solidFill>
                          <a:latin typeface="DejaVu Sans"/>
                          <a:ea typeface="DejaVu Sans"/>
                          <a:cs typeface="DejaVu Sans"/>
                        </a:rPr>
                        <a:t>Same arrivals; 2 initial replicas; same startup delay</a:t>
                      </a:r>
                    </a:p>
                  </a:txBody>
                  <a:tcPr marL="133350" marR="133350" marT="95250" marB="9525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9DB8F64-4E8E-46EA-9BB6-B972AA867CA5}"/>
              </a:ext>
            </a:extLst>
          </p:cNvPr>
          <p:cNvSpPr>
            <a:spLocks xmlns:a="http://schemas.openxmlformats.org/drawingml/2006/main" noGrp="1"/>
          </p:cNvSpPr>
          <p:nvPr/>
        </p:nvSpPr>
        <p:spPr>
          <a:xfrm xmlns:a="http://schemas.openxmlformats.org/drawingml/2006/main">
            <a:off x="628650" y="5781675"/>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B6B7C"/>
                </a:solidFill>
                <a:latin typeface="DejaVu Sans"/>
                <a:ea typeface="DejaVu Sans"/>
                <a:cs typeface="DejaVu Sans"/>
              </a:defRPr>
            </a:defPPr>
          </a:lstStyle>
          <a:p xmlns:a="http://schemas.openxmlformats.org/drawingml/2006/main">
            <a:pPr>
              <a:defRPr sz="1800" b="0">
                <a:solidFill>
                  <a:srgbClr val="5B6B7C"/>
                </a:solidFill>
                <a:latin typeface="DejaVu Sans"/>
                <a:ea typeface="DejaVu Sans"/>
                <a:cs typeface="DejaVu Sans"/>
              </a:defRPr>
            </a:pPr>
            <a:r>
              <a:rPr sz="1800" b="0">
                <a:solidFill>
                  <a:srgbClr val="5B6B7C"/>
                </a:solidFill>
                <a:latin typeface="DejaVu Sans"/>
                <a:ea typeface="DejaVu Sans"/>
                <a:cs typeface="DejaVu Sans"/>
              </a:rPr>
              <a:t>PPO: 10 policies × 30 common traces. 95% CIs across seeds.</a:t>
            </a:r>
          </a:p>
        </p:txBody>
      </p:sp>
    </p:spTree>
    <p:extLst>
      <p:ext uri="{BB962C8B-B14F-4D97-AF65-F5344CB8AC3E}">
        <p14:creationId xmlns:p14="http://schemas.microsoft.com/office/powerpoint/2010/main" val="70929871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F5E9558-1348-49DB-B6B3-8FD462C32CD3}"/>
              </a:ext>
            </a:extLst>
          </p:cNvPr>
          <p:cNvSpPr>
            <a:spLocks xmlns:a="http://schemas.openxmlformats.org/drawingml/2006/main" noGrp="1"/>
          </p:cNvSpPr>
          <p:nvPr/>
        </p:nvSpPr>
        <p:spPr>
          <a:xfrm xmlns:a="http://schemas.openxmlformats.org/drawingml/2006/main">
            <a:off x="609600" y="457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44"/>
                </a:solidFill>
                <a:latin typeface="DejaVu Sans"/>
                <a:ea typeface="DejaVu Sans"/>
                <a:cs typeface="DejaVu Sans"/>
              </a:defRPr>
            </a:defPPr>
          </a:lstStyle>
          <a:p xmlns:a="http://schemas.openxmlformats.org/drawingml/2006/main">
            <a:pPr>
              <a:defRPr sz="3150" b="1">
                <a:solidFill>
                  <a:srgbClr val="172D44"/>
                </a:solidFill>
                <a:latin typeface="DejaVu Sans"/>
                <a:ea typeface="DejaVu Sans"/>
                <a:cs typeface="DejaVu Sans"/>
              </a:defRPr>
            </a:pPr>
            <a:r>
              <a:rPr sz="3150" b="1">
                <a:solidFill>
                  <a:srgbClr val="172D44"/>
                </a:solidFill>
                <a:latin typeface="DejaVu Sans"/>
                <a:ea typeface="DejaVu Sans"/>
                <a:cs typeface="DejaVu Sans"/>
              </a:rPr>
              <a:t>Training improved, but runs differed</a:t>
            </a:r>
          </a:p>
        </p:txBody>
      </p:sp>
      <p:sp>
        <p:nvSpPr>
          <p:cNvPr id="2" name="">
            <a:extLst xmlns:a="http://schemas.openxmlformats.org/drawingml/2006/main">
              <a:ext uri="{FF2B5EF4-FFF2-40B4-BE49-F238E27FC236}">
                <a16:creationId xmlns:a16="http://schemas.microsoft.com/office/drawing/2014/main" id="{FFFC883C-BD85-4A39-AA2C-08814FF1098E}"/>
              </a:ext>
            </a:extLst>
          </p:cNvPr>
          <p:cNvSpPr>
            <a:spLocks xmlns:a="http://schemas.openxmlformats.org/drawingml/2006/main" noGrp="1"/>
          </p:cNvSpPr>
          <p:nvPr/>
        </p:nvSpPr>
        <p:spPr>
          <a:xfrm xmlns:a="http://schemas.openxmlformats.org/drawingml/2006/main">
            <a:off x="62865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B6B7C"/>
                </a:solidFill>
                <a:latin typeface="DejaVu Sans"/>
                <a:ea typeface="DejaVu Sans"/>
                <a:cs typeface="DejaVu Sans"/>
              </a:defRPr>
            </a:defPPr>
          </a:lstStyle>
          <a:p xmlns:a="http://schemas.openxmlformats.org/drawingml/2006/main">
            <a:pPr>
              <a:defRPr sz="1875" b="0">
                <a:solidFill>
                  <a:srgbClr val="5B6B7C"/>
                </a:solidFill>
                <a:latin typeface="DejaVu Sans"/>
                <a:ea typeface="DejaVu Sans"/>
                <a:cs typeface="DejaVu Sans"/>
              </a:defRPr>
            </a:pPr>
            <a:r>
              <a:rPr sz="1875" b="0">
                <a:solidFill>
                  <a:srgbClr val="5B6B7C"/>
                </a:solidFill>
                <a:latin typeface="DejaVu Sans"/>
                <a:ea typeface="DejaVu Sans"/>
                <a:cs typeface="DejaVu Sans"/>
              </a:rPr>
              <a:t>Mean return over the latest 20 training episodes; dashed lines are the 95% CI</a:t>
            </a:r>
          </a:p>
        </p:txBody>
      </p:sp>
      <p:sp>
        <p:nvSpPr>
          <p:cNvPr id="3" name="">
            <a:extLst xmlns:a="http://schemas.openxmlformats.org/drawingml/2006/main">
              <a:ext uri="{FF2B5EF4-FFF2-40B4-BE49-F238E27FC236}">
                <a16:creationId xmlns:a16="http://schemas.microsoft.com/office/drawing/2014/main" id="{C2B4A5F6-BC67-4B89-8019-55C961292FAB}"/>
              </a:ext>
            </a:extLst>
          </p:cNvPr>
          <p:cNvSpPr>
            <a:spLocks xmlns:a="http://schemas.openxmlformats.org/drawingml/2006/main" noGrp="1"/>
          </p:cNvSpPr>
          <p:nvPr/>
        </p:nvSpPr>
        <p:spPr>
          <a:xfrm xmlns:a="http://schemas.openxmlformats.org/drawingml/2006/main">
            <a:off x="62865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B6B7C"/>
                </a:solidFill>
                <a:latin typeface="DejaVu Sans"/>
                <a:ea typeface="DejaVu Sans"/>
                <a:cs typeface="DejaVu Sans"/>
              </a:defRPr>
            </a:defPPr>
          </a:lstStyle>
          <a:p xmlns:a="http://schemas.openxmlformats.org/drawingml/2006/main">
            <a:pPr>
              <a:defRPr sz="1200" b="0">
                <a:solidFill>
                  <a:srgbClr val="5B6B7C"/>
                </a:solidFill>
                <a:latin typeface="DejaVu Sans"/>
                <a:ea typeface="DejaVu Sans"/>
                <a:cs typeface="DejaVu Sans"/>
              </a:defRPr>
            </a:pPr>
            <a:r>
              <a:rPr sz="1200" b="0">
                <a:solidFill>
                  <a:srgbClr val="5B6B7C"/>
                </a:solidFill>
                <a:latin typeface="DejaVu Sans"/>
                <a:ea typeface="DejaVu Sans"/>
                <a:cs typeface="DejaVu Sans"/>
              </a:rPr>
              <a:t>SIMULATED API AUTOSCALING • PART 2</a:t>
            </a:r>
          </a:p>
        </p:txBody>
      </p:sp>
      <p:sp>
        <p:nvSpPr>
          <p:cNvPr id="4" name="">
            <a:extLst xmlns:a="http://schemas.openxmlformats.org/drawingml/2006/main">
              <a:ext uri="{FF2B5EF4-FFF2-40B4-BE49-F238E27FC236}">
                <a16:creationId xmlns:a16="http://schemas.microsoft.com/office/drawing/2014/main" id="{48B8AA12-0D8A-4229-A594-C9944F273771}"/>
              </a:ext>
            </a:extLst>
          </p:cNvPr>
          <p:cNvSpPr>
            <a:spLocks xmlns:a="http://schemas.openxmlformats.org/drawingml/2006/main" noGrp="1"/>
          </p:cNvSpPr>
          <p:nvPr/>
        </p:nvSpPr>
        <p:spPr>
          <a:xfrm xmlns:a="http://schemas.openxmlformats.org/drawingml/2006/main">
            <a:off x="11182350" y="638175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B6B7C"/>
                </a:solidFill>
                <a:latin typeface="DejaVu Sans"/>
                <a:ea typeface="DejaVu Sans"/>
                <a:cs typeface="DejaVu Sans"/>
              </a:defRPr>
            </a:defPPr>
          </a:lstStyle>
          <a:p xmlns:a="http://schemas.openxmlformats.org/drawingml/2006/main">
            <a:pPr>
              <a:defRPr sz="1425" b="0">
                <a:solidFill>
                  <a:srgbClr val="5B6B7C"/>
                </a:solidFill>
                <a:latin typeface="DejaVu Sans"/>
                <a:ea typeface="DejaVu Sans"/>
                <a:cs typeface="DejaVu Sans"/>
              </a:defRPr>
            </a:pPr>
            <a:r>
              <a:rPr sz="1425" b="0">
                <a:solidFill>
                  <a:srgbClr val="5B6B7C"/>
                </a:solidFill>
                <a:latin typeface="DejaVu Sans"/>
                <a:ea typeface="DejaVu Sans"/>
                <a:cs typeface="DejaVu Sans"/>
              </a:rPr>
              <a:t>10</a:t>
            </a:r>
          </a:p>
        </p:txBody>
      </p:sp>
      <p:graphicFrame>
        <p:nvGraphicFramePr>
          <p:cNvPr id="5" name="Chart">
            <a:extLst xmlns:a="http://schemas.openxmlformats.org/drawingml/2006/main">
              <a:ext uri="{FF2B5EF4-FFF2-40B4-BE49-F238E27FC236}">
                <a16:creationId xmlns:a16="http://schemas.microsoft.com/office/drawing/2014/main" id="{A5AE8695-3FE3-4280-8608-BC5496B73902}"/>
              </a:ext>
            </a:extLst>
          </p:cNvPr>
          <p:cNvGraphicFramePr/>
          <p:nvPr/>
        </p:nvGraphicFramePr>
        <p:xfrm>
          <a:off xmlns:a="http://schemas.openxmlformats.org/drawingml/2006/main" x="628650" y="1914525"/>
          <a:ext xmlns:a="http://schemas.openxmlformats.org/drawingml/2006/main" cx="10906125" cy="3286125"/>
        </p:xfrm>
        <a:graphic xmlns:a="http://schemas.openxmlformats.org/drawingml/2006/main">
          <a:graphicData uri="http://schemas.openxmlformats.org/drawingml/2006/chart">
            <c:chart xmlns:r="http://schemas.openxmlformats.org/officeDocument/2006/relationships" xmlns:c="http://schemas.openxmlformats.org/drawingml/2006/chart" r:id="R19525bc2e3804f1f"/>
          </a:graphicData>
        </a:graphic>
      </p:graphicFrame>
      <p:sp>
        <p:nvSpPr>
          <p:cNvPr id="6" name="">
            <a:extLst xmlns:a="http://schemas.openxmlformats.org/drawingml/2006/main">
              <a:ext uri="{FF2B5EF4-FFF2-40B4-BE49-F238E27FC236}">
                <a16:creationId xmlns:a16="http://schemas.microsoft.com/office/drawing/2014/main" id="{4A8E0406-CF81-4E67-852F-ECFC3428F932}"/>
              </a:ext>
            </a:extLst>
          </p:cNvPr>
          <p:cNvSpPr>
            <a:spLocks xmlns:a="http://schemas.openxmlformats.org/drawingml/2006/main" noGrp="1"/>
          </p:cNvSpPr>
          <p:nvPr/>
        </p:nvSpPr>
        <p:spPr>
          <a:xfrm xmlns:a="http://schemas.openxmlformats.org/drawingml/2006/main">
            <a:off x="628650" y="5476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DC7841"/>
                </a:solidFill>
                <a:latin typeface="DejaVu Sans"/>
                <a:ea typeface="DejaVu Sans"/>
                <a:cs typeface="DejaVu Sans"/>
              </a:defRPr>
            </a:defPPr>
          </a:lstStyle>
          <a:p xmlns:a="http://schemas.openxmlformats.org/drawingml/2006/main">
            <a:pPr>
              <a:defRPr sz="2100" b="1">
                <a:solidFill>
                  <a:srgbClr val="DC7841"/>
                </a:solidFill>
                <a:latin typeface="DejaVu Sans"/>
                <a:ea typeface="DejaVu Sans"/>
                <a:cs typeface="DejaVu Sans"/>
              </a:defRPr>
            </a:pPr>
            <a:r>
              <a:rPr sz="2100" b="1">
                <a:solidFill>
                  <a:srgbClr val="DC7841"/>
                </a:solidFill>
                <a:latin typeface="DejaVu Sans"/>
                <a:ea typeface="DejaVu Sans"/>
                <a:cs typeface="DejaVu Sans"/>
              </a:rPr>
              <a:t>Improved training return does not establish test success.</a:t>
            </a:r>
          </a:p>
        </p:txBody>
      </p:sp>
      <p:sp>
        <p:nvSpPr>
          <p:cNvPr id="7" name="">
            <a:extLst xmlns:a="http://schemas.openxmlformats.org/drawingml/2006/main">
              <a:ext uri="{FF2B5EF4-FFF2-40B4-BE49-F238E27FC236}">
                <a16:creationId xmlns:a16="http://schemas.microsoft.com/office/drawing/2014/main" id="{CE64199A-A205-4D2C-B48A-595A7D8A4434}"/>
              </a:ext>
            </a:extLst>
          </p:cNvPr>
          <p:cNvSpPr>
            <a:spLocks xmlns:a="http://schemas.openxmlformats.org/drawingml/2006/main" noGrp="1"/>
          </p:cNvSpPr>
          <p:nvPr/>
        </p:nvSpPr>
        <p:spPr>
          <a:xfrm xmlns:a="http://schemas.openxmlformats.org/drawingml/2006/main">
            <a:off x="628650" y="591502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B6B7C"/>
                </a:solidFill>
                <a:latin typeface="DejaVu Sans"/>
                <a:ea typeface="DejaVu Sans"/>
                <a:cs typeface="DejaVu Sans"/>
              </a:defRPr>
            </a:defPPr>
          </a:lstStyle>
          <a:p xmlns:a="http://schemas.openxmlformats.org/drawingml/2006/main">
            <a:pPr>
              <a:defRPr sz="1725" b="0">
                <a:solidFill>
                  <a:srgbClr val="5B6B7C"/>
                </a:solidFill>
                <a:latin typeface="DejaVu Sans"/>
                <a:ea typeface="DejaVu Sans"/>
                <a:cs typeface="DejaVu Sans"/>
              </a:defRPr>
            </a:pPr>
            <a:r>
              <a:rPr sz="1725" b="0">
                <a:solidFill>
                  <a:srgbClr val="5B6B7C"/>
                </a:solidFill>
                <a:latin typeface="DejaVu Sans"/>
                <a:ea typeface="DejaVu Sans"/>
                <a:cs typeface="DejaVu Sans"/>
              </a:rPr>
              <a:t>Greedy validation was already favorable before training.</a:t>
            </a:r>
          </a:p>
        </p:txBody>
      </p:sp>
    </p:spTree>
    <p:extLst>
      <p:ext uri="{BB962C8B-B14F-4D97-AF65-F5344CB8AC3E}">
        <p14:creationId xmlns:p14="http://schemas.microsoft.com/office/powerpoint/2010/main" val="3228781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E5A8816-104D-4FAC-BBD0-0A7B930578D0}"/>
              </a:ext>
            </a:extLst>
          </p:cNvPr>
          <p:cNvSpPr>
            <a:spLocks xmlns:a="http://schemas.openxmlformats.org/drawingml/2006/main" noGrp="1"/>
          </p:cNvSpPr>
          <p:nvPr/>
        </p:nvSpPr>
        <p:spPr>
          <a:xfrm xmlns:a="http://schemas.openxmlformats.org/drawingml/2006/main">
            <a:off x="609600" y="457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44"/>
                </a:solidFill>
                <a:latin typeface="DejaVu Sans"/>
                <a:ea typeface="DejaVu Sans"/>
                <a:cs typeface="DejaVu Sans"/>
              </a:defRPr>
            </a:defPPr>
          </a:lstStyle>
          <a:p xmlns:a="http://schemas.openxmlformats.org/drawingml/2006/main">
            <a:pPr>
              <a:defRPr sz="3150" b="1">
                <a:solidFill>
                  <a:srgbClr val="172D44"/>
                </a:solidFill>
                <a:latin typeface="DejaVu Sans"/>
                <a:ea typeface="DejaVu Sans"/>
                <a:cs typeface="DejaVu Sans"/>
              </a:defRPr>
            </a:pPr>
            <a:r>
              <a:rPr sz="3150" b="1">
                <a:solidFill>
                  <a:srgbClr val="172D44"/>
                </a:solidFill>
                <a:latin typeface="DejaVu Sans"/>
                <a:ea typeface="DejaVu Sans"/>
                <a:cs typeface="DejaVu Sans"/>
              </a:rPr>
              <a:t>Better average service, higher cost</a:t>
            </a:r>
          </a:p>
        </p:txBody>
      </p:sp>
      <p:sp>
        <p:nvSpPr>
          <p:cNvPr id="2" name="">
            <a:extLst xmlns:a="http://schemas.openxmlformats.org/drawingml/2006/main">
              <a:ext uri="{FF2B5EF4-FFF2-40B4-BE49-F238E27FC236}">
                <a16:creationId xmlns:a16="http://schemas.microsoft.com/office/drawing/2014/main" id="{202AB2EF-FBB5-4EF2-B525-2A4E9227EF8A}"/>
              </a:ext>
            </a:extLst>
          </p:cNvPr>
          <p:cNvSpPr>
            <a:spLocks xmlns:a="http://schemas.openxmlformats.org/drawingml/2006/main" noGrp="1"/>
          </p:cNvSpPr>
          <p:nvPr/>
        </p:nvSpPr>
        <p:spPr>
          <a:xfrm xmlns:a="http://schemas.openxmlformats.org/drawingml/2006/main">
            <a:off x="62865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B6B7C"/>
                </a:solidFill>
                <a:latin typeface="DejaVu Sans"/>
                <a:ea typeface="DejaVu Sans"/>
                <a:cs typeface="DejaVu Sans"/>
              </a:defRPr>
            </a:defPPr>
          </a:lstStyle>
          <a:p xmlns:a="http://schemas.openxmlformats.org/drawingml/2006/main">
            <a:pPr>
              <a:defRPr sz="1875" b="0">
                <a:solidFill>
                  <a:srgbClr val="5B6B7C"/>
                </a:solidFill>
                <a:latin typeface="DejaVu Sans"/>
                <a:ea typeface="DejaVu Sans"/>
                <a:cs typeface="DejaVu Sans"/>
              </a:defRPr>
            </a:pPr>
            <a:r>
              <a:rPr sz="1875" b="0">
                <a:solidFill>
                  <a:srgbClr val="5B6B7C"/>
                </a:solidFill>
                <a:latin typeface="DejaVu Sans"/>
                <a:ea typeface="DejaVu Sans"/>
                <a:cs typeface="DejaVu Sans"/>
              </a:rPr>
              <a:t>Average episode metrics across the common test traces</a:t>
            </a:r>
          </a:p>
        </p:txBody>
      </p:sp>
      <p:sp>
        <p:nvSpPr>
          <p:cNvPr id="3" name="">
            <a:extLst xmlns:a="http://schemas.openxmlformats.org/drawingml/2006/main">
              <a:ext uri="{FF2B5EF4-FFF2-40B4-BE49-F238E27FC236}">
                <a16:creationId xmlns:a16="http://schemas.microsoft.com/office/drawing/2014/main" id="{A8E7FDCB-73D1-4FD7-8DC8-EC47EFF72449}"/>
              </a:ext>
            </a:extLst>
          </p:cNvPr>
          <p:cNvSpPr>
            <a:spLocks xmlns:a="http://schemas.openxmlformats.org/drawingml/2006/main" noGrp="1"/>
          </p:cNvSpPr>
          <p:nvPr/>
        </p:nvSpPr>
        <p:spPr>
          <a:xfrm xmlns:a="http://schemas.openxmlformats.org/drawingml/2006/main">
            <a:off x="62865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B6B7C"/>
                </a:solidFill>
                <a:latin typeface="DejaVu Sans"/>
                <a:ea typeface="DejaVu Sans"/>
                <a:cs typeface="DejaVu Sans"/>
              </a:defRPr>
            </a:defPPr>
          </a:lstStyle>
          <a:p xmlns:a="http://schemas.openxmlformats.org/drawingml/2006/main">
            <a:pPr>
              <a:defRPr sz="1200" b="0">
                <a:solidFill>
                  <a:srgbClr val="5B6B7C"/>
                </a:solidFill>
                <a:latin typeface="DejaVu Sans"/>
                <a:ea typeface="DejaVu Sans"/>
                <a:cs typeface="DejaVu Sans"/>
              </a:defRPr>
            </a:pPr>
            <a:r>
              <a:rPr sz="1200" b="0">
                <a:solidFill>
                  <a:srgbClr val="5B6B7C"/>
                </a:solidFill>
                <a:latin typeface="DejaVu Sans"/>
                <a:ea typeface="DejaVu Sans"/>
                <a:cs typeface="DejaVu Sans"/>
              </a:rPr>
              <a:t>SIMULATED API AUTOSCALING • PART 2</a:t>
            </a:r>
          </a:p>
        </p:txBody>
      </p:sp>
      <p:sp>
        <p:nvSpPr>
          <p:cNvPr id="4" name="">
            <a:extLst xmlns:a="http://schemas.openxmlformats.org/drawingml/2006/main">
              <a:ext uri="{FF2B5EF4-FFF2-40B4-BE49-F238E27FC236}">
                <a16:creationId xmlns:a16="http://schemas.microsoft.com/office/drawing/2014/main" id="{70A8902A-1451-4FCE-BD81-CF2B4CD33551}"/>
              </a:ext>
            </a:extLst>
          </p:cNvPr>
          <p:cNvSpPr>
            <a:spLocks xmlns:a="http://schemas.openxmlformats.org/drawingml/2006/main" noGrp="1"/>
          </p:cNvSpPr>
          <p:nvPr/>
        </p:nvSpPr>
        <p:spPr>
          <a:xfrm xmlns:a="http://schemas.openxmlformats.org/drawingml/2006/main">
            <a:off x="11182350" y="638175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B6B7C"/>
                </a:solidFill>
                <a:latin typeface="DejaVu Sans"/>
                <a:ea typeface="DejaVu Sans"/>
                <a:cs typeface="DejaVu Sans"/>
              </a:defRPr>
            </a:defPPr>
          </a:lstStyle>
          <a:p xmlns:a="http://schemas.openxmlformats.org/drawingml/2006/main">
            <a:pPr>
              <a:defRPr sz="1425" b="0">
                <a:solidFill>
                  <a:srgbClr val="5B6B7C"/>
                </a:solidFill>
                <a:latin typeface="DejaVu Sans"/>
                <a:ea typeface="DejaVu Sans"/>
                <a:cs typeface="DejaVu Sans"/>
              </a:defRPr>
            </a:pPr>
            <a:r>
              <a:rPr sz="1425" b="0">
                <a:solidFill>
                  <a:srgbClr val="5B6B7C"/>
                </a:solidFill>
                <a:latin typeface="DejaVu Sans"/>
                <a:ea typeface="DejaVu Sans"/>
                <a:cs typeface="DejaVu Sans"/>
              </a:rPr>
              <a:t>11</a:t>
            </a:r>
          </a:p>
        </p:txBody>
      </p:sp>
      <p:graphicFrame>
        <p:nvGraphicFramePr>
          <p:cNvPr id="5" name="Chart">
            <a:extLst xmlns:a="http://schemas.openxmlformats.org/drawingml/2006/main">
              <a:ext uri="{FF2B5EF4-FFF2-40B4-BE49-F238E27FC236}">
                <a16:creationId xmlns:a16="http://schemas.microsoft.com/office/drawing/2014/main" id="{BB58B0CF-4B2C-4933-99A1-F0BD503EDF00}"/>
              </a:ext>
            </a:extLst>
          </p:cNvPr>
          <p:cNvGraphicFramePr/>
          <p:nvPr/>
        </p:nvGraphicFramePr>
        <p:xfrm>
          <a:off xmlns:a="http://schemas.openxmlformats.org/drawingml/2006/main" x="628650" y="1924050"/>
          <a:ext xmlns:a="http://schemas.openxmlformats.org/drawingml/2006/main" cx="5248275" cy="3171825"/>
        </p:xfrm>
        <a:graphic xmlns:a="http://schemas.openxmlformats.org/drawingml/2006/main">
          <a:graphicData uri="http://schemas.openxmlformats.org/drawingml/2006/chart">
            <c:chart xmlns:r="http://schemas.openxmlformats.org/officeDocument/2006/relationships" xmlns:c="http://schemas.openxmlformats.org/drawingml/2006/chart" r:id="Re33e3304bb864a1b"/>
          </a:graphicData>
        </a:graphic>
      </p:graphicFrame>
      <p:graphicFrame>
        <p:nvGraphicFramePr>
          <p:cNvPr id="6" name="Chart">
            <a:extLst xmlns:a="http://schemas.openxmlformats.org/drawingml/2006/main">
              <a:ext uri="{FF2B5EF4-FFF2-40B4-BE49-F238E27FC236}">
                <a16:creationId xmlns:a16="http://schemas.microsoft.com/office/drawing/2014/main" id="{363F0AF6-F900-49BB-82E1-77B2D0DA40F5}"/>
              </a:ext>
            </a:extLst>
          </p:cNvPr>
          <p:cNvGraphicFramePr/>
          <p:nvPr/>
        </p:nvGraphicFramePr>
        <p:xfrm>
          <a:off xmlns:a="http://schemas.openxmlformats.org/drawingml/2006/main" x="6134100" y="1924050"/>
          <a:ext xmlns:a="http://schemas.openxmlformats.org/drawingml/2006/main" cx="5248275" cy="3171825"/>
        </p:xfrm>
        <a:graphic xmlns:a="http://schemas.openxmlformats.org/drawingml/2006/main">
          <a:graphicData uri="http://schemas.openxmlformats.org/drawingml/2006/chart">
            <c:chart xmlns:r="http://schemas.openxmlformats.org/officeDocument/2006/relationships" xmlns:c="http://schemas.openxmlformats.org/drawingml/2006/chart" r:id="R3326cb004b684c1f"/>
          </a:graphicData>
        </a:graphic>
      </p:graphicFrame>
      <p:sp>
        <p:nvSpPr>
          <p:cNvPr id="7" name="">
            <a:extLst xmlns:a="http://schemas.openxmlformats.org/drawingml/2006/main">
              <a:ext uri="{FF2B5EF4-FFF2-40B4-BE49-F238E27FC236}">
                <a16:creationId xmlns:a16="http://schemas.microsoft.com/office/drawing/2014/main" id="{08D7C428-71A1-4AF7-A6E5-3D94650F12FA}"/>
              </a:ext>
            </a:extLst>
          </p:cNvPr>
          <p:cNvSpPr>
            <a:spLocks xmlns:a="http://schemas.openxmlformats.org/drawingml/2006/main" noGrp="1"/>
          </p:cNvSpPr>
          <p:nvPr/>
        </p:nvSpPr>
        <p:spPr>
          <a:xfrm xmlns:a="http://schemas.openxmlformats.org/drawingml/2006/main">
            <a:off x="628650" y="524827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DC7841"/>
                </a:solidFill>
                <a:latin typeface="DejaVu Sans"/>
                <a:ea typeface="DejaVu Sans"/>
                <a:cs typeface="DejaVu Sans"/>
              </a:defRPr>
            </a:defPPr>
          </a:lstStyle>
          <a:p xmlns:a="http://schemas.openxmlformats.org/drawingml/2006/main">
            <a:pPr>
              <a:defRPr sz="2175" b="1">
                <a:solidFill>
                  <a:srgbClr val="DC7841"/>
                </a:solidFill>
                <a:latin typeface="DejaVu Sans"/>
                <a:ea typeface="DejaVu Sans"/>
                <a:cs typeface="DejaVu Sans"/>
              </a:defRPr>
            </a:pPr>
            <a:r>
              <a:rPr sz="2175" b="1">
                <a:solidFill>
                  <a:srgbClr val="DC7841"/>
                </a:solidFill>
                <a:latin typeface="DejaVu Sans"/>
                <a:ea typeface="DejaVu Sans"/>
                <a:cs typeface="DejaVu Sans"/>
              </a:rPr>
              <a:t>PPO used 23.85% more capacity than fixed. Cost goal failed.</a:t>
            </a:r>
          </a:p>
        </p:txBody>
      </p:sp>
      <p:sp>
        <p:nvSpPr>
          <p:cNvPr id="8" name="">
            <a:extLst xmlns:a="http://schemas.openxmlformats.org/drawingml/2006/main">
              <a:ext uri="{FF2B5EF4-FFF2-40B4-BE49-F238E27FC236}">
                <a16:creationId xmlns:a16="http://schemas.microsoft.com/office/drawing/2014/main" id="{7B4018CF-36A9-4B75-B6CF-0ECAAA1A810C}"/>
              </a:ext>
            </a:extLst>
          </p:cNvPr>
          <p:cNvSpPr>
            <a:spLocks xmlns:a="http://schemas.openxmlformats.org/drawingml/2006/main" noGrp="1"/>
          </p:cNvSpPr>
          <p:nvPr/>
        </p:nvSpPr>
        <p:spPr>
          <a:xfrm xmlns:a="http://schemas.openxmlformats.org/drawingml/2006/main">
            <a:off x="628650" y="58388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B6B7C"/>
                </a:solidFill>
                <a:latin typeface="DejaVu Sans"/>
                <a:ea typeface="DejaVu Sans"/>
                <a:cs typeface="DejaVu Sans"/>
              </a:defRPr>
            </a:defPPr>
          </a:lstStyle>
          <a:p xmlns:a="http://schemas.openxmlformats.org/drawingml/2006/main">
            <a:pPr>
              <a:defRPr sz="1800" b="0">
                <a:solidFill>
                  <a:srgbClr val="5B6B7C"/>
                </a:solidFill>
                <a:latin typeface="DejaVu Sans"/>
                <a:ea typeface="DejaVu Sans"/>
                <a:cs typeface="DejaVu Sans"/>
              </a:defRPr>
            </a:pPr>
            <a:r>
              <a:rPr sz="1800" b="0">
                <a:solidFill>
                  <a:srgbClr val="5B6B7C"/>
                </a:solidFill>
                <a:latin typeface="DejaVu Sans"/>
                <a:ea typeface="DejaVu Sans"/>
                <a:cs typeface="DejaVu Sans"/>
              </a:rPr>
              <a:t>About 167 invalid actions / 180 decisions: additions at the limit.</a:t>
            </a:r>
          </a:p>
        </p:txBody>
      </p:sp>
    </p:spTree>
    <p:extLst>
      <p:ext uri="{BB962C8B-B14F-4D97-AF65-F5344CB8AC3E}">
        <p14:creationId xmlns:p14="http://schemas.microsoft.com/office/powerpoint/2010/main" val="136801403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3E79AD-DB75-4E9F-BA89-2E2988477895}"/>
              </a:ext>
            </a:extLst>
          </p:cNvPr>
          <p:cNvSpPr>
            <a:spLocks xmlns:a="http://schemas.openxmlformats.org/drawingml/2006/main" noGrp="1"/>
          </p:cNvSpPr>
          <p:nvPr/>
        </p:nvSpPr>
        <p:spPr>
          <a:xfrm xmlns:a="http://schemas.openxmlformats.org/drawingml/2006/main">
            <a:off x="609600" y="457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44"/>
                </a:solidFill>
                <a:latin typeface="DejaVu Sans"/>
                <a:ea typeface="DejaVu Sans"/>
                <a:cs typeface="DejaVu Sans"/>
              </a:defRPr>
            </a:defPPr>
          </a:lstStyle>
          <a:p xmlns:a="http://schemas.openxmlformats.org/drawingml/2006/main">
            <a:pPr>
              <a:defRPr sz="3150" b="1">
                <a:solidFill>
                  <a:srgbClr val="172D44"/>
                </a:solidFill>
                <a:latin typeface="DejaVu Sans"/>
                <a:ea typeface="DejaVu Sans"/>
                <a:cs typeface="DejaVu Sans"/>
              </a:defRPr>
            </a:pPr>
            <a:r>
              <a:rPr sz="3150" b="1">
                <a:solidFill>
                  <a:srgbClr val="172D44"/>
                </a:solidFill>
                <a:latin typeface="DejaVu Sans"/>
                <a:ea typeface="DejaVu Sans"/>
                <a:cs typeface="DejaVu Sans"/>
              </a:rPr>
              <a:t>Workload and seed results matter</a:t>
            </a:r>
          </a:p>
        </p:txBody>
      </p:sp>
      <p:sp>
        <p:nvSpPr>
          <p:cNvPr id="2" name="">
            <a:extLst xmlns:a="http://schemas.openxmlformats.org/drawingml/2006/main">
              <a:ext uri="{FF2B5EF4-FFF2-40B4-BE49-F238E27FC236}">
                <a16:creationId xmlns:a16="http://schemas.microsoft.com/office/drawing/2014/main" id="{5CFA98F6-E4BC-422C-A5C8-10B4870B45A7}"/>
              </a:ext>
            </a:extLst>
          </p:cNvPr>
          <p:cNvSpPr>
            <a:spLocks xmlns:a="http://schemas.openxmlformats.org/drawingml/2006/main" noGrp="1"/>
          </p:cNvSpPr>
          <p:nvPr/>
        </p:nvSpPr>
        <p:spPr>
          <a:xfrm xmlns:a="http://schemas.openxmlformats.org/drawingml/2006/main">
            <a:off x="62865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B6B7C"/>
                </a:solidFill>
                <a:latin typeface="DejaVu Sans"/>
                <a:ea typeface="DejaVu Sans"/>
                <a:cs typeface="DejaVu Sans"/>
              </a:defRPr>
            </a:defPPr>
          </a:lstStyle>
          <a:p xmlns:a="http://schemas.openxmlformats.org/drawingml/2006/main">
            <a:pPr>
              <a:defRPr sz="1875" b="0">
                <a:solidFill>
                  <a:srgbClr val="5B6B7C"/>
                </a:solidFill>
                <a:latin typeface="DejaVu Sans"/>
                <a:ea typeface="DejaVu Sans"/>
                <a:cs typeface="DejaVu Sans"/>
              </a:defRPr>
            </a:pPr>
            <a:r>
              <a:rPr sz="1875" b="0">
                <a:solidFill>
                  <a:srgbClr val="5B6B7C"/>
                </a:solidFill>
                <a:latin typeface="DejaVu Sans"/>
                <a:ea typeface="DejaVu Sans"/>
                <a:cs typeface="DejaVu Sans"/>
              </a:rPr>
              <a:t>The 5% violation limit applies separately to each workload</a:t>
            </a:r>
          </a:p>
        </p:txBody>
      </p:sp>
      <p:sp>
        <p:nvSpPr>
          <p:cNvPr id="3" name="">
            <a:extLst xmlns:a="http://schemas.openxmlformats.org/drawingml/2006/main">
              <a:ext uri="{FF2B5EF4-FFF2-40B4-BE49-F238E27FC236}">
                <a16:creationId xmlns:a16="http://schemas.microsoft.com/office/drawing/2014/main" id="{D4F49B3A-C309-4A24-B56F-E187DC5DC5D6}"/>
              </a:ext>
            </a:extLst>
          </p:cNvPr>
          <p:cNvSpPr>
            <a:spLocks xmlns:a="http://schemas.openxmlformats.org/drawingml/2006/main" noGrp="1"/>
          </p:cNvSpPr>
          <p:nvPr/>
        </p:nvSpPr>
        <p:spPr>
          <a:xfrm xmlns:a="http://schemas.openxmlformats.org/drawingml/2006/main">
            <a:off x="62865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B6B7C"/>
                </a:solidFill>
                <a:latin typeface="DejaVu Sans"/>
                <a:ea typeface="DejaVu Sans"/>
                <a:cs typeface="DejaVu Sans"/>
              </a:defRPr>
            </a:defPPr>
          </a:lstStyle>
          <a:p xmlns:a="http://schemas.openxmlformats.org/drawingml/2006/main">
            <a:pPr>
              <a:defRPr sz="1200" b="0">
                <a:solidFill>
                  <a:srgbClr val="5B6B7C"/>
                </a:solidFill>
                <a:latin typeface="DejaVu Sans"/>
                <a:ea typeface="DejaVu Sans"/>
                <a:cs typeface="DejaVu Sans"/>
              </a:defRPr>
            </a:pPr>
            <a:r>
              <a:rPr sz="1200" b="0">
                <a:solidFill>
                  <a:srgbClr val="5B6B7C"/>
                </a:solidFill>
                <a:latin typeface="DejaVu Sans"/>
                <a:ea typeface="DejaVu Sans"/>
                <a:cs typeface="DejaVu Sans"/>
              </a:rPr>
              <a:t>SIMULATED API AUTOSCALING • PART 2</a:t>
            </a:r>
          </a:p>
        </p:txBody>
      </p:sp>
      <p:sp>
        <p:nvSpPr>
          <p:cNvPr id="4" name="">
            <a:extLst xmlns:a="http://schemas.openxmlformats.org/drawingml/2006/main">
              <a:ext uri="{FF2B5EF4-FFF2-40B4-BE49-F238E27FC236}">
                <a16:creationId xmlns:a16="http://schemas.microsoft.com/office/drawing/2014/main" id="{601AA5D5-A3B8-4B8F-BBC1-59E570CB344E}"/>
              </a:ext>
            </a:extLst>
          </p:cNvPr>
          <p:cNvSpPr>
            <a:spLocks xmlns:a="http://schemas.openxmlformats.org/drawingml/2006/main" noGrp="1"/>
          </p:cNvSpPr>
          <p:nvPr/>
        </p:nvSpPr>
        <p:spPr>
          <a:xfrm xmlns:a="http://schemas.openxmlformats.org/drawingml/2006/main">
            <a:off x="11182350" y="638175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B6B7C"/>
                </a:solidFill>
                <a:latin typeface="DejaVu Sans"/>
                <a:ea typeface="DejaVu Sans"/>
                <a:cs typeface="DejaVu Sans"/>
              </a:defRPr>
            </a:defPPr>
          </a:lstStyle>
          <a:p xmlns:a="http://schemas.openxmlformats.org/drawingml/2006/main">
            <a:pPr>
              <a:defRPr sz="1425" b="0">
                <a:solidFill>
                  <a:srgbClr val="5B6B7C"/>
                </a:solidFill>
                <a:latin typeface="DejaVu Sans"/>
                <a:ea typeface="DejaVu Sans"/>
                <a:cs typeface="DejaVu Sans"/>
              </a:defRPr>
            </a:pPr>
            <a:r>
              <a:rPr sz="1425" b="0">
                <a:solidFill>
                  <a:srgbClr val="5B6B7C"/>
                </a:solidFill>
                <a:latin typeface="DejaVu Sans"/>
                <a:ea typeface="DejaVu Sans"/>
                <a:cs typeface="DejaVu Sans"/>
              </a:rPr>
              <a:t>12</a:t>
            </a:r>
          </a:p>
        </p:txBody>
      </p:sp>
      <p:graphicFrame>
        <p:nvGraphicFramePr>
          <p:cNvPr id="5" name="Chart">
            <a:extLst xmlns:a="http://schemas.openxmlformats.org/drawingml/2006/main">
              <a:ext uri="{FF2B5EF4-FFF2-40B4-BE49-F238E27FC236}">
                <a16:creationId xmlns:a16="http://schemas.microsoft.com/office/drawing/2014/main" id="{59DF2E70-48AD-42A8-BAC8-5009E6013687}"/>
              </a:ext>
            </a:extLst>
          </p:cNvPr>
          <p:cNvGraphicFramePr/>
          <p:nvPr/>
        </p:nvGraphicFramePr>
        <p:xfrm>
          <a:off xmlns:a="http://schemas.openxmlformats.org/drawingml/2006/main" x="628650" y="1914525"/>
          <a:ext xmlns:a="http://schemas.openxmlformats.org/drawingml/2006/main" cx="10906125" cy="3352800"/>
        </p:xfrm>
        <a:graphic xmlns:a="http://schemas.openxmlformats.org/drawingml/2006/main">
          <a:graphicData uri="http://schemas.openxmlformats.org/drawingml/2006/chart">
            <c:chart xmlns:r="http://schemas.openxmlformats.org/officeDocument/2006/relationships" xmlns:c="http://schemas.openxmlformats.org/drawingml/2006/chart" r:id="R10e14271a8904f1e"/>
          </a:graphicData>
        </a:graphic>
      </p:graphicFrame>
      <p:sp>
        <p:nvSpPr>
          <p:cNvPr id="6" name="">
            <a:extLst xmlns:a="http://schemas.openxmlformats.org/drawingml/2006/main">
              <a:ext uri="{FF2B5EF4-FFF2-40B4-BE49-F238E27FC236}">
                <a16:creationId xmlns:a16="http://schemas.microsoft.com/office/drawing/2014/main" id="{FC9E9239-BE21-40F4-9515-20B6E80BA13A}"/>
              </a:ext>
            </a:extLst>
          </p:cNvPr>
          <p:cNvSpPr>
            <a:spLocks xmlns:a="http://schemas.openxmlformats.org/drawingml/2006/main" noGrp="1"/>
          </p:cNvSpPr>
          <p:nvPr/>
        </p:nvSpPr>
        <p:spPr>
          <a:xfrm xmlns:a="http://schemas.openxmlformats.org/drawingml/2006/main">
            <a:off x="628650" y="54578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DC7841"/>
                </a:solidFill>
                <a:latin typeface="DejaVu Sans"/>
                <a:ea typeface="DejaVu Sans"/>
                <a:cs typeface="DejaVu Sans"/>
              </a:defRPr>
            </a:defPPr>
          </a:lstStyle>
          <a:p xmlns:a="http://schemas.openxmlformats.org/drawingml/2006/main">
            <a:pPr>
              <a:defRPr sz="2100" b="1">
                <a:solidFill>
                  <a:srgbClr val="DC7841"/>
                </a:solidFill>
                <a:latin typeface="DejaVu Sans"/>
                <a:ea typeface="DejaVu Sans"/>
                <a:cs typeface="DejaVu Sans"/>
              </a:defRPr>
            </a:pPr>
            <a:r>
              <a:rPr sz="2100" b="1">
                <a:solidFill>
                  <a:srgbClr val="DC7841"/>
                </a:solidFill>
                <a:latin typeface="DejaVu Sans"/>
                <a:ea typeface="DejaVu Sans"/>
                <a:cs typeface="DejaVu Sans"/>
              </a:rPr>
              <a:t>PPO steady: 4.18%, 95% CI [2.05, 6.31] crosses the limit.</a:t>
            </a:r>
          </a:p>
        </p:txBody>
      </p:sp>
      <p:sp>
        <p:nvSpPr>
          <p:cNvPr id="7" name="">
            <a:extLst xmlns:a="http://schemas.openxmlformats.org/drawingml/2006/main">
              <a:ext uri="{FF2B5EF4-FFF2-40B4-BE49-F238E27FC236}">
                <a16:creationId xmlns:a16="http://schemas.microsoft.com/office/drawing/2014/main" id="{95D265E2-7442-412F-85B5-17918CC5B777}"/>
              </a:ext>
            </a:extLst>
          </p:cNvPr>
          <p:cNvSpPr>
            <a:spLocks xmlns:a="http://schemas.openxmlformats.org/drawingml/2006/main" noGrp="1"/>
          </p:cNvSpPr>
          <p:nvPr/>
        </p:nvSpPr>
        <p:spPr>
          <a:xfrm xmlns:a="http://schemas.openxmlformats.org/drawingml/2006/main">
            <a:off x="628650" y="5953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B6B7C"/>
                </a:solidFill>
                <a:latin typeface="DejaVu Sans"/>
                <a:ea typeface="DejaVu Sans"/>
                <a:cs typeface="DejaVu Sans"/>
              </a:defRPr>
            </a:defPPr>
          </a:lstStyle>
          <a:p xmlns:a="http://schemas.openxmlformats.org/drawingml/2006/main">
            <a:pPr>
              <a:defRPr sz="1725" b="0">
                <a:solidFill>
                  <a:srgbClr val="5B6B7C"/>
                </a:solidFill>
                <a:latin typeface="DejaVu Sans"/>
                <a:ea typeface="DejaVu Sans"/>
                <a:cs typeface="DejaVu Sans"/>
              </a:defRPr>
            </a:pPr>
            <a:r>
              <a:rPr sz="1725" b="0">
                <a:solidFill>
                  <a:srgbClr val="5B6B7C"/>
                </a:solidFill>
                <a:latin typeface="DejaVu Sans"/>
                <a:ea typeface="DejaVu Sans"/>
                <a:cs typeface="DejaVu Sans"/>
              </a:rPr>
              <a:t>10 seeds: 1.81–5.11% overall; mean 2.21% [1.47, 2.94].</a:t>
            </a:r>
          </a:p>
        </p:txBody>
      </p:sp>
    </p:spTree>
    <p:extLst>
      <p:ext uri="{BB962C8B-B14F-4D97-AF65-F5344CB8AC3E}">
        <p14:creationId xmlns:p14="http://schemas.microsoft.com/office/powerpoint/2010/main" val="56359187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D2ABE7-E05F-425D-88EE-FDF7E25A373C}"/>
              </a:ext>
            </a:extLst>
          </p:cNvPr>
          <p:cNvSpPr>
            <a:spLocks xmlns:a="http://schemas.openxmlformats.org/drawingml/2006/main" noGrp="1"/>
          </p:cNvSpPr>
          <p:nvPr/>
        </p:nvSpPr>
        <p:spPr>
          <a:xfrm xmlns:a="http://schemas.openxmlformats.org/drawingml/2006/main">
            <a:off x="609600" y="457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44"/>
                </a:solidFill>
                <a:latin typeface="DejaVu Sans"/>
                <a:ea typeface="DejaVu Sans"/>
                <a:cs typeface="DejaVu Sans"/>
              </a:defRPr>
            </a:defPPr>
          </a:lstStyle>
          <a:p xmlns:a="http://schemas.openxmlformats.org/drawingml/2006/main">
            <a:pPr>
              <a:defRPr sz="3150" b="1">
                <a:solidFill>
                  <a:srgbClr val="172D44"/>
                </a:solidFill>
                <a:latin typeface="DejaVu Sans"/>
                <a:ea typeface="DejaVu Sans"/>
                <a:cs typeface="DejaVu Sans"/>
              </a:defRPr>
            </a:pPr>
            <a:r>
              <a:rPr sz="3150" b="1">
                <a:solidFill>
                  <a:srgbClr val="172D44"/>
                </a:solidFill>
                <a:latin typeface="DejaVu Sans"/>
                <a:ea typeface="DejaVu Sans"/>
                <a:cs typeface="DejaVu Sans"/>
              </a:rPr>
              <a:t>Demonstration: actual policy replay</a:t>
            </a:r>
          </a:p>
        </p:txBody>
      </p:sp>
      <p:sp>
        <p:nvSpPr>
          <p:cNvPr id="2" name="">
            <a:extLst xmlns:a="http://schemas.openxmlformats.org/drawingml/2006/main">
              <a:ext uri="{FF2B5EF4-FFF2-40B4-BE49-F238E27FC236}">
                <a16:creationId xmlns:a16="http://schemas.microsoft.com/office/drawing/2014/main" id="{DF2C603E-A683-422F-A391-A4582D0E7D46}"/>
              </a:ext>
            </a:extLst>
          </p:cNvPr>
          <p:cNvSpPr>
            <a:spLocks xmlns:a="http://schemas.openxmlformats.org/drawingml/2006/main" noGrp="1"/>
          </p:cNvSpPr>
          <p:nvPr/>
        </p:nvSpPr>
        <p:spPr>
          <a:xfrm xmlns:a="http://schemas.openxmlformats.org/drawingml/2006/main">
            <a:off x="62865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B6B7C"/>
                </a:solidFill>
                <a:latin typeface="DejaVu Sans"/>
                <a:ea typeface="DejaVu Sans"/>
                <a:cs typeface="DejaVu Sans"/>
              </a:defRPr>
            </a:defPPr>
          </a:lstStyle>
          <a:p xmlns:a="http://schemas.openxmlformats.org/drawingml/2006/main">
            <a:pPr>
              <a:defRPr sz="1875" b="0">
                <a:solidFill>
                  <a:srgbClr val="5B6B7C"/>
                </a:solidFill>
                <a:latin typeface="DejaVu Sans"/>
                <a:ea typeface="DejaVu Sans"/>
                <a:cs typeface="DejaVu Sans"/>
              </a:defRPr>
            </a:pPr>
            <a:r>
              <a:rPr sz="1875" b="0">
                <a:solidFill>
                  <a:srgbClr val="5B6B7C"/>
                </a:solidFill>
                <a:latin typeface="DejaVu Sans"/>
                <a:ea typeface="DejaVu Sans"/>
                <a:cs typeface="DejaVu Sans"/>
              </a:rPr>
              <a:t>Play agent_demo.mp4 with your webcam and narration active</a:t>
            </a:r>
          </a:p>
        </p:txBody>
      </p:sp>
      <p:sp>
        <p:nvSpPr>
          <p:cNvPr id="3" name="">
            <a:extLst xmlns:a="http://schemas.openxmlformats.org/drawingml/2006/main">
              <a:ext uri="{FF2B5EF4-FFF2-40B4-BE49-F238E27FC236}">
                <a16:creationId xmlns:a16="http://schemas.microsoft.com/office/drawing/2014/main" id="{23C2DA6D-06FB-432D-BAE0-DA645CFBE975}"/>
              </a:ext>
            </a:extLst>
          </p:cNvPr>
          <p:cNvSpPr>
            <a:spLocks xmlns:a="http://schemas.openxmlformats.org/drawingml/2006/main" noGrp="1"/>
          </p:cNvSpPr>
          <p:nvPr/>
        </p:nvSpPr>
        <p:spPr>
          <a:xfrm xmlns:a="http://schemas.openxmlformats.org/drawingml/2006/main">
            <a:off x="62865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B6B7C"/>
                </a:solidFill>
                <a:latin typeface="DejaVu Sans"/>
                <a:ea typeface="DejaVu Sans"/>
                <a:cs typeface="DejaVu Sans"/>
              </a:defRPr>
            </a:defPPr>
          </a:lstStyle>
          <a:p xmlns:a="http://schemas.openxmlformats.org/drawingml/2006/main">
            <a:pPr>
              <a:defRPr sz="1200" b="0">
                <a:solidFill>
                  <a:srgbClr val="5B6B7C"/>
                </a:solidFill>
                <a:latin typeface="DejaVu Sans"/>
                <a:ea typeface="DejaVu Sans"/>
                <a:cs typeface="DejaVu Sans"/>
              </a:defRPr>
            </a:pPr>
            <a:r>
              <a:rPr sz="1200" b="0">
                <a:solidFill>
                  <a:srgbClr val="5B6B7C"/>
                </a:solidFill>
                <a:latin typeface="DejaVu Sans"/>
                <a:ea typeface="DejaVu Sans"/>
                <a:cs typeface="DejaVu Sans"/>
              </a:rPr>
              <a:t>SIMULATED API AUTOSCALING • PART 2</a:t>
            </a:r>
          </a:p>
        </p:txBody>
      </p:sp>
      <p:sp>
        <p:nvSpPr>
          <p:cNvPr id="4" name="">
            <a:extLst xmlns:a="http://schemas.openxmlformats.org/drawingml/2006/main">
              <a:ext uri="{FF2B5EF4-FFF2-40B4-BE49-F238E27FC236}">
                <a16:creationId xmlns:a16="http://schemas.microsoft.com/office/drawing/2014/main" id="{7EACE5A0-B420-4389-BAE3-8F78652EB3AE}"/>
              </a:ext>
            </a:extLst>
          </p:cNvPr>
          <p:cNvSpPr>
            <a:spLocks xmlns:a="http://schemas.openxmlformats.org/drawingml/2006/main" noGrp="1"/>
          </p:cNvSpPr>
          <p:nvPr/>
        </p:nvSpPr>
        <p:spPr>
          <a:xfrm xmlns:a="http://schemas.openxmlformats.org/drawingml/2006/main">
            <a:off x="11182350" y="638175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B6B7C"/>
                </a:solidFill>
                <a:latin typeface="DejaVu Sans"/>
                <a:ea typeface="DejaVu Sans"/>
                <a:cs typeface="DejaVu Sans"/>
              </a:defRPr>
            </a:defPPr>
          </a:lstStyle>
          <a:p xmlns:a="http://schemas.openxmlformats.org/drawingml/2006/main">
            <a:pPr>
              <a:defRPr sz="1425" b="0">
                <a:solidFill>
                  <a:srgbClr val="5B6B7C"/>
                </a:solidFill>
                <a:latin typeface="DejaVu Sans"/>
                <a:ea typeface="DejaVu Sans"/>
                <a:cs typeface="DejaVu Sans"/>
              </a:defRPr>
            </a:pPr>
            <a:r>
              <a:rPr sz="1425" b="0">
                <a:solidFill>
                  <a:srgbClr val="5B6B7C"/>
                </a:solidFill>
                <a:latin typeface="DejaVu Sans"/>
                <a:ea typeface="DejaVu Sans"/>
                <a:cs typeface="DejaVu Sans"/>
              </a:rPr>
              <a:t>15</a:t>
            </a:r>
          </a:p>
        </p:txBody>
      </p:sp>
      <p:pic>
        <p:nvPicPr>
          <p:cNvPr id="5" name="">
            <a:extLst xmlns:a="http://schemas.openxmlformats.org/drawingml/2006/main">
              <a:ext uri="{FF2B5EF4-FFF2-40B4-BE49-F238E27FC236}">
                <a16:creationId xmlns:a16="http://schemas.microsoft.com/office/drawing/2014/main" id="{9D15B7EC-A803-4EDD-9078-678BC5890333}"/>
              </a:ext>
            </a:extLst>
          </p:cNvPr>
          <p:cNvPicPr>
            <a:picLocks xmlns:a="http://schemas.openxmlformats.org/drawingml/2006/main" noChangeAspect="1"/>
          </p:cNvPicPr>
          <p:nvPr/>
        </p:nvPicPr>
        <p:blipFill>
          <a:blip xmlns:r="http://schemas.openxmlformats.org/officeDocument/2006/relationships" xmlns:a="http://schemas.openxmlformats.org/drawingml/2006/main" r:embed="R1ff7bb6a06f44229"/>
          <a:stretch xmlns:a="http://schemas.openxmlformats.org/drawingml/2006/main"/>
        </p:blipFill>
        <p:spPr>
          <a:xfrm xmlns:a="http://schemas.openxmlformats.org/drawingml/2006/main">
            <a:off x="730250" y="1828800"/>
            <a:ext cx="7874000" cy="44291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5D76237-1BB7-4787-8B93-B975DAE886E4}"/>
              </a:ext>
            </a:extLst>
          </p:cNvPr>
          <p:cNvSpPr>
            <a:spLocks xmlns:a="http://schemas.openxmlformats.org/drawingml/2006/main" noGrp="1"/>
          </p:cNvSpPr>
          <p:nvPr/>
        </p:nvSpPr>
        <p:spPr>
          <a:xfrm xmlns:a="http://schemas.openxmlformats.org/drawingml/2006/main">
            <a:off x="8924925" y="1962150"/>
            <a:ext cx="2619375" cy="3705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A4E"/>
                </a:solidFill>
                <a:latin typeface="DejaVu Sans"/>
                <a:ea typeface="DejaVu Sans"/>
                <a:cs typeface="DejaVu Sans"/>
              </a:defRPr>
            </a:defPPr>
          </a:lstStyle>
          <a:p xmlns:a="http://schemas.openxmlformats.org/drawingml/2006/main">
            <a:pPr>
              <a:defRPr sz="1800" b="0">
                <a:solidFill>
                  <a:srgbClr val="263A4E"/>
                </a:solidFill>
                <a:latin typeface="DejaVu Sans"/>
                <a:ea typeface="DejaVu Sans"/>
                <a:cs typeface="DejaVu Sans"/>
              </a:defRPr>
            </a:pPr>
            <a:r>
              <a:rPr sz="1800" b="0">
                <a:solidFill>
                  <a:srgbClr val="263A4E"/>
                </a:solidFill>
                <a:latin typeface="DejaVu Sans"/>
                <a:ea typeface="DejaVu Sans"/>
                <a:cs typeface="DejaVu Sans"/>
              </a:rPr>
              <a:t>60-second replay</a:t>
            </a:r>
          </a:p>
          <a:p xmlns:a="http://schemas.openxmlformats.org/drawingml/2006/main">
            <a:r>
              <a:t/>
            </a:r>
          </a:p>
          <a:p xmlns:a="http://schemas.openxmlformats.org/drawingml/2006/main">
            <a:pPr>
              <a:defRPr sz="1800" b="0">
                <a:solidFill>
                  <a:srgbClr val="263A4E"/>
                </a:solidFill>
                <a:latin typeface="DejaVu Sans"/>
                <a:ea typeface="DejaVu Sans"/>
                <a:cs typeface="DejaVu Sans"/>
              </a:defRPr>
            </a:pPr>
            <a:r>
              <a:rPr sz="1800" b="0">
                <a:solidFill>
                  <a:srgbClr val="263A4E"/>
                </a:solidFill>
                <a:latin typeface="DejaVu Sans"/>
                <a:ea typeface="DejaVu Sans"/>
                <a:cs typeface="DejaVu Sans"/>
              </a:rPr>
              <a:t>Steady → periodic → bursty</a:t>
            </a:r>
          </a:p>
          <a:p xmlns:a="http://schemas.openxmlformats.org/drawingml/2006/main">
            <a:r>
              <a:t/>
            </a:r>
          </a:p>
          <a:p xmlns:a="http://schemas.openxmlformats.org/drawingml/2006/main">
            <a:pPr>
              <a:defRPr sz="1800" b="0">
                <a:solidFill>
                  <a:srgbClr val="263A4E"/>
                </a:solidFill>
                <a:latin typeface="DejaVu Sans"/>
                <a:ea typeface="DejaVu Sans"/>
                <a:cs typeface="DejaVu Sans"/>
              </a:defRPr>
            </a:pPr>
            <a:r>
              <a:rPr sz="1800" b="0">
                <a:solidFill>
                  <a:srgbClr val="263A4E"/>
                </a:solidFill>
                <a:latin typeface="DejaVu Sans"/>
                <a:ea typeface="DejaVu Sans"/>
                <a:cs typeface="DejaVu Sans"/>
              </a:rPr>
              <a:t>Full curves shown; cursor marks replay time.</a:t>
            </a:r>
          </a:p>
          <a:p xmlns:a="http://schemas.openxmlformats.org/drawingml/2006/main">
            <a:r>
              <a:t/>
            </a:r>
          </a:p>
          <a:p xmlns:a="http://schemas.openxmlformats.org/drawingml/2006/main">
            <a:pPr>
              <a:defRPr sz="1800" b="0">
                <a:solidFill>
                  <a:srgbClr val="263A4E"/>
                </a:solidFill>
                <a:latin typeface="DejaVu Sans"/>
                <a:ea typeface="DejaVu Sans"/>
                <a:cs typeface="DejaVu Sans"/>
              </a:defRPr>
            </a:pPr>
            <a:r>
              <a:rPr sz="1800" b="0">
                <a:solidFill>
                  <a:srgbClr val="263A4E"/>
                </a:solidFill>
                <a:latin typeface="DejaVu Sans"/>
                <a:ea typeface="DejaVu Sans"/>
                <a:cs typeface="DejaVu Sans"/>
              </a:rPr>
              <a:t>Policy seed 1: selected by validation.</a:t>
            </a:r>
          </a:p>
        </p:txBody>
      </p:sp>
      <p:sp>
        <p:nvSpPr>
          <p:cNvPr id="7" name="">
            <a:extLst xmlns:a="http://schemas.openxmlformats.org/drawingml/2006/main">
              <a:ext uri="{FF2B5EF4-FFF2-40B4-BE49-F238E27FC236}">
                <a16:creationId xmlns:a16="http://schemas.microsoft.com/office/drawing/2014/main" id="{ED8D6CC6-9E45-4060-A600-53E6E83A123D}"/>
              </a:ext>
            </a:extLst>
          </p:cNvPr>
          <p:cNvSpPr>
            <a:spLocks xmlns:a="http://schemas.openxmlformats.org/drawingml/2006/main" noGrp="1"/>
          </p:cNvSpPr>
          <p:nvPr/>
        </p:nvSpPr>
        <p:spPr>
          <a:xfrm xmlns:a="http://schemas.openxmlformats.org/drawingml/2006/main">
            <a:off x="8934450" y="5724525"/>
            <a:ext cx="2619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B6B7C"/>
                </a:solidFill>
                <a:latin typeface="DejaVu Sans"/>
                <a:ea typeface="DejaVu Sans"/>
                <a:cs typeface="DejaVu Sans"/>
              </a:defRPr>
            </a:defPPr>
          </a:lstStyle>
          <a:p xmlns:a="http://schemas.openxmlformats.org/drawingml/2006/main">
            <a:pPr>
              <a:defRPr sz="1425" b="0">
                <a:solidFill>
                  <a:srgbClr val="5B6B7C"/>
                </a:solidFill>
                <a:latin typeface="DejaVu Sans"/>
                <a:ea typeface="DejaVu Sans"/>
                <a:cs typeface="DejaVu Sans"/>
              </a:defRPr>
            </a:pPr>
            <a:r>
              <a:rPr sz="1425" b="0">
                <a:solidFill>
                  <a:srgbClr val="5B6B7C"/>
                </a:solidFill>
                <a:latin typeface="DejaVu Sans"/>
                <a:ea typeface="DejaVu Sans"/>
                <a:cs typeface="DejaVu Sans"/>
              </a:rPr>
              <a:t>Three traces illustrate behavior. Use aggregate metrics for conclusions.</a:t>
            </a:r>
          </a:p>
        </p:txBody>
      </p:sp>
    </p:spTree>
    <p:extLst>
      <p:ext uri="{BB962C8B-B14F-4D97-AF65-F5344CB8AC3E}">
        <p14:creationId xmlns:p14="http://schemas.microsoft.com/office/powerpoint/2010/main" val="166755536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A9F5639-EA13-4AA9-BDDB-418DE729CF27}"/>
              </a:ext>
            </a:extLst>
          </p:cNvPr>
          <p:cNvSpPr>
            <a:spLocks xmlns:a="http://schemas.openxmlformats.org/drawingml/2006/main" noGrp="1"/>
          </p:cNvSpPr>
          <p:nvPr/>
        </p:nvSpPr>
        <p:spPr>
          <a:xfrm xmlns:a="http://schemas.openxmlformats.org/drawingml/2006/main">
            <a:off x="609600" y="457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44"/>
                </a:solidFill>
                <a:latin typeface="DejaVu Sans"/>
                <a:ea typeface="DejaVu Sans"/>
                <a:cs typeface="DejaVu Sans"/>
              </a:defRPr>
            </a:defPPr>
          </a:lstStyle>
          <a:p xmlns:a="http://schemas.openxmlformats.org/drawingml/2006/main">
            <a:pPr>
              <a:defRPr sz="3150" b="1">
                <a:solidFill>
                  <a:srgbClr val="172D44"/>
                </a:solidFill>
                <a:latin typeface="DejaVu Sans"/>
                <a:ea typeface="DejaVu Sans"/>
                <a:cs typeface="DejaVu Sans"/>
              </a:defRPr>
            </a:pPr>
            <a:r>
              <a:rPr sz="3150" b="1">
                <a:solidFill>
                  <a:srgbClr val="172D44"/>
                </a:solidFill>
                <a:latin typeface="DejaVu Sans"/>
                <a:ea typeface="DejaVu Sans"/>
                <a:cs typeface="DejaVu Sans"/>
              </a:rPr>
              <a:t>Reliability and ethical considerations</a:t>
            </a:r>
          </a:p>
        </p:txBody>
      </p:sp>
      <p:sp>
        <p:nvSpPr>
          <p:cNvPr id="2" name="">
            <a:extLst xmlns:a="http://schemas.openxmlformats.org/drawingml/2006/main">
              <a:ext uri="{FF2B5EF4-FFF2-40B4-BE49-F238E27FC236}">
                <a16:creationId xmlns:a16="http://schemas.microsoft.com/office/drawing/2014/main" id="{FA693E7A-1861-4F49-964F-4C06A2A1BBAE}"/>
              </a:ext>
            </a:extLst>
          </p:cNvPr>
          <p:cNvSpPr>
            <a:spLocks xmlns:a="http://schemas.openxmlformats.org/drawingml/2006/main" noGrp="1"/>
          </p:cNvSpPr>
          <p:nvPr/>
        </p:nvSpPr>
        <p:spPr>
          <a:xfrm xmlns:a="http://schemas.openxmlformats.org/drawingml/2006/main">
            <a:off x="62865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B6B7C"/>
                </a:solidFill>
                <a:latin typeface="DejaVu Sans"/>
                <a:ea typeface="DejaVu Sans"/>
                <a:cs typeface="DejaVu Sans"/>
              </a:defRPr>
            </a:defPPr>
          </a:lstStyle>
          <a:p xmlns:a="http://schemas.openxmlformats.org/drawingml/2006/main">
            <a:pPr>
              <a:defRPr sz="1875" b="0">
                <a:solidFill>
                  <a:srgbClr val="5B6B7C"/>
                </a:solidFill>
                <a:latin typeface="DejaVu Sans"/>
                <a:ea typeface="DejaVu Sans"/>
                <a:cs typeface="DejaVu Sans"/>
              </a:defRPr>
            </a:pPr>
            <a:r>
              <a:rPr sz="1875" b="0">
                <a:solidFill>
                  <a:srgbClr val="5B6B7C"/>
                </a:solidFill>
                <a:latin typeface="DejaVu Sans"/>
                <a:ea typeface="DejaVu Sans"/>
                <a:cs typeface="DejaVu Sans"/>
              </a:rPr>
              <a:t>Simulation evidence supports a prototype, not production deployment</a:t>
            </a:r>
          </a:p>
        </p:txBody>
      </p:sp>
      <p:sp>
        <p:nvSpPr>
          <p:cNvPr id="3" name="">
            <a:extLst xmlns:a="http://schemas.openxmlformats.org/drawingml/2006/main">
              <a:ext uri="{FF2B5EF4-FFF2-40B4-BE49-F238E27FC236}">
                <a16:creationId xmlns:a16="http://schemas.microsoft.com/office/drawing/2014/main" id="{E1044CBC-C5D8-4D77-B6BB-8CAE6FB8A99B}"/>
              </a:ext>
            </a:extLst>
          </p:cNvPr>
          <p:cNvSpPr>
            <a:spLocks xmlns:a="http://schemas.openxmlformats.org/drawingml/2006/main" noGrp="1"/>
          </p:cNvSpPr>
          <p:nvPr/>
        </p:nvSpPr>
        <p:spPr>
          <a:xfrm xmlns:a="http://schemas.openxmlformats.org/drawingml/2006/main">
            <a:off x="62865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B6B7C"/>
                </a:solidFill>
                <a:latin typeface="DejaVu Sans"/>
                <a:ea typeface="DejaVu Sans"/>
                <a:cs typeface="DejaVu Sans"/>
              </a:defRPr>
            </a:defPPr>
          </a:lstStyle>
          <a:p xmlns:a="http://schemas.openxmlformats.org/drawingml/2006/main">
            <a:pPr>
              <a:defRPr sz="1200" b="0">
                <a:solidFill>
                  <a:srgbClr val="5B6B7C"/>
                </a:solidFill>
                <a:latin typeface="DejaVu Sans"/>
                <a:ea typeface="DejaVu Sans"/>
                <a:cs typeface="DejaVu Sans"/>
              </a:defRPr>
            </a:pPr>
            <a:r>
              <a:rPr sz="1200" b="0">
                <a:solidFill>
                  <a:srgbClr val="5B6B7C"/>
                </a:solidFill>
                <a:latin typeface="DejaVu Sans"/>
                <a:ea typeface="DejaVu Sans"/>
                <a:cs typeface="DejaVu Sans"/>
              </a:rPr>
              <a:t>SIMULATED API AUTOSCALING • PART 2</a:t>
            </a:r>
          </a:p>
        </p:txBody>
      </p:sp>
      <p:sp>
        <p:nvSpPr>
          <p:cNvPr id="4" name="">
            <a:extLst xmlns:a="http://schemas.openxmlformats.org/drawingml/2006/main">
              <a:ext uri="{FF2B5EF4-FFF2-40B4-BE49-F238E27FC236}">
                <a16:creationId xmlns:a16="http://schemas.microsoft.com/office/drawing/2014/main" id="{04D4EA9D-33B2-47F0-9FF3-4FAEC4901B64}"/>
              </a:ext>
            </a:extLst>
          </p:cNvPr>
          <p:cNvSpPr>
            <a:spLocks xmlns:a="http://schemas.openxmlformats.org/drawingml/2006/main" noGrp="1"/>
          </p:cNvSpPr>
          <p:nvPr/>
        </p:nvSpPr>
        <p:spPr>
          <a:xfrm xmlns:a="http://schemas.openxmlformats.org/drawingml/2006/main">
            <a:off x="11182350" y="638175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B6B7C"/>
                </a:solidFill>
                <a:latin typeface="DejaVu Sans"/>
                <a:ea typeface="DejaVu Sans"/>
                <a:cs typeface="DejaVu Sans"/>
              </a:defRPr>
            </a:defPPr>
          </a:lstStyle>
          <a:p xmlns:a="http://schemas.openxmlformats.org/drawingml/2006/main">
            <a:pPr>
              <a:defRPr sz="1425" b="0">
                <a:solidFill>
                  <a:srgbClr val="5B6B7C"/>
                </a:solidFill>
                <a:latin typeface="DejaVu Sans"/>
                <a:ea typeface="DejaVu Sans"/>
                <a:cs typeface="DejaVu Sans"/>
              </a:defRPr>
            </a:pPr>
            <a:r>
              <a:rPr sz="1425" b="0">
                <a:solidFill>
                  <a:srgbClr val="5B6B7C"/>
                </a:solidFill>
                <a:latin typeface="DejaVu Sans"/>
                <a:ea typeface="DejaVu Sans"/>
                <a:cs typeface="DejaVu Sans"/>
              </a:rPr>
              <a:t>16</a:t>
            </a:r>
          </a:p>
        </p:txBody>
      </p:sp>
      <p:sp>
        <p:nvSpPr>
          <p:cNvPr id="5" name="">
            <a:extLst xmlns:a="http://schemas.openxmlformats.org/drawingml/2006/main">
              <a:ext uri="{FF2B5EF4-FFF2-40B4-BE49-F238E27FC236}">
                <a16:creationId xmlns:a16="http://schemas.microsoft.com/office/drawing/2014/main" id="{37D186EA-C4C1-4F87-A4FF-0FEBA0278BD4}"/>
              </a:ext>
            </a:extLst>
          </p:cNvPr>
          <p:cNvSpPr>
            <a:spLocks xmlns:a="http://schemas.openxmlformats.org/drawingml/2006/main" noGrp="1"/>
          </p:cNvSpPr>
          <p:nvPr/>
        </p:nvSpPr>
        <p:spPr>
          <a:xfrm xmlns:a="http://schemas.openxmlformats.org/drawingml/2006/main">
            <a:off x="628650" y="2038350"/>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D44"/>
                </a:solidFill>
                <a:latin typeface="DejaVu Sans"/>
                <a:ea typeface="DejaVu Sans"/>
                <a:cs typeface="DejaVu Sans"/>
              </a:defRPr>
            </a:defPPr>
          </a:lstStyle>
          <a:p xmlns:a="http://schemas.openxmlformats.org/drawingml/2006/main">
            <a:pPr>
              <a:defRPr sz="2250" b="1">
                <a:solidFill>
                  <a:srgbClr val="172D44"/>
                </a:solidFill>
                <a:latin typeface="DejaVu Sans"/>
                <a:ea typeface="DejaVu Sans"/>
                <a:cs typeface="DejaVu Sans"/>
              </a:defRPr>
            </a:pPr>
            <a:r>
              <a:rPr sz="2250" b="1">
                <a:solidFill>
                  <a:srgbClr val="172D44"/>
                </a:solidFill>
                <a:latin typeface="DejaVu Sans"/>
                <a:ea typeface="DejaVu Sans"/>
                <a:cs typeface="DejaVu Sans"/>
              </a:rPr>
              <a:t>Service reliability and fairness</a:t>
            </a:r>
          </a:p>
        </p:txBody>
      </p:sp>
      <p:sp>
        <p:nvSpPr>
          <p:cNvPr id="6" name="">
            <a:extLst xmlns:a="http://schemas.openxmlformats.org/drawingml/2006/main">
              <a:ext uri="{FF2B5EF4-FFF2-40B4-BE49-F238E27FC236}">
                <a16:creationId xmlns:a16="http://schemas.microsoft.com/office/drawing/2014/main" id="{71367C93-B92C-454C-847C-AF188B064D8B}"/>
              </a:ext>
            </a:extLst>
          </p:cNvPr>
          <p:cNvSpPr>
            <a:spLocks xmlns:a="http://schemas.openxmlformats.org/drawingml/2006/main" noGrp="1"/>
          </p:cNvSpPr>
          <p:nvPr/>
        </p:nvSpPr>
        <p:spPr>
          <a:xfrm xmlns:a="http://schemas.openxmlformats.org/drawingml/2006/main">
            <a:off x="628650" y="2438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A4E"/>
                </a:solidFill>
                <a:latin typeface="DejaVu Sans"/>
                <a:ea typeface="DejaVu Sans"/>
                <a:cs typeface="DejaVu Sans"/>
              </a:defRPr>
            </a:defPPr>
          </a:lstStyle>
          <a:p xmlns:a="http://schemas.openxmlformats.org/drawingml/2006/main">
            <a:pPr>
              <a:defRPr sz="1950" b="0">
                <a:solidFill>
                  <a:srgbClr val="263A4E"/>
                </a:solidFill>
                <a:latin typeface="DejaVu Sans"/>
                <a:ea typeface="DejaVu Sans"/>
                <a:cs typeface="DejaVu Sans"/>
              </a:defRPr>
            </a:pPr>
            <a:r>
              <a:rPr sz="1950" b="0">
                <a:solidFill>
                  <a:srgbClr val="263A4E"/>
                </a:solidFill>
                <a:latin typeface="DejaVu Sans"/>
                <a:ea typeface="DejaVu Sans"/>
                <a:cs typeface="DejaVu Sans"/>
              </a:rPr>
              <a:t>Drops and delays matter. No user groups or fairness metrics modeled.</a:t>
            </a:r>
          </a:p>
        </p:txBody>
      </p:sp>
      <p:sp>
        <p:nvSpPr>
          <p:cNvPr id="7" name="">
            <a:extLst xmlns:a="http://schemas.openxmlformats.org/drawingml/2006/main">
              <a:ext uri="{FF2B5EF4-FFF2-40B4-BE49-F238E27FC236}">
                <a16:creationId xmlns:a16="http://schemas.microsoft.com/office/drawing/2014/main" id="{8FDD5806-6AF5-4FEA-AEE7-465D68497348}"/>
              </a:ext>
            </a:extLst>
          </p:cNvPr>
          <p:cNvSpPr>
            <a:spLocks xmlns:a="http://schemas.openxmlformats.org/drawingml/2006/main" noGrp="1"/>
          </p:cNvSpPr>
          <p:nvPr/>
        </p:nvSpPr>
        <p:spPr>
          <a:xfrm xmlns:a="http://schemas.openxmlformats.org/drawingml/2006/main">
            <a:off x="628650" y="3276600"/>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D44"/>
                </a:solidFill>
                <a:latin typeface="DejaVu Sans"/>
                <a:ea typeface="DejaVu Sans"/>
                <a:cs typeface="DejaVu Sans"/>
              </a:defRPr>
            </a:defPPr>
          </a:lstStyle>
          <a:p xmlns:a="http://schemas.openxmlformats.org/drawingml/2006/main">
            <a:pPr>
              <a:defRPr sz="2250" b="1">
                <a:solidFill>
                  <a:srgbClr val="172D44"/>
                </a:solidFill>
                <a:latin typeface="DejaVu Sans"/>
                <a:ea typeface="DejaVu Sans"/>
                <a:cs typeface="DejaVu Sans"/>
              </a:defRPr>
            </a:pPr>
            <a:r>
              <a:rPr sz="2250" b="1">
                <a:solidFill>
                  <a:srgbClr val="172D44"/>
                </a:solidFill>
                <a:latin typeface="DejaVu Sans"/>
                <a:ea typeface="DejaVu Sans"/>
                <a:cs typeface="DejaVu Sans"/>
              </a:rPr>
              <a:t>Resource use and accountability</a:t>
            </a:r>
          </a:p>
        </p:txBody>
      </p:sp>
      <p:sp>
        <p:nvSpPr>
          <p:cNvPr id="8" name="">
            <a:extLst xmlns:a="http://schemas.openxmlformats.org/drawingml/2006/main">
              <a:ext uri="{FF2B5EF4-FFF2-40B4-BE49-F238E27FC236}">
                <a16:creationId xmlns:a16="http://schemas.microsoft.com/office/drawing/2014/main" id="{82FE54F9-4439-418E-AEE2-00CE43F5B02C}"/>
              </a:ext>
            </a:extLst>
          </p:cNvPr>
          <p:cNvSpPr>
            <a:spLocks xmlns:a="http://schemas.openxmlformats.org/drawingml/2006/main" noGrp="1"/>
          </p:cNvSpPr>
          <p:nvPr/>
        </p:nvSpPr>
        <p:spPr>
          <a:xfrm xmlns:a="http://schemas.openxmlformats.org/drawingml/2006/main">
            <a:off x="628650" y="36766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A4E"/>
                </a:solidFill>
                <a:latin typeface="DejaVu Sans"/>
                <a:ea typeface="DejaVu Sans"/>
                <a:cs typeface="DejaVu Sans"/>
              </a:defRPr>
            </a:defPPr>
          </a:lstStyle>
          <a:p xmlns:a="http://schemas.openxmlformats.org/drawingml/2006/main">
            <a:pPr>
              <a:defRPr sz="1950" b="0">
                <a:solidFill>
                  <a:srgbClr val="263A4E"/>
                </a:solidFill>
                <a:latin typeface="DejaVu Sans"/>
                <a:ea typeface="DejaVu Sans"/>
                <a:cs typeface="DejaVu Sans"/>
              </a:defRPr>
            </a:pPr>
            <a:r>
              <a:rPr sz="1950" b="0">
                <a:solidFill>
                  <a:srgbClr val="263A4E"/>
                </a:solidFill>
                <a:latin typeface="DejaVu Sans"/>
                <a:ea typeface="DejaVu Sans"/>
                <a:cs typeface="DejaVu Sans"/>
              </a:rPr>
              <a:t>Replica-seconds measure capacity, not spending or emissions.</a:t>
            </a:r>
          </a:p>
        </p:txBody>
      </p:sp>
      <p:sp>
        <p:nvSpPr>
          <p:cNvPr id="9" name="">
            <a:extLst xmlns:a="http://schemas.openxmlformats.org/drawingml/2006/main">
              <a:ext uri="{FF2B5EF4-FFF2-40B4-BE49-F238E27FC236}">
                <a16:creationId xmlns:a16="http://schemas.microsoft.com/office/drawing/2014/main" id="{2E1AECFE-A95F-4EB1-81A4-C0DA9F6C7CD1}"/>
              </a:ext>
            </a:extLst>
          </p:cNvPr>
          <p:cNvSpPr>
            <a:spLocks xmlns:a="http://schemas.openxmlformats.org/drawingml/2006/main" noGrp="1"/>
          </p:cNvSpPr>
          <p:nvPr/>
        </p:nvSpPr>
        <p:spPr>
          <a:xfrm xmlns:a="http://schemas.openxmlformats.org/drawingml/2006/main">
            <a:off x="628650" y="4514850"/>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D44"/>
                </a:solidFill>
                <a:latin typeface="DejaVu Sans"/>
                <a:ea typeface="DejaVu Sans"/>
                <a:cs typeface="DejaVu Sans"/>
              </a:defRPr>
            </a:defPPr>
          </a:lstStyle>
          <a:p xmlns:a="http://schemas.openxmlformats.org/drawingml/2006/main">
            <a:pPr>
              <a:defRPr sz="2250" b="1">
                <a:solidFill>
                  <a:srgbClr val="172D44"/>
                </a:solidFill>
                <a:latin typeface="DejaVu Sans"/>
                <a:ea typeface="DejaVu Sans"/>
                <a:cs typeface="DejaVu Sans"/>
              </a:defRPr>
            </a:pPr>
            <a:r>
              <a:rPr sz="2250" b="1">
                <a:solidFill>
                  <a:srgbClr val="172D44"/>
                </a:solidFill>
                <a:latin typeface="DejaVu Sans"/>
                <a:ea typeface="DejaVu Sans"/>
                <a:cs typeface="DejaVu Sans"/>
              </a:rPr>
              <a:t>Safeguards before deployment</a:t>
            </a:r>
          </a:p>
        </p:txBody>
      </p:sp>
      <p:sp>
        <p:nvSpPr>
          <p:cNvPr id="10" name="">
            <a:extLst xmlns:a="http://schemas.openxmlformats.org/drawingml/2006/main">
              <a:ext uri="{FF2B5EF4-FFF2-40B4-BE49-F238E27FC236}">
                <a16:creationId xmlns:a16="http://schemas.microsoft.com/office/drawing/2014/main" id="{41ADF9E4-B2FC-4D4D-B95C-FF3A7E64E952}"/>
              </a:ext>
            </a:extLst>
          </p:cNvPr>
          <p:cNvSpPr>
            <a:spLocks xmlns:a="http://schemas.openxmlformats.org/drawingml/2006/main" noGrp="1"/>
          </p:cNvSpPr>
          <p:nvPr/>
        </p:nvSpPr>
        <p:spPr>
          <a:xfrm xmlns:a="http://schemas.openxmlformats.org/drawingml/2006/main">
            <a:off x="628650" y="49149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A4E"/>
                </a:solidFill>
                <a:latin typeface="DejaVu Sans"/>
                <a:ea typeface="DejaVu Sans"/>
                <a:cs typeface="DejaVu Sans"/>
              </a:defRPr>
            </a:defPPr>
          </a:lstStyle>
          <a:p xmlns:a="http://schemas.openxmlformats.org/drawingml/2006/main">
            <a:pPr>
              <a:defRPr sz="1950" b="0">
                <a:solidFill>
                  <a:srgbClr val="263A4E"/>
                </a:solidFill>
                <a:latin typeface="DejaVu Sans"/>
                <a:ea typeface="DejaVu Sans"/>
                <a:cs typeface="DejaVu Sans"/>
              </a:defRPr>
            </a:pPr>
            <a:r>
              <a:rPr sz="1950" b="0">
                <a:solidFill>
                  <a:srgbClr val="263A4E"/>
                </a:solidFill>
                <a:latin typeface="DejaVu Sans"/>
                <a:ea typeface="DejaVu Sans"/>
                <a:cs typeface="DejaVu Sans"/>
              </a:rPr>
              <a:t>Hard limits, monitoring, fallback controller, rollback, controlled testing.</a:t>
            </a:r>
          </a:p>
        </p:txBody>
      </p:sp>
    </p:spTree>
    <p:extLst>
      <p:ext uri="{BB962C8B-B14F-4D97-AF65-F5344CB8AC3E}">
        <p14:creationId xmlns:p14="http://schemas.microsoft.com/office/powerpoint/2010/main" val="162799725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5C0F578-C52A-4886-B163-A22DE8DB3A9F}"/>
              </a:ext>
            </a:extLst>
          </p:cNvPr>
          <p:cNvSpPr>
            <a:spLocks xmlns:a="http://schemas.openxmlformats.org/drawingml/2006/main" noGrp="1"/>
          </p:cNvSpPr>
          <p:nvPr/>
        </p:nvSpPr>
        <p:spPr>
          <a:xfrm xmlns:a="http://schemas.openxmlformats.org/drawingml/2006/main">
            <a:off x="609600" y="457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44"/>
                </a:solidFill>
                <a:latin typeface="DejaVu Sans"/>
                <a:ea typeface="DejaVu Sans"/>
                <a:cs typeface="DejaVu Sans"/>
              </a:defRPr>
            </a:defPPr>
          </a:lstStyle>
          <a:p xmlns:a="http://schemas.openxmlformats.org/drawingml/2006/main">
            <a:pPr>
              <a:defRPr sz="3150" b="1">
                <a:solidFill>
                  <a:srgbClr val="172D44"/>
                </a:solidFill>
                <a:latin typeface="DejaVu Sans"/>
                <a:ea typeface="DejaVu Sans"/>
                <a:cs typeface="DejaVu Sans"/>
              </a:defRPr>
            </a:pPr>
            <a:r>
              <a:rPr sz="3150" b="1">
                <a:solidFill>
                  <a:srgbClr val="172D44"/>
                </a:solidFill>
                <a:latin typeface="DejaVu Sans"/>
                <a:ea typeface="DejaVu Sans"/>
                <a:cs typeface="DejaVu Sans"/>
              </a:rPr>
              <a:t>What I learned and what comes next</a:t>
            </a:r>
          </a:p>
        </p:txBody>
      </p:sp>
      <p:sp>
        <p:nvSpPr>
          <p:cNvPr id="2" name="">
            <a:extLst xmlns:a="http://schemas.openxmlformats.org/drawingml/2006/main">
              <a:ext uri="{FF2B5EF4-FFF2-40B4-BE49-F238E27FC236}">
                <a16:creationId xmlns:a16="http://schemas.microsoft.com/office/drawing/2014/main" id="{2695BDF8-3CE7-482B-8EFA-CA327D409934}"/>
              </a:ext>
            </a:extLst>
          </p:cNvPr>
          <p:cNvSpPr>
            <a:spLocks xmlns:a="http://schemas.openxmlformats.org/drawingml/2006/main" noGrp="1"/>
          </p:cNvSpPr>
          <p:nvPr/>
        </p:nvSpPr>
        <p:spPr>
          <a:xfrm xmlns:a="http://schemas.openxmlformats.org/drawingml/2006/main">
            <a:off x="62865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B6B7C"/>
                </a:solidFill>
                <a:latin typeface="DejaVu Sans"/>
                <a:ea typeface="DejaVu Sans"/>
                <a:cs typeface="DejaVu Sans"/>
              </a:defRPr>
            </a:defPPr>
          </a:lstStyle>
          <a:p xmlns:a="http://schemas.openxmlformats.org/drawingml/2006/main">
            <a:pPr>
              <a:defRPr sz="1875" b="0">
                <a:solidFill>
                  <a:srgbClr val="5B6B7C"/>
                </a:solidFill>
                <a:latin typeface="DejaVu Sans"/>
                <a:ea typeface="DejaVu Sans"/>
                <a:cs typeface="DejaVu Sans"/>
              </a:defRPr>
            </a:pPr>
            <a:r>
              <a:rPr sz="1875" b="0">
                <a:solidFill>
                  <a:srgbClr val="5B6B7C"/>
                </a:solidFill>
                <a:latin typeface="DejaVu Sans"/>
                <a:ea typeface="DejaVu Sans"/>
                <a:cs typeface="DejaVu Sans"/>
              </a:rPr>
              <a:t>Working implementation; original two-part goal not met</a:t>
            </a:r>
          </a:p>
        </p:txBody>
      </p:sp>
      <p:sp>
        <p:nvSpPr>
          <p:cNvPr id="3" name="">
            <a:extLst xmlns:a="http://schemas.openxmlformats.org/drawingml/2006/main">
              <a:ext uri="{FF2B5EF4-FFF2-40B4-BE49-F238E27FC236}">
                <a16:creationId xmlns:a16="http://schemas.microsoft.com/office/drawing/2014/main" id="{730E5513-A0A7-4463-8FD8-3326A5752F45}"/>
              </a:ext>
            </a:extLst>
          </p:cNvPr>
          <p:cNvSpPr>
            <a:spLocks xmlns:a="http://schemas.openxmlformats.org/drawingml/2006/main" noGrp="1"/>
          </p:cNvSpPr>
          <p:nvPr/>
        </p:nvSpPr>
        <p:spPr>
          <a:xfrm xmlns:a="http://schemas.openxmlformats.org/drawingml/2006/main">
            <a:off x="62865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B6B7C"/>
                </a:solidFill>
                <a:latin typeface="DejaVu Sans"/>
                <a:ea typeface="DejaVu Sans"/>
                <a:cs typeface="DejaVu Sans"/>
              </a:defRPr>
            </a:defPPr>
          </a:lstStyle>
          <a:p xmlns:a="http://schemas.openxmlformats.org/drawingml/2006/main">
            <a:pPr>
              <a:defRPr sz="1200" b="0">
                <a:solidFill>
                  <a:srgbClr val="5B6B7C"/>
                </a:solidFill>
                <a:latin typeface="DejaVu Sans"/>
                <a:ea typeface="DejaVu Sans"/>
                <a:cs typeface="DejaVu Sans"/>
              </a:defRPr>
            </a:pPr>
            <a:r>
              <a:rPr sz="1200" b="0">
                <a:solidFill>
                  <a:srgbClr val="5B6B7C"/>
                </a:solidFill>
                <a:latin typeface="DejaVu Sans"/>
                <a:ea typeface="DejaVu Sans"/>
                <a:cs typeface="DejaVu Sans"/>
              </a:rPr>
              <a:t>SIMULATED API AUTOSCALING • PART 2</a:t>
            </a:r>
          </a:p>
        </p:txBody>
      </p:sp>
      <p:sp>
        <p:nvSpPr>
          <p:cNvPr id="4" name="">
            <a:extLst xmlns:a="http://schemas.openxmlformats.org/drawingml/2006/main">
              <a:ext uri="{FF2B5EF4-FFF2-40B4-BE49-F238E27FC236}">
                <a16:creationId xmlns:a16="http://schemas.microsoft.com/office/drawing/2014/main" id="{D172FCA4-3658-473A-924F-00D92425445A}"/>
              </a:ext>
            </a:extLst>
          </p:cNvPr>
          <p:cNvSpPr>
            <a:spLocks xmlns:a="http://schemas.openxmlformats.org/drawingml/2006/main" noGrp="1"/>
          </p:cNvSpPr>
          <p:nvPr/>
        </p:nvSpPr>
        <p:spPr>
          <a:xfrm xmlns:a="http://schemas.openxmlformats.org/drawingml/2006/main">
            <a:off x="11182350" y="638175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B6B7C"/>
                </a:solidFill>
                <a:latin typeface="DejaVu Sans"/>
                <a:ea typeface="DejaVu Sans"/>
                <a:cs typeface="DejaVu Sans"/>
              </a:defRPr>
            </a:defPPr>
          </a:lstStyle>
          <a:p xmlns:a="http://schemas.openxmlformats.org/drawingml/2006/main">
            <a:pPr>
              <a:defRPr sz="1425" b="0">
                <a:solidFill>
                  <a:srgbClr val="5B6B7C"/>
                </a:solidFill>
                <a:latin typeface="DejaVu Sans"/>
                <a:ea typeface="DejaVu Sans"/>
                <a:cs typeface="DejaVu Sans"/>
              </a:defRPr>
            </a:pPr>
            <a:r>
              <a:rPr sz="1425" b="0">
                <a:solidFill>
                  <a:srgbClr val="5B6B7C"/>
                </a:solidFill>
                <a:latin typeface="DejaVu Sans"/>
                <a:ea typeface="DejaVu Sans"/>
                <a:cs typeface="DejaVu Sans"/>
              </a:rPr>
              <a:t>17</a:t>
            </a:r>
          </a:p>
        </p:txBody>
      </p:sp>
      <p:sp>
        <p:nvSpPr>
          <p:cNvPr id="5" name="">
            <a:extLst xmlns:a="http://schemas.openxmlformats.org/drawingml/2006/main">
              <a:ext uri="{FF2B5EF4-FFF2-40B4-BE49-F238E27FC236}">
                <a16:creationId xmlns:a16="http://schemas.microsoft.com/office/drawing/2014/main" id="{47BA2C1D-16CD-405A-931A-BE67A4EADAE0}"/>
              </a:ext>
            </a:extLst>
          </p:cNvPr>
          <p:cNvSpPr>
            <a:spLocks xmlns:a="http://schemas.openxmlformats.org/drawingml/2006/main" noGrp="1"/>
          </p:cNvSpPr>
          <p:nvPr/>
        </p:nvSpPr>
        <p:spPr>
          <a:xfrm xmlns:a="http://schemas.openxmlformats.org/drawingml/2006/main">
            <a:off x="628650" y="2095500"/>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D44"/>
                </a:solidFill>
                <a:latin typeface="DejaVu Sans"/>
                <a:ea typeface="DejaVu Sans"/>
                <a:cs typeface="DejaVu Sans"/>
              </a:defRPr>
            </a:defPPr>
          </a:lstStyle>
          <a:p xmlns:a="http://schemas.openxmlformats.org/drawingml/2006/main">
            <a:pPr>
              <a:defRPr sz="2250" b="1">
                <a:solidFill>
                  <a:srgbClr val="172D44"/>
                </a:solidFill>
                <a:latin typeface="DejaVu Sans"/>
                <a:ea typeface="DejaVu Sans"/>
                <a:cs typeface="DejaVu Sans"/>
              </a:defRPr>
            </a:pPr>
            <a:r>
              <a:rPr sz="2250" b="1">
                <a:solidFill>
                  <a:srgbClr val="172D44"/>
                </a:solidFill>
                <a:latin typeface="DejaVu Sans"/>
                <a:ea typeface="DejaVu Sans"/>
                <a:cs typeface="DejaVu Sans"/>
              </a:rPr>
              <a:t>Finding</a:t>
            </a:r>
          </a:p>
        </p:txBody>
      </p:sp>
      <p:sp>
        <p:nvSpPr>
          <p:cNvPr id="6" name="">
            <a:extLst xmlns:a="http://schemas.openxmlformats.org/drawingml/2006/main">
              <a:ext uri="{FF2B5EF4-FFF2-40B4-BE49-F238E27FC236}">
                <a16:creationId xmlns:a16="http://schemas.microsoft.com/office/drawing/2014/main" id="{003B7E2F-2EA4-4D53-9BE5-876298378AA8}"/>
              </a:ext>
            </a:extLst>
          </p:cNvPr>
          <p:cNvSpPr>
            <a:spLocks xmlns:a="http://schemas.openxmlformats.org/drawingml/2006/main" noGrp="1"/>
          </p:cNvSpPr>
          <p:nvPr/>
        </p:nvSpPr>
        <p:spPr>
          <a:xfrm xmlns:a="http://schemas.openxmlformats.org/drawingml/2006/main">
            <a:off x="628650" y="24955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A4E"/>
                </a:solidFill>
                <a:latin typeface="DejaVu Sans"/>
                <a:ea typeface="DejaVu Sans"/>
                <a:cs typeface="DejaVu Sans"/>
              </a:defRPr>
            </a:defPPr>
          </a:lstStyle>
          <a:p xmlns:a="http://schemas.openxmlformats.org/drawingml/2006/main">
            <a:pPr>
              <a:defRPr sz="1950" b="0">
                <a:solidFill>
                  <a:srgbClr val="263A4E"/>
                </a:solidFill>
                <a:latin typeface="DejaVu Sans"/>
                <a:ea typeface="DejaVu Sans"/>
                <a:cs typeface="DejaVu Sans"/>
              </a:defRPr>
            </a:pPr>
            <a:r>
              <a:rPr sz="1950" b="0">
                <a:solidFill>
                  <a:srgbClr val="263A4E"/>
                </a:solidFill>
                <a:latin typeface="DejaVu Sans"/>
                <a:ea typeface="DejaVu Sans"/>
                <a:cs typeface="DejaVu Sans"/>
              </a:rPr>
              <a:t>Lower average violations, but 23.85% more capacity than fixed.</a:t>
            </a:r>
          </a:p>
        </p:txBody>
      </p:sp>
      <p:sp>
        <p:nvSpPr>
          <p:cNvPr id="7" name="">
            <a:extLst xmlns:a="http://schemas.openxmlformats.org/drawingml/2006/main">
              <a:ext uri="{FF2B5EF4-FFF2-40B4-BE49-F238E27FC236}">
                <a16:creationId xmlns:a16="http://schemas.microsoft.com/office/drawing/2014/main" id="{CCC80A23-5ECD-4205-BCCB-3ED486002436}"/>
              </a:ext>
            </a:extLst>
          </p:cNvPr>
          <p:cNvSpPr>
            <a:spLocks xmlns:a="http://schemas.openxmlformats.org/drawingml/2006/main" noGrp="1"/>
          </p:cNvSpPr>
          <p:nvPr/>
        </p:nvSpPr>
        <p:spPr>
          <a:xfrm xmlns:a="http://schemas.openxmlformats.org/drawingml/2006/main">
            <a:off x="628650" y="3286125"/>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D44"/>
                </a:solidFill>
                <a:latin typeface="DejaVu Sans"/>
                <a:ea typeface="DejaVu Sans"/>
                <a:cs typeface="DejaVu Sans"/>
              </a:defRPr>
            </a:defPPr>
          </a:lstStyle>
          <a:p xmlns:a="http://schemas.openxmlformats.org/drawingml/2006/main">
            <a:pPr>
              <a:defRPr sz="2250" b="1">
                <a:solidFill>
                  <a:srgbClr val="172D44"/>
                </a:solidFill>
                <a:latin typeface="DejaVu Sans"/>
                <a:ea typeface="DejaVu Sans"/>
                <a:cs typeface="DejaVu Sans"/>
              </a:defRPr>
            </a:pPr>
            <a:r>
              <a:rPr sz="2250" b="1">
                <a:solidFill>
                  <a:srgbClr val="172D44"/>
                </a:solidFill>
                <a:latin typeface="DejaVu Sans"/>
                <a:ea typeface="DejaVu Sans"/>
                <a:cs typeface="DejaVu Sans"/>
              </a:rPr>
              <a:t>Next experiments</a:t>
            </a:r>
          </a:p>
        </p:txBody>
      </p:sp>
      <p:sp>
        <p:nvSpPr>
          <p:cNvPr id="8" name="">
            <a:extLst xmlns:a="http://schemas.openxmlformats.org/drawingml/2006/main">
              <a:ext uri="{FF2B5EF4-FFF2-40B4-BE49-F238E27FC236}">
                <a16:creationId xmlns:a16="http://schemas.microsoft.com/office/drawing/2014/main" id="{AEDAA803-6401-4FE6-B202-9AFB93EF1E43}"/>
              </a:ext>
            </a:extLst>
          </p:cNvPr>
          <p:cNvSpPr>
            <a:spLocks xmlns:a="http://schemas.openxmlformats.org/drawingml/2006/main" noGrp="1"/>
          </p:cNvSpPr>
          <p:nvPr/>
        </p:nvSpPr>
        <p:spPr>
          <a:xfrm xmlns:a="http://schemas.openxmlformats.org/drawingml/2006/main">
            <a:off x="628650" y="36861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A4E"/>
                </a:solidFill>
                <a:latin typeface="DejaVu Sans"/>
                <a:ea typeface="DejaVu Sans"/>
                <a:cs typeface="DejaVu Sans"/>
              </a:defRPr>
            </a:defPPr>
          </a:lstStyle>
          <a:p xmlns:a="http://schemas.openxmlformats.org/drawingml/2006/main">
            <a:pPr>
              <a:defRPr sz="1950" b="0">
                <a:solidFill>
                  <a:srgbClr val="263A4E"/>
                </a:solidFill>
                <a:latin typeface="DejaVu Sans"/>
                <a:ea typeface="DejaVu Sans"/>
                <a:cs typeface="DejaVu Sans"/>
              </a:defRPr>
            </a:pPr>
            <a:r>
              <a:rPr sz="1950" b="0">
                <a:solidFill>
                  <a:srgbClr val="263A4E"/>
                </a:solidFill>
                <a:latin typeface="DejaVu Sans"/>
                <a:ea typeface="DejaVu Sans"/>
                <a:cs typeface="DejaVu Sans"/>
              </a:rPr>
              <a:t>63% of policy mass is rejected: mask invalid actions; revisit reward.</a:t>
            </a:r>
          </a:p>
        </p:txBody>
      </p:sp>
      <p:sp>
        <p:nvSpPr>
          <p:cNvPr id="9" name="">
            <a:extLst xmlns:a="http://schemas.openxmlformats.org/drawingml/2006/main">
              <a:ext uri="{FF2B5EF4-FFF2-40B4-BE49-F238E27FC236}">
                <a16:creationId xmlns:a16="http://schemas.microsoft.com/office/drawing/2014/main" id="{9AC8E07B-4CBD-413B-A973-1BBEE2D103A8}"/>
              </a:ext>
            </a:extLst>
          </p:cNvPr>
          <p:cNvSpPr>
            <a:spLocks xmlns:a="http://schemas.openxmlformats.org/drawingml/2006/main" noGrp="1"/>
          </p:cNvSpPr>
          <p:nvPr/>
        </p:nvSpPr>
        <p:spPr>
          <a:xfrm xmlns:a="http://schemas.openxmlformats.org/drawingml/2006/main">
            <a:off x="628650" y="4476750"/>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D44"/>
                </a:solidFill>
                <a:latin typeface="DejaVu Sans"/>
                <a:ea typeface="DejaVu Sans"/>
                <a:cs typeface="DejaVu Sans"/>
              </a:defRPr>
            </a:defPPr>
          </a:lstStyle>
          <a:p xmlns:a="http://schemas.openxmlformats.org/drawingml/2006/main">
            <a:pPr>
              <a:defRPr sz="2250" b="1">
                <a:solidFill>
                  <a:srgbClr val="172D44"/>
                </a:solidFill>
                <a:latin typeface="DejaVu Sans"/>
                <a:ea typeface="DejaVu Sans"/>
                <a:cs typeface="DejaVu Sans"/>
              </a:defRPr>
            </a:pPr>
            <a:r>
              <a:rPr sz="2250" b="1">
                <a:solidFill>
                  <a:srgbClr val="172D44"/>
                </a:solidFill>
                <a:latin typeface="DejaVu Sans"/>
                <a:ea typeface="DejaVu Sans"/>
                <a:cs typeface="DejaVu Sans"/>
              </a:rPr>
              <a:t>Then broaden validation</a:t>
            </a:r>
          </a:p>
        </p:txBody>
      </p:sp>
      <p:sp>
        <p:nvSpPr>
          <p:cNvPr id="10" name="">
            <a:extLst xmlns:a="http://schemas.openxmlformats.org/drawingml/2006/main">
              <a:ext uri="{FF2B5EF4-FFF2-40B4-BE49-F238E27FC236}">
                <a16:creationId xmlns:a16="http://schemas.microsoft.com/office/drawing/2014/main" id="{3B9057DE-8FBF-47A2-8861-D3A75E4984EC}"/>
              </a:ext>
            </a:extLst>
          </p:cNvPr>
          <p:cNvSpPr>
            <a:spLocks xmlns:a="http://schemas.openxmlformats.org/drawingml/2006/main" noGrp="1"/>
          </p:cNvSpPr>
          <p:nvPr/>
        </p:nvSpPr>
        <p:spPr>
          <a:xfrm xmlns:a="http://schemas.openxmlformats.org/drawingml/2006/main">
            <a:off x="628650" y="48768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A4E"/>
                </a:solidFill>
                <a:latin typeface="DejaVu Sans"/>
                <a:ea typeface="DejaVu Sans"/>
                <a:cs typeface="DejaVu Sans"/>
              </a:defRPr>
            </a:defPPr>
          </a:lstStyle>
          <a:p xmlns:a="http://schemas.openxmlformats.org/drawingml/2006/main">
            <a:pPr>
              <a:defRPr sz="1950" b="0">
                <a:solidFill>
                  <a:srgbClr val="263A4E"/>
                </a:solidFill>
                <a:latin typeface="DejaVu Sans"/>
                <a:ea typeface="DejaVu Sans"/>
                <a:cs typeface="DejaVu Sans"/>
              </a:defRPr>
            </a:pPr>
            <a:r>
              <a:rPr sz="1950" b="0">
                <a:solidFill>
                  <a:srgbClr val="263A4E"/>
                </a:solidFill>
                <a:latin typeface="DejaVu Sans"/>
                <a:ea typeface="DejaVu Sans"/>
                <a:cs typeface="DejaVu Sans"/>
              </a:rPr>
              <a:t>Stronger baselines, more workloads, fresh held-out tests, real traces.</a:t>
            </a:r>
          </a:p>
        </p:txBody>
      </p:sp>
    </p:spTree>
    <p:extLst>
      <p:ext uri="{BB962C8B-B14F-4D97-AF65-F5344CB8AC3E}">
        <p14:creationId xmlns:p14="http://schemas.microsoft.com/office/powerpoint/2010/main" val="181154606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4EF3FCB-B101-4BCA-8B9A-D2460BCD5EAE}"/>
              </a:ext>
            </a:extLst>
          </p:cNvPr>
          <p:cNvSpPr>
            <a:spLocks xmlns:a="http://schemas.openxmlformats.org/drawingml/2006/main" noGrp="1"/>
          </p:cNvSpPr>
          <p:nvPr/>
        </p:nvSpPr>
        <p:spPr>
          <a:xfrm xmlns:a="http://schemas.openxmlformats.org/drawingml/2006/main">
            <a:off x="609600" y="457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44"/>
                </a:solidFill>
                <a:latin typeface="DejaVu Sans"/>
                <a:ea typeface="DejaVu Sans"/>
                <a:cs typeface="DejaVu Sans"/>
              </a:defRPr>
            </a:defPPr>
          </a:lstStyle>
          <a:p xmlns:a="http://schemas.openxmlformats.org/drawingml/2006/main">
            <a:pPr>
              <a:defRPr sz="3150" b="1">
                <a:solidFill>
                  <a:srgbClr val="172D44"/>
                </a:solidFill>
                <a:latin typeface="DejaVu Sans"/>
                <a:ea typeface="DejaVu Sans"/>
                <a:cs typeface="DejaVu Sans"/>
              </a:defRPr>
            </a:pPr>
            <a:r>
              <a:rPr sz="3150" b="1">
                <a:solidFill>
                  <a:srgbClr val="172D44"/>
                </a:solidFill>
                <a:latin typeface="DejaVu Sans"/>
                <a:ea typeface="DejaVu Sans"/>
                <a:cs typeface="DejaVu Sans"/>
              </a:rPr>
              <a:t>References and AI disclosure</a:t>
            </a:r>
          </a:p>
        </p:txBody>
      </p:sp>
      <p:sp>
        <p:nvSpPr>
          <p:cNvPr id="2" name="">
            <a:extLst xmlns:a="http://schemas.openxmlformats.org/drawingml/2006/main">
              <a:ext uri="{FF2B5EF4-FFF2-40B4-BE49-F238E27FC236}">
                <a16:creationId xmlns:a16="http://schemas.microsoft.com/office/drawing/2014/main" id="{A8A1AD9C-7D21-4062-AC07-9FAD8F9E50E8}"/>
              </a:ext>
            </a:extLst>
          </p:cNvPr>
          <p:cNvSpPr>
            <a:spLocks xmlns:a="http://schemas.openxmlformats.org/drawingml/2006/main" noGrp="1"/>
          </p:cNvSpPr>
          <p:nvPr/>
        </p:nvSpPr>
        <p:spPr>
          <a:xfrm xmlns:a="http://schemas.openxmlformats.org/drawingml/2006/main">
            <a:off x="62865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B6B7C"/>
                </a:solidFill>
                <a:latin typeface="DejaVu Sans"/>
                <a:ea typeface="DejaVu Sans"/>
                <a:cs typeface="DejaVu Sans"/>
              </a:defRPr>
            </a:defPPr>
          </a:lstStyle>
          <a:p xmlns:a="http://schemas.openxmlformats.org/drawingml/2006/main">
            <a:pPr>
              <a:defRPr sz="1875" b="0">
                <a:solidFill>
                  <a:srgbClr val="5B6B7C"/>
                </a:solidFill>
                <a:latin typeface="DejaVu Sans"/>
                <a:ea typeface="DejaVu Sans"/>
                <a:cs typeface="DejaVu Sans"/>
              </a:defRPr>
            </a:pPr>
            <a:r>
              <a:rPr sz="1875" b="0">
                <a:solidFill>
                  <a:srgbClr val="5B6B7C"/>
                </a:solidFill>
                <a:latin typeface="DejaVu Sans"/>
                <a:ea typeface="DejaVu Sans"/>
                <a:cs typeface="DejaVu Sans"/>
              </a:rPr>
              <a:t>Research links and full titles are also in the repository README</a:t>
            </a:r>
          </a:p>
        </p:txBody>
      </p:sp>
      <p:sp>
        <p:nvSpPr>
          <p:cNvPr id="3" name="">
            <a:extLst xmlns:a="http://schemas.openxmlformats.org/drawingml/2006/main">
              <a:ext uri="{FF2B5EF4-FFF2-40B4-BE49-F238E27FC236}">
                <a16:creationId xmlns:a16="http://schemas.microsoft.com/office/drawing/2014/main" id="{0A5D5CF7-C67F-4A41-A5D9-84EAD302AB0A}"/>
              </a:ext>
            </a:extLst>
          </p:cNvPr>
          <p:cNvSpPr>
            <a:spLocks xmlns:a="http://schemas.openxmlformats.org/drawingml/2006/main" noGrp="1"/>
          </p:cNvSpPr>
          <p:nvPr/>
        </p:nvSpPr>
        <p:spPr>
          <a:xfrm xmlns:a="http://schemas.openxmlformats.org/drawingml/2006/main">
            <a:off x="62865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B6B7C"/>
                </a:solidFill>
                <a:latin typeface="DejaVu Sans"/>
                <a:ea typeface="DejaVu Sans"/>
                <a:cs typeface="DejaVu Sans"/>
              </a:defRPr>
            </a:defPPr>
          </a:lstStyle>
          <a:p xmlns:a="http://schemas.openxmlformats.org/drawingml/2006/main">
            <a:pPr>
              <a:defRPr sz="1200" b="0">
                <a:solidFill>
                  <a:srgbClr val="5B6B7C"/>
                </a:solidFill>
                <a:latin typeface="DejaVu Sans"/>
                <a:ea typeface="DejaVu Sans"/>
                <a:cs typeface="DejaVu Sans"/>
              </a:defRPr>
            </a:pPr>
            <a:r>
              <a:rPr sz="1200" b="0">
                <a:solidFill>
                  <a:srgbClr val="5B6B7C"/>
                </a:solidFill>
                <a:latin typeface="DejaVu Sans"/>
                <a:ea typeface="DejaVu Sans"/>
                <a:cs typeface="DejaVu Sans"/>
              </a:rPr>
              <a:t>SIMULATED API AUTOSCALING • PART 2</a:t>
            </a:r>
          </a:p>
        </p:txBody>
      </p:sp>
      <p:sp>
        <p:nvSpPr>
          <p:cNvPr id="4" name="">
            <a:extLst xmlns:a="http://schemas.openxmlformats.org/drawingml/2006/main">
              <a:ext uri="{FF2B5EF4-FFF2-40B4-BE49-F238E27FC236}">
                <a16:creationId xmlns:a16="http://schemas.microsoft.com/office/drawing/2014/main" id="{8105C741-DA62-45C5-81A8-B24A2C54A505}"/>
              </a:ext>
            </a:extLst>
          </p:cNvPr>
          <p:cNvSpPr>
            <a:spLocks xmlns:a="http://schemas.openxmlformats.org/drawingml/2006/main" noGrp="1"/>
          </p:cNvSpPr>
          <p:nvPr/>
        </p:nvSpPr>
        <p:spPr>
          <a:xfrm xmlns:a="http://schemas.openxmlformats.org/drawingml/2006/main">
            <a:off x="11182350" y="638175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B6B7C"/>
                </a:solidFill>
                <a:latin typeface="DejaVu Sans"/>
                <a:ea typeface="DejaVu Sans"/>
                <a:cs typeface="DejaVu Sans"/>
              </a:defRPr>
            </a:defPPr>
          </a:lstStyle>
          <a:p xmlns:a="http://schemas.openxmlformats.org/drawingml/2006/main">
            <a:pPr>
              <a:defRPr sz="1425" b="0">
                <a:solidFill>
                  <a:srgbClr val="5B6B7C"/>
                </a:solidFill>
                <a:latin typeface="DejaVu Sans"/>
                <a:ea typeface="DejaVu Sans"/>
                <a:cs typeface="DejaVu Sans"/>
              </a:defRPr>
            </a:pPr>
            <a:r>
              <a:rPr sz="1425" b="0">
                <a:solidFill>
                  <a:srgbClr val="5B6B7C"/>
                </a:solidFill>
                <a:latin typeface="DejaVu Sans"/>
                <a:ea typeface="DejaVu Sans"/>
                <a:cs typeface="DejaVu Sans"/>
              </a:rPr>
              <a:t>18</a:t>
            </a:r>
          </a:p>
        </p:txBody>
      </p:sp>
      <p:sp>
        <p:nvSpPr>
          <p:cNvPr id="5" name="">
            <a:extLst xmlns:a="http://schemas.openxmlformats.org/drawingml/2006/main">
              <a:ext uri="{FF2B5EF4-FFF2-40B4-BE49-F238E27FC236}">
                <a16:creationId xmlns:a16="http://schemas.microsoft.com/office/drawing/2014/main" id="{512499B9-2522-4582-A94B-E63E6B9BB308}"/>
              </a:ext>
            </a:extLst>
          </p:cNvPr>
          <p:cNvSpPr>
            <a:spLocks xmlns:a="http://schemas.openxmlformats.org/drawingml/2006/main" noGrp="1"/>
          </p:cNvSpPr>
          <p:nvPr/>
        </p:nvSpPr>
        <p:spPr>
          <a:xfrm xmlns:a="http://schemas.openxmlformats.org/drawingml/2006/main">
            <a:off x="628650" y="1952625"/>
            <a:ext cx="523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72D44"/>
                </a:solidFill>
                <a:latin typeface="DejaVu Sans"/>
                <a:ea typeface="DejaVu Sans"/>
                <a:cs typeface="DejaVu Sans"/>
              </a:defRPr>
            </a:defPPr>
          </a:lstStyle>
          <a:p xmlns:a="http://schemas.openxmlformats.org/drawingml/2006/main">
            <a:pPr>
              <a:defRPr sz="1725" b="1">
                <a:solidFill>
                  <a:srgbClr val="172D44"/>
                </a:solidFill>
                <a:latin typeface="DejaVu Sans"/>
                <a:ea typeface="DejaVu Sans"/>
                <a:cs typeface="DejaVu Sans"/>
              </a:defRPr>
            </a:pPr>
            <a:r>
              <a:rPr sz="1725" b="1">
                <a:solidFill>
                  <a:srgbClr val="172D44"/>
                </a:solidFill>
                <a:latin typeface="DejaVu Sans"/>
                <a:ea typeface="DejaVu Sans"/>
                <a:cs typeface="DejaVu Sans"/>
              </a:rPr>
              <a:t>Schulman et al. (2017)</a:t>
            </a:r>
          </a:p>
        </p:txBody>
      </p:sp>
      <p:sp>
        <p:nvSpPr>
          <p:cNvPr id="6" name="">
            <a:extLst xmlns:a="http://schemas.openxmlformats.org/drawingml/2006/main">
              <a:ext uri="{FF2B5EF4-FFF2-40B4-BE49-F238E27FC236}">
                <a16:creationId xmlns:a16="http://schemas.microsoft.com/office/drawing/2014/main" id="{223EF201-F343-4BBF-B45F-03F4CA33CF79}"/>
              </a:ext>
            </a:extLst>
          </p:cNvPr>
          <p:cNvSpPr>
            <a:spLocks xmlns:a="http://schemas.openxmlformats.org/drawingml/2006/main" noGrp="1"/>
          </p:cNvSpPr>
          <p:nvPr/>
        </p:nvSpPr>
        <p:spPr>
          <a:xfrm xmlns:a="http://schemas.openxmlformats.org/drawingml/2006/main">
            <a:off x="628650" y="2305050"/>
            <a:ext cx="523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263A4E"/>
                </a:solidFill>
                <a:latin typeface="DejaVu Sans"/>
                <a:ea typeface="DejaVu Sans"/>
                <a:cs typeface="DejaVu Sans"/>
              </a:defRPr>
            </a:defPPr>
          </a:lstStyle>
          <a:p xmlns:a="http://schemas.openxmlformats.org/drawingml/2006/main">
            <a:pPr>
              <a:defRPr sz="1575" b="0">
                <a:solidFill>
                  <a:srgbClr val="263A4E"/>
                </a:solidFill>
                <a:latin typeface="DejaVu Sans"/>
                <a:ea typeface="DejaVu Sans"/>
                <a:cs typeface="DejaVu Sans"/>
              </a:defRPr>
            </a:pPr>
            <a:r>
              <a:rPr sz="1575" b="0">
                <a:solidFill>
                  <a:srgbClr val="263A4E"/>
                </a:solidFill>
                <a:latin typeface="DejaVu Sans"/>
                <a:ea typeface="DejaVu Sans"/>
                <a:cs typeface="DejaVu Sans"/>
              </a:rPr>
              <a:t>Proximal Policy Optimization Algorithms</a:t>
            </a:r>
          </a:p>
        </p:txBody>
      </p:sp>
      <p:sp>
        <p:nvSpPr>
          <p:cNvPr id="7" name="">
            <a:extLst xmlns:a="http://schemas.openxmlformats.org/drawingml/2006/main">
              <a:ext uri="{FF2B5EF4-FFF2-40B4-BE49-F238E27FC236}">
                <a16:creationId xmlns:a16="http://schemas.microsoft.com/office/drawing/2014/main" id="{6894F1D5-17CD-45DE-8526-27D7FA03D209}"/>
              </a:ext>
            </a:extLst>
          </p:cNvPr>
          <p:cNvSpPr>
            <a:spLocks xmlns:a="http://schemas.openxmlformats.org/drawingml/2006/main" noGrp="1"/>
          </p:cNvSpPr>
          <p:nvPr/>
        </p:nvSpPr>
        <p:spPr>
          <a:xfrm xmlns:a="http://schemas.openxmlformats.org/drawingml/2006/main">
            <a:off x="628650" y="2771775"/>
            <a:ext cx="523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72D44"/>
                </a:solidFill>
                <a:latin typeface="DejaVu Sans"/>
                <a:ea typeface="DejaVu Sans"/>
                <a:cs typeface="DejaVu Sans"/>
              </a:defRPr>
            </a:defPPr>
          </a:lstStyle>
          <a:p xmlns:a="http://schemas.openxmlformats.org/drawingml/2006/main">
            <a:pPr>
              <a:defRPr sz="1725" b="1">
                <a:solidFill>
                  <a:srgbClr val="172D44"/>
                </a:solidFill>
                <a:latin typeface="DejaVu Sans"/>
                <a:ea typeface="DejaVu Sans"/>
                <a:cs typeface="DejaVu Sans"/>
              </a:defRPr>
            </a:pPr>
            <a:r>
              <a:rPr sz="1725" b="1">
                <a:solidFill>
                  <a:srgbClr val="172D44"/>
                </a:solidFill>
                <a:latin typeface="DejaVu Sans"/>
                <a:ea typeface="DejaVu Sans"/>
                <a:cs typeface="DejaVu Sans"/>
              </a:rPr>
              <a:t>Schulman et al. (2015)</a:t>
            </a:r>
          </a:p>
        </p:txBody>
      </p:sp>
      <p:sp>
        <p:nvSpPr>
          <p:cNvPr id="8" name="">
            <a:extLst xmlns:a="http://schemas.openxmlformats.org/drawingml/2006/main">
              <a:ext uri="{FF2B5EF4-FFF2-40B4-BE49-F238E27FC236}">
                <a16:creationId xmlns:a16="http://schemas.microsoft.com/office/drawing/2014/main" id="{E151C78D-FBB6-4113-8393-87A6BBB50A05}"/>
              </a:ext>
            </a:extLst>
          </p:cNvPr>
          <p:cNvSpPr>
            <a:spLocks xmlns:a="http://schemas.openxmlformats.org/drawingml/2006/main" noGrp="1"/>
          </p:cNvSpPr>
          <p:nvPr/>
        </p:nvSpPr>
        <p:spPr>
          <a:xfrm xmlns:a="http://schemas.openxmlformats.org/drawingml/2006/main">
            <a:off x="628650" y="3124200"/>
            <a:ext cx="523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263A4E"/>
                </a:solidFill>
                <a:latin typeface="DejaVu Sans"/>
                <a:ea typeface="DejaVu Sans"/>
                <a:cs typeface="DejaVu Sans"/>
              </a:defRPr>
            </a:defPPr>
          </a:lstStyle>
          <a:p xmlns:a="http://schemas.openxmlformats.org/drawingml/2006/main">
            <a:pPr>
              <a:defRPr sz="1575" b="0">
                <a:solidFill>
                  <a:srgbClr val="263A4E"/>
                </a:solidFill>
                <a:latin typeface="DejaVu Sans"/>
                <a:ea typeface="DejaVu Sans"/>
                <a:cs typeface="DejaVu Sans"/>
              </a:defRPr>
            </a:pPr>
            <a:r>
              <a:rPr sz="1575" b="0">
                <a:solidFill>
                  <a:srgbClr val="263A4E"/>
                </a:solidFill>
                <a:latin typeface="DejaVu Sans"/>
                <a:ea typeface="DejaVu Sans"/>
                <a:cs typeface="DejaVu Sans"/>
              </a:rPr>
              <a:t>Generalized Advantage Estimation</a:t>
            </a:r>
          </a:p>
        </p:txBody>
      </p:sp>
      <p:sp>
        <p:nvSpPr>
          <p:cNvPr id="9" name="">
            <a:extLst xmlns:a="http://schemas.openxmlformats.org/drawingml/2006/main">
              <a:ext uri="{FF2B5EF4-FFF2-40B4-BE49-F238E27FC236}">
                <a16:creationId xmlns:a16="http://schemas.microsoft.com/office/drawing/2014/main" id="{D280B95D-AD76-4A9C-9880-EBBF18336D0E}"/>
              </a:ext>
            </a:extLst>
          </p:cNvPr>
          <p:cNvSpPr>
            <a:spLocks xmlns:a="http://schemas.openxmlformats.org/drawingml/2006/main" noGrp="1"/>
          </p:cNvSpPr>
          <p:nvPr/>
        </p:nvSpPr>
        <p:spPr>
          <a:xfrm xmlns:a="http://schemas.openxmlformats.org/drawingml/2006/main">
            <a:off x="628650" y="3590925"/>
            <a:ext cx="523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72D44"/>
                </a:solidFill>
                <a:latin typeface="DejaVu Sans"/>
                <a:ea typeface="DejaVu Sans"/>
                <a:cs typeface="DejaVu Sans"/>
              </a:defRPr>
            </a:defPPr>
          </a:lstStyle>
          <a:p xmlns:a="http://schemas.openxmlformats.org/drawingml/2006/main">
            <a:pPr>
              <a:defRPr sz="1725" b="1">
                <a:solidFill>
                  <a:srgbClr val="172D44"/>
                </a:solidFill>
                <a:latin typeface="DejaVu Sans"/>
                <a:ea typeface="DejaVu Sans"/>
                <a:cs typeface="DejaVu Sans"/>
              </a:defRPr>
            </a:pPr>
            <a:r>
              <a:rPr sz="1725" b="1">
                <a:solidFill>
                  <a:srgbClr val="172D44"/>
                </a:solidFill>
                <a:latin typeface="DejaVu Sans"/>
                <a:ea typeface="DejaVu Sans"/>
                <a:cs typeface="DejaVu Sans"/>
              </a:rPr>
              <a:t>Barrett et al. (2013)</a:t>
            </a:r>
          </a:p>
        </p:txBody>
      </p:sp>
      <p:sp>
        <p:nvSpPr>
          <p:cNvPr id="10" name="">
            <a:extLst xmlns:a="http://schemas.openxmlformats.org/drawingml/2006/main">
              <a:ext uri="{FF2B5EF4-FFF2-40B4-BE49-F238E27FC236}">
                <a16:creationId xmlns:a16="http://schemas.microsoft.com/office/drawing/2014/main" id="{B8BCA1AB-D1F5-42AE-94F3-1E080037A3D7}"/>
              </a:ext>
            </a:extLst>
          </p:cNvPr>
          <p:cNvSpPr>
            <a:spLocks xmlns:a="http://schemas.openxmlformats.org/drawingml/2006/main" noGrp="1"/>
          </p:cNvSpPr>
          <p:nvPr/>
        </p:nvSpPr>
        <p:spPr>
          <a:xfrm xmlns:a="http://schemas.openxmlformats.org/drawingml/2006/main">
            <a:off x="628650" y="3943350"/>
            <a:ext cx="523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263A4E"/>
                </a:solidFill>
                <a:latin typeface="DejaVu Sans"/>
                <a:ea typeface="DejaVu Sans"/>
                <a:cs typeface="DejaVu Sans"/>
              </a:defRPr>
            </a:defPPr>
          </a:lstStyle>
          <a:p xmlns:a="http://schemas.openxmlformats.org/drawingml/2006/main">
            <a:pPr>
              <a:defRPr sz="1575" b="0">
                <a:solidFill>
                  <a:srgbClr val="263A4E"/>
                </a:solidFill>
                <a:latin typeface="DejaVu Sans"/>
                <a:ea typeface="DejaVu Sans"/>
                <a:cs typeface="DejaVu Sans"/>
              </a:defRPr>
            </a:pPr>
            <a:r>
              <a:rPr sz="1575" b="0">
                <a:solidFill>
                  <a:srgbClr val="263A4E"/>
                </a:solidFill>
                <a:latin typeface="DejaVu Sans"/>
                <a:ea typeface="DejaVu Sans"/>
                <a:cs typeface="DejaVu Sans"/>
              </a:rPr>
              <a:t>RL for cloud resource allocation</a:t>
            </a:r>
          </a:p>
        </p:txBody>
      </p:sp>
      <p:sp>
        <p:nvSpPr>
          <p:cNvPr id="11" name="">
            <a:extLst xmlns:a="http://schemas.openxmlformats.org/drawingml/2006/main">
              <a:ext uri="{FF2B5EF4-FFF2-40B4-BE49-F238E27FC236}">
                <a16:creationId xmlns:a16="http://schemas.microsoft.com/office/drawing/2014/main" id="{6D466BF3-15BE-4A22-BE97-45F9CECFABD7}"/>
              </a:ext>
            </a:extLst>
          </p:cNvPr>
          <p:cNvSpPr>
            <a:spLocks xmlns:a="http://schemas.openxmlformats.org/drawingml/2006/main" noGrp="1"/>
          </p:cNvSpPr>
          <p:nvPr/>
        </p:nvSpPr>
        <p:spPr>
          <a:xfrm xmlns:a="http://schemas.openxmlformats.org/drawingml/2006/main">
            <a:off x="628650" y="4410075"/>
            <a:ext cx="523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72D44"/>
                </a:solidFill>
                <a:latin typeface="DejaVu Sans"/>
                <a:ea typeface="DejaVu Sans"/>
                <a:cs typeface="DejaVu Sans"/>
              </a:defRPr>
            </a:defPPr>
          </a:lstStyle>
          <a:p xmlns:a="http://schemas.openxmlformats.org/drawingml/2006/main">
            <a:pPr>
              <a:defRPr sz="1725" b="1">
                <a:solidFill>
                  <a:srgbClr val="172D44"/>
                </a:solidFill>
                <a:latin typeface="DejaVu Sans"/>
                <a:ea typeface="DejaVu Sans"/>
                <a:cs typeface="DejaVu Sans"/>
              </a:defRPr>
            </a:pPr>
            <a:r>
              <a:rPr sz="1725" b="1">
                <a:solidFill>
                  <a:srgbClr val="172D44"/>
                </a:solidFill>
                <a:latin typeface="DejaVu Sans"/>
                <a:ea typeface="DejaVu Sans"/>
                <a:cs typeface="DejaVu Sans"/>
              </a:rPr>
              <a:t>Garí et al. (2020)</a:t>
            </a:r>
          </a:p>
        </p:txBody>
      </p:sp>
      <p:sp>
        <p:nvSpPr>
          <p:cNvPr id="12" name="">
            <a:extLst xmlns:a="http://schemas.openxmlformats.org/drawingml/2006/main">
              <a:ext uri="{FF2B5EF4-FFF2-40B4-BE49-F238E27FC236}">
                <a16:creationId xmlns:a16="http://schemas.microsoft.com/office/drawing/2014/main" id="{4A00F106-CFF1-442A-9B7F-213092EB7B39}"/>
              </a:ext>
            </a:extLst>
          </p:cNvPr>
          <p:cNvSpPr>
            <a:spLocks xmlns:a="http://schemas.openxmlformats.org/drawingml/2006/main" noGrp="1"/>
          </p:cNvSpPr>
          <p:nvPr/>
        </p:nvSpPr>
        <p:spPr>
          <a:xfrm xmlns:a="http://schemas.openxmlformats.org/drawingml/2006/main">
            <a:off x="628650" y="4762500"/>
            <a:ext cx="523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263A4E"/>
                </a:solidFill>
                <a:latin typeface="DejaVu Sans"/>
                <a:ea typeface="DejaVu Sans"/>
                <a:cs typeface="DejaVu Sans"/>
              </a:defRPr>
            </a:defPPr>
          </a:lstStyle>
          <a:p xmlns:a="http://schemas.openxmlformats.org/drawingml/2006/main">
            <a:pPr>
              <a:defRPr sz="1575" b="0">
                <a:solidFill>
                  <a:srgbClr val="263A4E"/>
                </a:solidFill>
                <a:latin typeface="DejaVu Sans"/>
                <a:ea typeface="DejaVu Sans"/>
                <a:cs typeface="DejaVu Sans"/>
              </a:defRPr>
            </a:pPr>
            <a:r>
              <a:rPr sz="1575" b="0">
                <a:solidFill>
                  <a:srgbClr val="263A4E"/>
                </a:solidFill>
                <a:latin typeface="DejaVu Sans"/>
                <a:ea typeface="DejaVu Sans"/>
                <a:cs typeface="DejaVu Sans"/>
              </a:rPr>
              <a:t>Application autoscaling survey</a:t>
            </a:r>
          </a:p>
        </p:txBody>
      </p:sp>
      <p:sp>
        <p:nvSpPr>
          <p:cNvPr id="13" name="">
            <a:extLst xmlns:a="http://schemas.openxmlformats.org/drawingml/2006/main">
              <a:ext uri="{FF2B5EF4-FFF2-40B4-BE49-F238E27FC236}">
                <a16:creationId xmlns:a16="http://schemas.microsoft.com/office/drawing/2014/main" id="{8AE4770D-A703-4C08-9704-20DCA026D165}"/>
              </a:ext>
            </a:extLst>
          </p:cNvPr>
          <p:cNvSpPr>
            <a:spLocks xmlns:a="http://schemas.openxmlformats.org/drawingml/2006/main" noGrp="1"/>
          </p:cNvSpPr>
          <p:nvPr/>
        </p:nvSpPr>
        <p:spPr>
          <a:xfrm xmlns:a="http://schemas.openxmlformats.org/drawingml/2006/main">
            <a:off x="6153150" y="1952625"/>
            <a:ext cx="523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72D44"/>
                </a:solidFill>
                <a:latin typeface="DejaVu Sans"/>
                <a:ea typeface="DejaVu Sans"/>
                <a:cs typeface="DejaVu Sans"/>
              </a:defRPr>
            </a:defPPr>
          </a:lstStyle>
          <a:p xmlns:a="http://schemas.openxmlformats.org/drawingml/2006/main">
            <a:pPr>
              <a:defRPr sz="1725" b="1">
                <a:solidFill>
                  <a:srgbClr val="172D44"/>
                </a:solidFill>
                <a:latin typeface="DejaVu Sans"/>
                <a:ea typeface="DejaVu Sans"/>
                <a:cs typeface="DejaVu Sans"/>
              </a:defRPr>
            </a:pPr>
            <a:r>
              <a:rPr sz="1725" b="1">
                <a:solidFill>
                  <a:srgbClr val="172D44"/>
                </a:solidFill>
                <a:latin typeface="DejaVu Sans"/>
                <a:ea typeface="DejaVu Sans"/>
                <a:cs typeface="DejaVu Sans"/>
              </a:rPr>
              <a:t>Wang et al. (2017)</a:t>
            </a:r>
          </a:p>
        </p:txBody>
      </p:sp>
      <p:sp>
        <p:nvSpPr>
          <p:cNvPr id="14" name="">
            <a:extLst xmlns:a="http://schemas.openxmlformats.org/drawingml/2006/main">
              <a:ext uri="{FF2B5EF4-FFF2-40B4-BE49-F238E27FC236}">
                <a16:creationId xmlns:a16="http://schemas.microsoft.com/office/drawing/2014/main" id="{F469A839-FE45-4032-A147-80AA62A703D9}"/>
              </a:ext>
            </a:extLst>
          </p:cNvPr>
          <p:cNvSpPr>
            <a:spLocks xmlns:a="http://schemas.openxmlformats.org/drawingml/2006/main" noGrp="1"/>
          </p:cNvSpPr>
          <p:nvPr/>
        </p:nvSpPr>
        <p:spPr>
          <a:xfrm xmlns:a="http://schemas.openxmlformats.org/drawingml/2006/main">
            <a:off x="6153150" y="2305050"/>
            <a:ext cx="523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263A4E"/>
                </a:solidFill>
                <a:latin typeface="DejaVu Sans"/>
                <a:ea typeface="DejaVu Sans"/>
                <a:cs typeface="DejaVu Sans"/>
              </a:defRPr>
            </a:defPPr>
          </a:lstStyle>
          <a:p xmlns:a="http://schemas.openxmlformats.org/drawingml/2006/main">
            <a:pPr>
              <a:defRPr sz="1575" b="0">
                <a:solidFill>
                  <a:srgbClr val="263A4E"/>
                </a:solidFill>
                <a:latin typeface="DejaVu Sans"/>
                <a:ea typeface="DejaVu Sans"/>
                <a:cs typeface="DejaVu Sans"/>
              </a:defRPr>
            </a:pPr>
            <a:r>
              <a:rPr sz="1575" b="0">
                <a:solidFill>
                  <a:srgbClr val="263A4E"/>
                </a:solidFill>
                <a:latin typeface="DejaVu Sans"/>
                <a:ea typeface="DejaVu Sans"/>
                <a:cs typeface="DejaVu Sans"/>
              </a:rPr>
              <a:t>Automated cloud provisioning on AWS</a:t>
            </a:r>
          </a:p>
        </p:txBody>
      </p:sp>
      <p:sp>
        <p:nvSpPr>
          <p:cNvPr id="15" name="">
            <a:extLst xmlns:a="http://schemas.openxmlformats.org/drawingml/2006/main">
              <a:ext uri="{FF2B5EF4-FFF2-40B4-BE49-F238E27FC236}">
                <a16:creationId xmlns:a16="http://schemas.microsoft.com/office/drawing/2014/main" id="{5642F9A5-5EBF-4F5F-9365-72F25C2B0E21}"/>
              </a:ext>
            </a:extLst>
          </p:cNvPr>
          <p:cNvSpPr>
            <a:spLocks xmlns:a="http://schemas.openxmlformats.org/drawingml/2006/main" noGrp="1"/>
          </p:cNvSpPr>
          <p:nvPr/>
        </p:nvSpPr>
        <p:spPr>
          <a:xfrm xmlns:a="http://schemas.openxmlformats.org/drawingml/2006/main">
            <a:off x="6153150" y="2771775"/>
            <a:ext cx="523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72D44"/>
                </a:solidFill>
                <a:latin typeface="DejaVu Sans"/>
                <a:ea typeface="DejaVu Sans"/>
                <a:cs typeface="DejaVu Sans"/>
              </a:defRPr>
            </a:defPPr>
          </a:lstStyle>
          <a:p xmlns:a="http://schemas.openxmlformats.org/drawingml/2006/main">
            <a:pPr>
              <a:defRPr sz="1725" b="1">
                <a:solidFill>
                  <a:srgbClr val="172D44"/>
                </a:solidFill>
                <a:latin typeface="DejaVu Sans"/>
                <a:ea typeface="DejaVu Sans"/>
                <a:cs typeface="DejaVu Sans"/>
              </a:defRPr>
            </a:pPr>
            <a:r>
              <a:rPr sz="1725" b="1">
                <a:solidFill>
                  <a:srgbClr val="172D44"/>
                </a:solidFill>
                <a:latin typeface="DejaVu Sans"/>
                <a:ea typeface="DejaVu Sans"/>
                <a:cs typeface="DejaVu Sans"/>
              </a:rPr>
              <a:t>Qiu et al. (2023)</a:t>
            </a:r>
          </a:p>
        </p:txBody>
      </p:sp>
      <p:sp>
        <p:nvSpPr>
          <p:cNvPr id="16" name="">
            <a:extLst xmlns:a="http://schemas.openxmlformats.org/drawingml/2006/main">
              <a:ext uri="{FF2B5EF4-FFF2-40B4-BE49-F238E27FC236}">
                <a16:creationId xmlns:a16="http://schemas.microsoft.com/office/drawing/2014/main" id="{8770A748-463D-4C76-B4D8-BF70661A7678}"/>
              </a:ext>
            </a:extLst>
          </p:cNvPr>
          <p:cNvSpPr>
            <a:spLocks xmlns:a="http://schemas.openxmlformats.org/drawingml/2006/main" noGrp="1"/>
          </p:cNvSpPr>
          <p:nvPr/>
        </p:nvSpPr>
        <p:spPr>
          <a:xfrm xmlns:a="http://schemas.openxmlformats.org/drawingml/2006/main">
            <a:off x="6153150" y="3124200"/>
            <a:ext cx="523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263A4E"/>
                </a:solidFill>
                <a:latin typeface="DejaVu Sans"/>
                <a:ea typeface="DejaVu Sans"/>
                <a:cs typeface="DejaVu Sans"/>
              </a:defRPr>
            </a:defPPr>
          </a:lstStyle>
          <a:p xmlns:a="http://schemas.openxmlformats.org/drawingml/2006/main">
            <a:pPr>
              <a:defRPr sz="1575" b="0">
                <a:solidFill>
                  <a:srgbClr val="263A4E"/>
                </a:solidFill>
                <a:latin typeface="DejaVu Sans"/>
                <a:ea typeface="DejaVu Sans"/>
                <a:cs typeface="DejaVu Sans"/>
              </a:defRPr>
            </a:pPr>
            <a:r>
              <a:rPr sz="1575" b="0">
                <a:solidFill>
                  <a:srgbClr val="263A4E"/>
                </a:solidFill>
                <a:latin typeface="DejaVu Sans"/>
                <a:ea typeface="DejaVu Sans"/>
                <a:cs typeface="DejaVu Sans"/>
              </a:rPr>
              <a:t>AWARE: workload autoscaling</a:t>
            </a:r>
          </a:p>
        </p:txBody>
      </p:sp>
      <p:sp>
        <p:nvSpPr>
          <p:cNvPr id="17" name="">
            <a:extLst xmlns:a="http://schemas.openxmlformats.org/drawingml/2006/main">
              <a:ext uri="{FF2B5EF4-FFF2-40B4-BE49-F238E27FC236}">
                <a16:creationId xmlns:a16="http://schemas.microsoft.com/office/drawing/2014/main" id="{A2D5F51A-4672-4FA7-8877-DF7E8AD10A4C}"/>
              </a:ext>
            </a:extLst>
          </p:cNvPr>
          <p:cNvSpPr>
            <a:spLocks xmlns:a="http://schemas.openxmlformats.org/drawingml/2006/main" noGrp="1"/>
          </p:cNvSpPr>
          <p:nvPr/>
        </p:nvSpPr>
        <p:spPr>
          <a:xfrm xmlns:a="http://schemas.openxmlformats.org/drawingml/2006/main">
            <a:off x="6153150" y="3590925"/>
            <a:ext cx="523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72D44"/>
                </a:solidFill>
                <a:latin typeface="DejaVu Sans"/>
                <a:ea typeface="DejaVu Sans"/>
                <a:cs typeface="DejaVu Sans"/>
              </a:defRPr>
            </a:defPPr>
          </a:lstStyle>
          <a:p xmlns:a="http://schemas.openxmlformats.org/drawingml/2006/main">
            <a:pPr>
              <a:defRPr sz="1725" b="1">
                <a:solidFill>
                  <a:srgbClr val="172D44"/>
                </a:solidFill>
                <a:latin typeface="DejaVu Sans"/>
                <a:ea typeface="DejaVu Sans"/>
                <a:cs typeface="DejaVu Sans"/>
              </a:defRPr>
            </a:pPr>
            <a:r>
              <a:rPr sz="1725" b="1">
                <a:solidFill>
                  <a:srgbClr val="172D44"/>
                </a:solidFill>
                <a:latin typeface="DejaVu Sans"/>
                <a:ea typeface="DejaVu Sans"/>
                <a:cs typeface="DejaVu Sans"/>
              </a:rPr>
              <a:t>Mnih et al. (2013)</a:t>
            </a:r>
          </a:p>
        </p:txBody>
      </p:sp>
      <p:sp>
        <p:nvSpPr>
          <p:cNvPr id="18" name="">
            <a:extLst xmlns:a="http://schemas.openxmlformats.org/drawingml/2006/main">
              <a:ext uri="{FF2B5EF4-FFF2-40B4-BE49-F238E27FC236}">
                <a16:creationId xmlns:a16="http://schemas.microsoft.com/office/drawing/2014/main" id="{2EDD3854-FC84-4F9F-8654-73D5E4E1B600}"/>
              </a:ext>
            </a:extLst>
          </p:cNvPr>
          <p:cNvSpPr>
            <a:spLocks xmlns:a="http://schemas.openxmlformats.org/drawingml/2006/main" noGrp="1"/>
          </p:cNvSpPr>
          <p:nvPr/>
        </p:nvSpPr>
        <p:spPr>
          <a:xfrm xmlns:a="http://schemas.openxmlformats.org/drawingml/2006/main">
            <a:off x="6153150" y="3943350"/>
            <a:ext cx="523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263A4E"/>
                </a:solidFill>
                <a:latin typeface="DejaVu Sans"/>
                <a:ea typeface="DejaVu Sans"/>
                <a:cs typeface="DejaVu Sans"/>
              </a:defRPr>
            </a:defPPr>
          </a:lstStyle>
          <a:p xmlns:a="http://schemas.openxmlformats.org/drawingml/2006/main">
            <a:pPr>
              <a:defRPr sz="1575" b="0">
                <a:solidFill>
                  <a:srgbClr val="263A4E"/>
                </a:solidFill>
                <a:latin typeface="DejaVu Sans"/>
                <a:ea typeface="DejaVu Sans"/>
                <a:cs typeface="DejaVu Sans"/>
              </a:defRPr>
            </a:pPr>
            <a:r>
              <a:rPr sz="1575" b="0">
                <a:solidFill>
                  <a:srgbClr val="263A4E"/>
                </a:solidFill>
                <a:latin typeface="DejaVu Sans"/>
                <a:ea typeface="DejaVu Sans"/>
                <a:cs typeface="DejaVu Sans"/>
              </a:rPr>
              <a:t>Playing Atari with Deep RL</a:t>
            </a:r>
          </a:p>
        </p:txBody>
      </p:sp>
      <p:sp>
        <p:nvSpPr>
          <p:cNvPr id="19" name="">
            <a:extLst xmlns:a="http://schemas.openxmlformats.org/drawingml/2006/main">
              <a:ext uri="{FF2B5EF4-FFF2-40B4-BE49-F238E27FC236}">
                <a16:creationId xmlns:a16="http://schemas.microsoft.com/office/drawing/2014/main" id="{4710C35E-9E18-4AF0-82A3-653DA2B49226}"/>
              </a:ext>
            </a:extLst>
          </p:cNvPr>
          <p:cNvSpPr>
            <a:spLocks xmlns:a="http://schemas.openxmlformats.org/drawingml/2006/main" noGrp="1"/>
          </p:cNvSpPr>
          <p:nvPr/>
        </p:nvSpPr>
        <p:spPr>
          <a:xfrm xmlns:a="http://schemas.openxmlformats.org/drawingml/2006/main">
            <a:off x="6153150" y="4410075"/>
            <a:ext cx="523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72D44"/>
                </a:solidFill>
                <a:latin typeface="DejaVu Sans"/>
                <a:ea typeface="DejaVu Sans"/>
                <a:cs typeface="DejaVu Sans"/>
              </a:defRPr>
            </a:defPPr>
          </a:lstStyle>
          <a:p xmlns:a="http://schemas.openxmlformats.org/drawingml/2006/main">
            <a:pPr>
              <a:defRPr sz="1725" b="1">
                <a:solidFill>
                  <a:srgbClr val="172D44"/>
                </a:solidFill>
                <a:latin typeface="DejaVu Sans"/>
                <a:ea typeface="DejaVu Sans"/>
                <a:cs typeface="DejaVu Sans"/>
              </a:defRPr>
            </a:pPr>
            <a:r>
              <a:rPr sz="1725" b="1">
                <a:solidFill>
                  <a:srgbClr val="172D44"/>
                </a:solidFill>
                <a:latin typeface="DejaVu Sans"/>
                <a:ea typeface="DejaVu Sans"/>
                <a:cs typeface="DejaVu Sans"/>
              </a:rPr>
              <a:t>Henderson et al. (2017)</a:t>
            </a:r>
          </a:p>
        </p:txBody>
      </p:sp>
      <p:sp>
        <p:nvSpPr>
          <p:cNvPr id="20" name="">
            <a:extLst xmlns:a="http://schemas.openxmlformats.org/drawingml/2006/main">
              <a:ext uri="{FF2B5EF4-FFF2-40B4-BE49-F238E27FC236}">
                <a16:creationId xmlns:a16="http://schemas.microsoft.com/office/drawing/2014/main" id="{7FBBEAE7-570D-4420-B449-B266586676F7}"/>
              </a:ext>
            </a:extLst>
          </p:cNvPr>
          <p:cNvSpPr>
            <a:spLocks xmlns:a="http://schemas.openxmlformats.org/drawingml/2006/main" noGrp="1"/>
          </p:cNvSpPr>
          <p:nvPr/>
        </p:nvSpPr>
        <p:spPr>
          <a:xfrm xmlns:a="http://schemas.openxmlformats.org/drawingml/2006/main">
            <a:off x="6153150" y="4762500"/>
            <a:ext cx="523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263A4E"/>
                </a:solidFill>
                <a:latin typeface="DejaVu Sans"/>
                <a:ea typeface="DejaVu Sans"/>
                <a:cs typeface="DejaVu Sans"/>
              </a:defRPr>
            </a:defPPr>
          </a:lstStyle>
          <a:p xmlns:a="http://schemas.openxmlformats.org/drawingml/2006/main">
            <a:pPr>
              <a:defRPr sz="1575" b="0">
                <a:solidFill>
                  <a:srgbClr val="263A4E"/>
                </a:solidFill>
                <a:latin typeface="DejaVu Sans"/>
                <a:ea typeface="DejaVu Sans"/>
                <a:cs typeface="DejaVu Sans"/>
              </a:defRPr>
            </a:pPr>
            <a:r>
              <a:rPr sz="1575" b="0">
                <a:solidFill>
                  <a:srgbClr val="263A4E"/>
                </a:solidFill>
                <a:latin typeface="DejaVu Sans"/>
                <a:ea typeface="DejaVu Sans"/>
                <a:cs typeface="DejaVu Sans"/>
              </a:rPr>
              <a:t>Deep Reinforcement Learning that Matters</a:t>
            </a:r>
          </a:p>
        </p:txBody>
      </p:sp>
      <p:sp>
        <p:nvSpPr>
          <p:cNvPr id="21" name="">
            <a:extLst xmlns:a="http://schemas.openxmlformats.org/drawingml/2006/main">
              <a:ext uri="{FF2B5EF4-FFF2-40B4-BE49-F238E27FC236}">
                <a16:creationId xmlns:a16="http://schemas.microsoft.com/office/drawing/2014/main" id="{02B4D6B6-7216-40D0-BD06-E53FF1F011A4}"/>
              </a:ext>
            </a:extLst>
          </p:cNvPr>
          <p:cNvSpPr>
            <a:spLocks xmlns:a="http://schemas.openxmlformats.org/drawingml/2006/main" noGrp="1"/>
          </p:cNvSpPr>
          <p:nvPr/>
        </p:nvSpPr>
        <p:spPr>
          <a:xfrm xmlns:a="http://schemas.openxmlformats.org/drawingml/2006/main">
            <a:off x="628650" y="5495925"/>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1867A"/>
                </a:solidFill>
                <a:latin typeface="DejaVu Sans"/>
                <a:ea typeface="DejaVu Sans"/>
                <a:cs typeface="DejaVu Sans"/>
              </a:defRPr>
            </a:defPPr>
          </a:lstStyle>
          <a:p xmlns:a="http://schemas.openxmlformats.org/drawingml/2006/main">
            <a:pPr>
              <a:defRPr sz="1725" b="1">
                <a:solidFill>
                  <a:srgbClr val="21867A"/>
                </a:solidFill>
                <a:latin typeface="DejaVu Sans"/>
                <a:ea typeface="DejaVu Sans"/>
                <a:cs typeface="DejaVu Sans"/>
              </a:defRPr>
            </a:pPr>
            <a:r>
              <a:rPr sz="1725" b="1">
                <a:solidFill>
                  <a:srgbClr val="21867A"/>
                </a:solidFill>
                <a:latin typeface="DejaVu Sans"/>
                <a:ea typeface="DejaVu Sans"/>
                <a:cs typeface="DejaVu Sans"/>
              </a:rPr>
              <a:t>AI disclosure: ChatGPT and Claude assisted code, analysis, slides, and narration.</a:t>
            </a:r>
          </a:p>
          <a:p xmlns:a="http://schemas.openxmlformats.org/drawingml/2006/main">
            <a:pPr>
              <a:defRPr sz="1725" b="1">
                <a:solidFill>
                  <a:srgbClr val="21867A"/>
                </a:solidFill>
                <a:latin typeface="DejaVu Sans"/>
                <a:ea typeface="DejaVu Sans"/>
                <a:cs typeface="DejaVu Sans"/>
              </a:defRPr>
            </a:pPr>
            <a:r>
              <a:rPr sz="1725" b="1">
                <a:solidFill>
                  <a:srgbClr val="21867A"/>
                </a:solidFill>
                <a:latin typeface="DejaVu Sans"/>
                <a:ea typeface="DejaVu Sans"/>
                <a:cs typeface="DejaVu Sans"/>
              </a:rPr>
              <a:t>Training metrics come from actual executions of the included simulator.</a:t>
            </a:r>
          </a:p>
        </p:txBody>
      </p:sp>
    </p:spTree>
    <p:extLst>
      <p:ext uri="{BB962C8B-B14F-4D97-AF65-F5344CB8AC3E}">
        <p14:creationId xmlns:p14="http://schemas.microsoft.com/office/powerpoint/2010/main" val="108742979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E5A8816-104D-4FAC-BBD0-0A7B930578D0}"/>
              </a:ext>
            </a:extLst>
          </p:cNvPr>
          <p:cNvSpPr>
            <a:spLocks xmlns:a="http://schemas.openxmlformats.org/drawingml/2006/main" noGrp="1"/>
          </p:cNvSpPr>
          <p:nvPr/>
        </p:nvSpPr>
        <p:spPr>
          <a:xfrm xmlns:a="http://schemas.openxmlformats.org/drawingml/2006/main">
            <a:off x="609600" y="457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44"/>
                </a:solidFill>
                <a:latin typeface="DejaVu Sans"/>
                <a:ea typeface="DejaVu Sans"/>
                <a:cs typeface="DejaVu Sans"/>
              </a:defRPr>
            </a:defPPr>
          </a:lstStyle>
          <a:p xmlns:a="http://schemas.openxmlformats.org/drawingml/2006/main">
            <a:pPr>
              <a:defRPr sz="3150" b="1">
                <a:solidFill>
                  <a:srgbClr val="172D44"/>
                </a:solidFill>
                <a:latin typeface="DejaVu Sans"/>
                <a:ea typeface="DejaVu Sans"/>
                <a:cs typeface="DejaVu Sans"/>
              </a:defRPr>
            </a:pPr>
            <a:r>
              <a:rPr sz="3150" b="1">
                <a:solidFill>
                  <a:srgbClr val="172D44"/>
                </a:solidFill>
                <a:latin typeface="DejaVu Sans"/>
                <a:ea typeface="DejaVu Sans"/>
                <a:cs typeface="DejaVu Sans"/>
              </a:rPr>
              <a:t>Ablations: what clipping and GAE contribute</a:t>
            </a:r>
          </a:p>
        </p:txBody>
      </p:sp>
      <p:sp>
        <p:nvSpPr>
          <p:cNvPr id="2" name="">
            <a:extLst xmlns:a="http://schemas.openxmlformats.org/drawingml/2006/main">
              <a:ext uri="{FF2B5EF4-FFF2-40B4-BE49-F238E27FC236}">
                <a16:creationId xmlns:a16="http://schemas.microsoft.com/office/drawing/2014/main" id="{202AB2EF-FBB5-4EF2-B525-2A4E9227EF8A}"/>
              </a:ext>
            </a:extLst>
          </p:cNvPr>
          <p:cNvSpPr>
            <a:spLocks xmlns:a="http://schemas.openxmlformats.org/drawingml/2006/main" noGrp="1"/>
          </p:cNvSpPr>
          <p:nvPr/>
        </p:nvSpPr>
        <p:spPr>
          <a:xfrm xmlns:a="http://schemas.openxmlformats.org/drawingml/2006/main">
            <a:off x="62865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B6B7C"/>
                </a:solidFill>
                <a:latin typeface="DejaVu Sans"/>
                <a:ea typeface="DejaVu Sans"/>
                <a:cs typeface="DejaVu Sans"/>
              </a:defRPr>
            </a:defPPr>
          </a:lstStyle>
          <a:p xmlns:a="http://schemas.openxmlformats.org/drawingml/2006/main">
            <a:pPr>
              <a:defRPr sz="1875" b="0">
                <a:solidFill>
                  <a:srgbClr val="5B6B7C"/>
                </a:solidFill>
                <a:latin typeface="DejaVu Sans"/>
                <a:ea typeface="DejaVu Sans"/>
                <a:cs typeface="DejaVu Sans"/>
              </a:defRPr>
            </a:pPr>
            <a:r>
              <a:rPr sz="1875" b="0">
                <a:solidFill>
                  <a:srgbClr val="5B6B7C"/>
                </a:solidFill>
                <a:latin typeface="DejaVu Sans"/>
                <a:ea typeface="DejaVu Sans"/>
                <a:cs typeface="DejaVu Sans"/>
              </a:rPr>
              <a:t>10 paired seeds per variant: same initial weights and training traffic</a:t>
            </a:r>
          </a:p>
        </p:txBody>
      </p:sp>
      <p:sp>
        <p:nvSpPr>
          <p:cNvPr id="3" name="">
            <a:extLst xmlns:a="http://schemas.openxmlformats.org/drawingml/2006/main">
              <a:ext uri="{FF2B5EF4-FFF2-40B4-BE49-F238E27FC236}">
                <a16:creationId xmlns:a16="http://schemas.microsoft.com/office/drawing/2014/main" id="{A8E7FDCB-73D1-4FD7-8DC8-EC47EFF72449}"/>
              </a:ext>
            </a:extLst>
          </p:cNvPr>
          <p:cNvSpPr>
            <a:spLocks xmlns:a="http://schemas.openxmlformats.org/drawingml/2006/main" noGrp="1"/>
          </p:cNvSpPr>
          <p:nvPr/>
        </p:nvSpPr>
        <p:spPr>
          <a:xfrm xmlns:a="http://schemas.openxmlformats.org/drawingml/2006/main">
            <a:off x="62865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B6B7C"/>
                </a:solidFill>
                <a:latin typeface="DejaVu Sans"/>
                <a:ea typeface="DejaVu Sans"/>
                <a:cs typeface="DejaVu Sans"/>
              </a:defRPr>
            </a:defPPr>
          </a:lstStyle>
          <a:p xmlns:a="http://schemas.openxmlformats.org/drawingml/2006/main">
            <a:pPr>
              <a:defRPr sz="1200" b="0">
                <a:solidFill>
                  <a:srgbClr val="5B6B7C"/>
                </a:solidFill>
                <a:latin typeface="DejaVu Sans"/>
                <a:ea typeface="DejaVu Sans"/>
                <a:cs typeface="DejaVu Sans"/>
              </a:defRPr>
            </a:pPr>
            <a:r>
              <a:rPr sz="1200" b="0">
                <a:solidFill>
                  <a:srgbClr val="5B6B7C"/>
                </a:solidFill>
                <a:latin typeface="DejaVu Sans"/>
                <a:ea typeface="DejaVu Sans"/>
                <a:cs typeface="DejaVu Sans"/>
              </a:rPr>
              <a:t>SIMULATED API AUTOSCALING • PART 2</a:t>
            </a:r>
          </a:p>
        </p:txBody>
      </p:sp>
      <p:sp>
        <p:nvSpPr>
          <p:cNvPr id="4" name="">
            <a:extLst xmlns:a="http://schemas.openxmlformats.org/drawingml/2006/main">
              <a:ext uri="{FF2B5EF4-FFF2-40B4-BE49-F238E27FC236}">
                <a16:creationId xmlns:a16="http://schemas.microsoft.com/office/drawing/2014/main" id="{70A8902A-1451-4FCE-BD81-CF2B4CD33551}"/>
              </a:ext>
            </a:extLst>
          </p:cNvPr>
          <p:cNvSpPr>
            <a:spLocks xmlns:a="http://schemas.openxmlformats.org/drawingml/2006/main" noGrp="1"/>
          </p:cNvSpPr>
          <p:nvPr/>
        </p:nvSpPr>
        <p:spPr>
          <a:xfrm xmlns:a="http://schemas.openxmlformats.org/drawingml/2006/main">
            <a:off x="11182350" y="638175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B6B7C"/>
                </a:solidFill>
                <a:latin typeface="DejaVu Sans"/>
                <a:ea typeface="DejaVu Sans"/>
                <a:cs typeface="DejaVu Sans"/>
              </a:defRPr>
            </a:defPPr>
          </a:lstStyle>
          <a:p xmlns:a="http://schemas.openxmlformats.org/drawingml/2006/main">
            <a:pPr>
              <a:defRPr sz="1425" b="0">
                <a:solidFill>
                  <a:srgbClr val="5B6B7C"/>
                </a:solidFill>
                <a:latin typeface="DejaVu Sans"/>
                <a:ea typeface="DejaVu Sans"/>
                <a:cs typeface="DejaVu Sans"/>
              </a:defRPr>
            </a:pPr>
            <a:r>
              <a:rPr sz="1425" b="0">
                <a:solidFill>
                  <a:srgbClr val="5B6B7C"/>
                </a:solidFill>
                <a:latin typeface="DejaVu Sans"/>
                <a:ea typeface="DejaVu Sans"/>
                <a:cs typeface="DejaVu Sans"/>
              </a:rPr>
              <a:t>13</a:t>
            </a:r>
          </a:p>
        </p:txBody>
      </p:sp>
      <p:graphicFrame>
        <p:nvGraphicFramePr>
          <p:cNvPr id="5" name="Chart">
            <a:extLst xmlns:a="http://schemas.openxmlformats.org/drawingml/2006/main">
              <a:ext uri="{FF2B5EF4-FFF2-40B4-BE49-F238E27FC236}">
                <a16:creationId xmlns:a16="http://schemas.microsoft.com/office/drawing/2014/main" id="{BB58B0CF-4B2C-4933-99A1-F0BD503EDF00}"/>
              </a:ext>
            </a:extLst>
          </p:cNvPr>
          <p:cNvGraphicFramePr/>
          <p:nvPr/>
        </p:nvGraphicFramePr>
        <p:xfrm>
          <a:off xmlns:a="http://schemas.openxmlformats.org/drawingml/2006/main" x="628650" y="1924050"/>
          <a:ext xmlns:a="http://schemas.openxmlformats.org/drawingml/2006/main" cx="5248275" cy="3171825"/>
        </p:xfrm>
        <a:graphic xmlns:a="http://schemas.openxmlformats.org/drawingml/2006/main">
          <a:graphicData uri="http://schemas.openxmlformats.org/drawingml/2006/chart">
            <c:chart xmlns:r="http://schemas.openxmlformats.org/officeDocument/2006/relationships" xmlns:c="http://schemas.openxmlformats.org/drawingml/2006/chart" r:id="Re33e3304bb864a1b"/>
          </a:graphicData>
        </a:graphic>
      </p:graphicFrame>
      <p:graphicFrame>
        <p:nvGraphicFramePr>
          <p:cNvPr id="6" name="Chart">
            <a:extLst xmlns:a="http://schemas.openxmlformats.org/drawingml/2006/main">
              <a:ext uri="{FF2B5EF4-FFF2-40B4-BE49-F238E27FC236}">
                <a16:creationId xmlns:a16="http://schemas.microsoft.com/office/drawing/2014/main" id="{363F0AF6-F900-49BB-82E1-77B2D0DA40F5}"/>
              </a:ext>
            </a:extLst>
          </p:cNvPr>
          <p:cNvGraphicFramePr/>
          <p:nvPr/>
        </p:nvGraphicFramePr>
        <p:xfrm>
          <a:off xmlns:a="http://schemas.openxmlformats.org/drawingml/2006/main" x="6134100" y="1924050"/>
          <a:ext xmlns:a="http://schemas.openxmlformats.org/drawingml/2006/main" cx="5248275" cy="3171825"/>
        </p:xfrm>
        <a:graphic xmlns:a="http://schemas.openxmlformats.org/drawingml/2006/main">
          <a:graphicData uri="http://schemas.openxmlformats.org/drawingml/2006/chart">
            <c:chart xmlns:r="http://schemas.openxmlformats.org/officeDocument/2006/relationships" xmlns:c="http://schemas.openxmlformats.org/drawingml/2006/chart" r:id="R3326cb004b684c1f"/>
          </a:graphicData>
        </a:graphic>
      </p:graphicFrame>
      <p:sp>
        <p:nvSpPr>
          <p:cNvPr id="7" name="">
            <a:extLst xmlns:a="http://schemas.openxmlformats.org/drawingml/2006/main">
              <a:ext uri="{FF2B5EF4-FFF2-40B4-BE49-F238E27FC236}">
                <a16:creationId xmlns:a16="http://schemas.microsoft.com/office/drawing/2014/main" id="{08D7C428-71A1-4AF7-A6E5-3D94650F12FA}"/>
              </a:ext>
            </a:extLst>
          </p:cNvPr>
          <p:cNvSpPr>
            <a:spLocks xmlns:a="http://schemas.openxmlformats.org/drawingml/2006/main" noGrp="1"/>
          </p:cNvSpPr>
          <p:nvPr/>
        </p:nvSpPr>
        <p:spPr>
          <a:xfrm xmlns:a="http://schemas.openxmlformats.org/drawingml/2006/main">
            <a:off x="628650" y="524827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DC7841"/>
                </a:solidFill>
                <a:latin typeface="DejaVu Sans"/>
                <a:ea typeface="DejaVu Sans"/>
                <a:cs typeface="DejaVu Sans"/>
              </a:defRPr>
            </a:defPPr>
          </a:lstStyle>
          <a:p xmlns:a="http://schemas.openxmlformats.org/drawingml/2006/main">
            <a:pPr>
              <a:defRPr sz="2175" b="1">
                <a:solidFill>
                  <a:srgbClr val="DC7841"/>
                </a:solidFill>
                <a:latin typeface="DejaVu Sans"/>
                <a:ea typeface="DejaVu Sans"/>
                <a:cs typeface="DejaVu Sans"/>
              </a:defRPr>
            </a:pPr>
            <a:r>
              <a:rPr sz="2175" b="1">
                <a:solidFill>
                  <a:srgbClr val="DC7841"/>
                </a:solidFill>
                <a:latin typeface="DejaVu Sans"/>
                <a:ea typeface="DejaVu Sans"/>
                <a:cs typeface="DejaVu Sans"/>
              </a:rPr>
              <a:t>No clip: ~1k decisions faster, 13× KL, one run collapsed.</a:t>
            </a:r>
          </a:p>
        </p:txBody>
      </p:sp>
      <p:sp>
        <p:nvSpPr>
          <p:cNvPr id="8" name="">
            <a:extLst xmlns:a="http://schemas.openxmlformats.org/drawingml/2006/main">
              <a:ext uri="{FF2B5EF4-FFF2-40B4-BE49-F238E27FC236}">
                <a16:creationId xmlns:a16="http://schemas.microsoft.com/office/drawing/2014/main" id="{7B4018CF-36A9-4B75-B6CF-0ECAAA1A810C}"/>
              </a:ext>
            </a:extLst>
          </p:cNvPr>
          <p:cNvSpPr>
            <a:spLocks xmlns:a="http://schemas.openxmlformats.org/drawingml/2006/main" noGrp="1"/>
          </p:cNvSpPr>
          <p:nvPr/>
        </p:nvSpPr>
        <p:spPr>
          <a:xfrm xmlns:a="http://schemas.openxmlformats.org/drawingml/2006/main">
            <a:off x="628650" y="58388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B6B7C"/>
                </a:solidFill>
                <a:latin typeface="DejaVu Sans"/>
                <a:ea typeface="DejaVu Sans"/>
                <a:cs typeface="DejaVu Sans"/>
              </a:defRPr>
            </a:defPPr>
          </a:lstStyle>
          <a:p xmlns:a="http://schemas.openxmlformats.org/drawingml/2006/main">
            <a:pPr>
              <a:defRPr sz="1800" b="0">
                <a:solidFill>
                  <a:srgbClr val="5B6B7C"/>
                </a:solidFill>
                <a:latin typeface="DejaVu Sans"/>
                <a:ea typeface="DejaVu Sans"/>
                <a:cs typeface="DejaVu Sans"/>
              </a:defRPr>
            </a:pPr>
            <a:r>
              <a:rPr sz="1800" b="0">
                <a:solidFill>
                  <a:srgbClr val="5B6B7C"/>
                </a:solidFill>
                <a:latin typeface="DejaVu Sans"/>
                <a:ea typeface="DejaVu Sans"/>
                <a:cs typeface="DejaVu Sans"/>
              </a:rPr>
              <a:t>λ = 1 matches full PPO; λ = 0 is slowest and least stable.</a:t>
            </a:r>
          </a:p>
        </p:txBody>
      </p:sp>
    </p:spTree>
    <p:extLst>
      <p:ext uri="{BB962C8B-B14F-4D97-AF65-F5344CB8AC3E}">
        <p14:creationId xmlns:p14="http://schemas.microsoft.com/office/powerpoint/2010/main" val="136801403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F5E9558-1348-49DB-B6B3-8FD462C32CD3}"/>
              </a:ext>
            </a:extLst>
          </p:cNvPr>
          <p:cNvSpPr>
            <a:spLocks xmlns:a="http://schemas.openxmlformats.org/drawingml/2006/main" noGrp="1"/>
          </p:cNvSpPr>
          <p:nvPr/>
        </p:nvSpPr>
        <p:spPr>
          <a:xfrm xmlns:a="http://schemas.openxmlformats.org/drawingml/2006/main">
            <a:off x="609600" y="457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44"/>
                </a:solidFill>
                <a:latin typeface="DejaVu Sans"/>
                <a:ea typeface="DejaVu Sans"/>
                <a:cs typeface="DejaVu Sans"/>
              </a:defRPr>
            </a:defPPr>
          </a:lstStyle>
          <a:p xmlns:a="http://schemas.openxmlformats.org/drawingml/2006/main">
            <a:pPr>
              <a:defRPr sz="3150" b="1">
                <a:solidFill>
                  <a:srgbClr val="172D44"/>
                </a:solidFill>
                <a:latin typeface="DejaVu Sans"/>
                <a:ea typeface="DejaVu Sans"/>
                <a:cs typeface="DejaVu Sans"/>
              </a:defRPr>
            </a:pPr>
            <a:r>
              <a:rPr sz="3150" b="1">
                <a:solidFill>
                  <a:srgbClr val="172D44"/>
                </a:solidFill>
                <a:latin typeface="DejaVu Sans"/>
                <a:ea typeface="DejaVu Sans"/>
                <a:cs typeface="DejaVu Sans"/>
              </a:rPr>
              <a:t>The policy's entropy hides inactive choices</a:t>
            </a:r>
          </a:p>
        </p:txBody>
      </p:sp>
      <p:sp>
        <p:nvSpPr>
          <p:cNvPr id="2" name="">
            <a:extLst xmlns:a="http://schemas.openxmlformats.org/drawingml/2006/main">
              <a:ext uri="{FF2B5EF4-FFF2-40B4-BE49-F238E27FC236}">
                <a16:creationId xmlns:a16="http://schemas.microsoft.com/office/drawing/2014/main" id="{FFFC883C-BD85-4A39-AA2C-08814FF1098E}"/>
              </a:ext>
            </a:extLst>
          </p:cNvPr>
          <p:cNvSpPr>
            <a:spLocks xmlns:a="http://schemas.openxmlformats.org/drawingml/2006/main" noGrp="1"/>
          </p:cNvSpPr>
          <p:nvPr/>
        </p:nvSpPr>
        <p:spPr>
          <a:xfrm xmlns:a="http://schemas.openxmlformats.org/drawingml/2006/main">
            <a:off x="62865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B6B7C"/>
                </a:solidFill>
                <a:latin typeface="DejaVu Sans"/>
                <a:ea typeface="DejaVu Sans"/>
                <a:cs typeface="DejaVu Sans"/>
              </a:defRPr>
            </a:defPPr>
          </a:lstStyle>
          <a:p xmlns:a="http://schemas.openxmlformats.org/drawingml/2006/main">
            <a:pPr>
              <a:defRPr sz="1875" b="0">
                <a:solidFill>
                  <a:srgbClr val="5B6B7C"/>
                </a:solidFill>
                <a:latin typeface="DejaVu Sans"/>
                <a:ea typeface="DejaVu Sans"/>
                <a:cs typeface="DejaVu Sans"/>
              </a:defRPr>
            </a:pPr>
            <a:r>
              <a:rPr sz="1875" b="0">
                <a:solidFill>
                  <a:srgbClr val="5B6B7C"/>
                </a:solidFill>
                <a:latin typeface="DejaVu Sans"/>
                <a:ea typeface="DejaVu Sans"/>
                <a:cs typeface="DejaVu Sans"/>
              </a:rPr>
              <a:t>Rollout states; invalid remove/add are executed as hold</a:t>
            </a:r>
          </a:p>
        </p:txBody>
      </p:sp>
      <p:sp>
        <p:nvSpPr>
          <p:cNvPr id="3" name="">
            <a:extLst xmlns:a="http://schemas.openxmlformats.org/drawingml/2006/main">
              <a:ext uri="{FF2B5EF4-FFF2-40B4-BE49-F238E27FC236}">
                <a16:creationId xmlns:a16="http://schemas.microsoft.com/office/drawing/2014/main" id="{C2B4A5F6-BC67-4B89-8019-55C961292FAB}"/>
              </a:ext>
            </a:extLst>
          </p:cNvPr>
          <p:cNvSpPr>
            <a:spLocks xmlns:a="http://schemas.openxmlformats.org/drawingml/2006/main" noGrp="1"/>
          </p:cNvSpPr>
          <p:nvPr/>
        </p:nvSpPr>
        <p:spPr>
          <a:xfrm xmlns:a="http://schemas.openxmlformats.org/drawingml/2006/main">
            <a:off x="62865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B6B7C"/>
                </a:solidFill>
                <a:latin typeface="DejaVu Sans"/>
                <a:ea typeface="DejaVu Sans"/>
                <a:cs typeface="DejaVu Sans"/>
              </a:defRPr>
            </a:defPPr>
          </a:lstStyle>
          <a:p xmlns:a="http://schemas.openxmlformats.org/drawingml/2006/main">
            <a:pPr>
              <a:defRPr sz="1200" b="0">
                <a:solidFill>
                  <a:srgbClr val="5B6B7C"/>
                </a:solidFill>
                <a:latin typeface="DejaVu Sans"/>
                <a:ea typeface="DejaVu Sans"/>
                <a:cs typeface="DejaVu Sans"/>
              </a:defRPr>
            </a:pPr>
            <a:r>
              <a:rPr sz="1200" b="0">
                <a:solidFill>
                  <a:srgbClr val="5B6B7C"/>
                </a:solidFill>
                <a:latin typeface="DejaVu Sans"/>
                <a:ea typeface="DejaVu Sans"/>
                <a:cs typeface="DejaVu Sans"/>
              </a:rPr>
              <a:t>SIMULATED API AUTOSCALING • PART 2</a:t>
            </a:r>
          </a:p>
        </p:txBody>
      </p:sp>
      <p:sp>
        <p:nvSpPr>
          <p:cNvPr id="4" name="">
            <a:extLst xmlns:a="http://schemas.openxmlformats.org/drawingml/2006/main">
              <a:ext uri="{FF2B5EF4-FFF2-40B4-BE49-F238E27FC236}">
                <a16:creationId xmlns:a16="http://schemas.microsoft.com/office/drawing/2014/main" id="{48B8AA12-0D8A-4229-A594-C9944F273771}"/>
              </a:ext>
            </a:extLst>
          </p:cNvPr>
          <p:cNvSpPr>
            <a:spLocks xmlns:a="http://schemas.openxmlformats.org/drawingml/2006/main" noGrp="1"/>
          </p:cNvSpPr>
          <p:nvPr/>
        </p:nvSpPr>
        <p:spPr>
          <a:xfrm xmlns:a="http://schemas.openxmlformats.org/drawingml/2006/main">
            <a:off x="11182350" y="638175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B6B7C"/>
                </a:solidFill>
                <a:latin typeface="DejaVu Sans"/>
                <a:ea typeface="DejaVu Sans"/>
                <a:cs typeface="DejaVu Sans"/>
              </a:defRPr>
            </a:defPPr>
          </a:lstStyle>
          <a:p xmlns:a="http://schemas.openxmlformats.org/drawingml/2006/main">
            <a:pPr>
              <a:defRPr sz="1425" b="0">
                <a:solidFill>
                  <a:srgbClr val="5B6B7C"/>
                </a:solidFill>
                <a:latin typeface="DejaVu Sans"/>
                <a:ea typeface="DejaVu Sans"/>
                <a:cs typeface="DejaVu Sans"/>
              </a:defRPr>
            </a:pPr>
            <a:r>
              <a:rPr sz="1425" b="0">
                <a:solidFill>
                  <a:srgbClr val="5B6B7C"/>
                </a:solidFill>
                <a:latin typeface="DejaVu Sans"/>
                <a:ea typeface="DejaVu Sans"/>
                <a:cs typeface="DejaVu Sans"/>
              </a:rPr>
              <a:t>14</a:t>
            </a:r>
          </a:p>
        </p:txBody>
      </p:sp>
      <p:graphicFrame>
        <p:nvGraphicFramePr>
          <p:cNvPr id="5" name="Chart">
            <a:extLst xmlns:a="http://schemas.openxmlformats.org/drawingml/2006/main">
              <a:ext uri="{FF2B5EF4-FFF2-40B4-BE49-F238E27FC236}">
                <a16:creationId xmlns:a16="http://schemas.microsoft.com/office/drawing/2014/main" id="{A5AE8695-3FE3-4280-8608-BC5496B73902}"/>
              </a:ext>
            </a:extLst>
          </p:cNvPr>
          <p:cNvGraphicFramePr/>
          <p:nvPr/>
        </p:nvGraphicFramePr>
        <p:xfrm>
          <a:off xmlns:a="http://schemas.openxmlformats.org/drawingml/2006/main" x="628650" y="1914525"/>
          <a:ext xmlns:a="http://schemas.openxmlformats.org/drawingml/2006/main" cx="10906125" cy="3286125"/>
        </p:xfrm>
        <a:graphic xmlns:a="http://schemas.openxmlformats.org/drawingml/2006/main">
          <a:graphicData uri="http://schemas.openxmlformats.org/drawingml/2006/chart">
            <c:chart xmlns:r="http://schemas.openxmlformats.org/officeDocument/2006/relationships" xmlns:c="http://schemas.openxmlformats.org/drawingml/2006/chart" r:id="R19525bc2e3804f1f"/>
          </a:graphicData>
        </a:graphic>
      </p:graphicFrame>
      <p:sp>
        <p:nvSpPr>
          <p:cNvPr id="6" name="">
            <a:extLst xmlns:a="http://schemas.openxmlformats.org/drawingml/2006/main">
              <a:ext uri="{FF2B5EF4-FFF2-40B4-BE49-F238E27FC236}">
                <a16:creationId xmlns:a16="http://schemas.microsoft.com/office/drawing/2014/main" id="{4A8E0406-CF81-4E67-852F-ECFC3428F932}"/>
              </a:ext>
            </a:extLst>
          </p:cNvPr>
          <p:cNvSpPr>
            <a:spLocks xmlns:a="http://schemas.openxmlformats.org/drawingml/2006/main" noGrp="1"/>
          </p:cNvSpPr>
          <p:nvPr/>
        </p:nvSpPr>
        <p:spPr>
          <a:xfrm xmlns:a="http://schemas.openxmlformats.org/drawingml/2006/main">
            <a:off x="628650" y="5476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DC7841"/>
                </a:solidFill>
                <a:latin typeface="DejaVu Sans"/>
                <a:ea typeface="DejaVu Sans"/>
                <a:cs typeface="DejaVu Sans"/>
              </a:defRPr>
            </a:defPPr>
          </a:lstStyle>
          <a:p xmlns:a="http://schemas.openxmlformats.org/drawingml/2006/main">
            <a:pPr>
              <a:defRPr sz="2100" b="1">
                <a:solidFill>
                  <a:srgbClr val="DC7841"/>
                </a:solidFill>
                <a:latin typeface="DejaVu Sans"/>
                <a:ea typeface="DejaVu Sans"/>
                <a:cs typeface="DejaVu Sans"/>
              </a:defRPr>
            </a:pPr>
            <a:r>
              <a:rPr sz="2100" b="1">
                <a:solidFill>
                  <a:srgbClr val="DC7841"/>
                </a:solidFill>
                <a:latin typeface="DejaVu Sans"/>
                <a:ea typeface="DejaVu Sans"/>
                <a:cs typeface="DejaVu Sans"/>
              </a:rPr>
              <a:t>Final: policy entropy 0.64 nats, executed entropy only 0.17 nats.</a:t>
            </a:r>
          </a:p>
        </p:txBody>
      </p:sp>
      <p:sp>
        <p:nvSpPr>
          <p:cNvPr id="7" name="">
            <a:extLst xmlns:a="http://schemas.openxmlformats.org/drawingml/2006/main">
              <a:ext uri="{FF2B5EF4-FFF2-40B4-BE49-F238E27FC236}">
                <a16:creationId xmlns:a16="http://schemas.microsoft.com/office/drawing/2014/main" id="{CE64199A-A205-4D2C-B48A-595A7D8A4434}"/>
              </a:ext>
            </a:extLst>
          </p:cNvPr>
          <p:cNvSpPr>
            <a:spLocks xmlns:a="http://schemas.openxmlformats.org/drawingml/2006/main" noGrp="1"/>
          </p:cNvSpPr>
          <p:nvPr/>
        </p:nvSpPr>
        <p:spPr>
          <a:xfrm xmlns:a="http://schemas.openxmlformats.org/drawingml/2006/main">
            <a:off x="628650" y="591502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B6B7C"/>
                </a:solidFill>
                <a:latin typeface="DejaVu Sans"/>
                <a:ea typeface="DejaVu Sans"/>
                <a:cs typeface="DejaVu Sans"/>
              </a:defRPr>
            </a:defPPr>
          </a:lstStyle>
          <a:p xmlns:a="http://schemas.openxmlformats.org/drawingml/2006/main">
            <a:pPr>
              <a:defRPr sz="1725" b="0">
                <a:solidFill>
                  <a:srgbClr val="5B6B7C"/>
                </a:solidFill>
                <a:latin typeface="DejaVu Sans"/>
                <a:ea typeface="DejaVu Sans"/>
                <a:cs typeface="DejaVu Sans"/>
              </a:defRPr>
            </a:pPr>
            <a:r>
              <a:rPr sz="1725" b="0">
                <a:solidFill>
                  <a:srgbClr val="5B6B7C"/>
                </a:solidFill>
                <a:latin typeface="DejaVu Sans"/>
                <a:ea typeface="DejaVu Sans"/>
                <a:cs typeface="DejaVu Sans"/>
              </a:rPr>
              <a:t>63% of probability is on rejected actions → mask invalid actions next.</a:t>
            </a:r>
          </a:p>
        </p:txBody>
      </p:sp>
    </p:spTree>
    <p:extLst>
      <p:ext uri="{BB962C8B-B14F-4D97-AF65-F5344CB8AC3E}">
        <p14:creationId xmlns:p14="http://schemas.microsoft.com/office/powerpoint/2010/main" val="3228781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2026-10-11T21:07:11.4680000Z</dcterms:created>
  <dcterms:modified xsi:type="dcterms:W3CDTF">2026-10-11T21:07:11.4680000Z</dcterms:modified>
</coreProperties>
</file>