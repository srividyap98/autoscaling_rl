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4.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69c71640af047bc" /><Relationship Type="http://schemas.openxmlformats.org/officeDocument/2006/relationships/extended-properties" Target="/docProps/app.xml" Id="R0a2c84b780394032" /><Relationship Type="http://schemas.openxmlformats.org/officeDocument/2006/relationships/officeDocument" Target="/ppt/presentation.xml" Id="Rae23c38b863446d7" /></Relationships>
</file>

<file path=ppt/presentation.xml><?xml version="1.0" encoding="utf-8"?>
<p:presentation xmlns:p="http://schemas.openxmlformats.org/presentationml/2006/main">
  <p:sldMasterIdLst>
    <p:sldMasterId xmlns:r="http://schemas.openxmlformats.org/officeDocument/2006/relationships" id="2147483648" r:id="Rd432ac931a3b41bf"/>
  </p:sldMasterIdLst>
  <p:notesMasterIdLst>
    <p:notesMasterId xmlns:r="http://schemas.openxmlformats.org/officeDocument/2006/relationships" r:id="R44d09f97946941f7"/>
  </p:notesMasterIdLst>
  <p:sldIdLst>
    <p:sldId xmlns:r="http://schemas.openxmlformats.org/officeDocument/2006/relationships" id="256" r:id="R4d19f39a843a4bf3"/>
    <p:sldId xmlns:r="http://schemas.openxmlformats.org/officeDocument/2006/relationships" id="257" r:id="Rde4be6ad4a6642dc"/>
    <p:sldId xmlns:r="http://schemas.openxmlformats.org/officeDocument/2006/relationships" id="258" r:id="R96448e84ea0b4ada"/>
    <p:sldId xmlns:r="http://schemas.openxmlformats.org/officeDocument/2006/relationships" id="259" r:id="Rd9e0e4a6b29745ed"/>
    <p:sldId xmlns:r="http://schemas.openxmlformats.org/officeDocument/2006/relationships" id="260" r:id="R1c76778cd4fd415c"/>
    <p:sldId xmlns:r="http://schemas.openxmlformats.org/officeDocument/2006/relationships" id="261" r:id="Rf3f79162a7894231"/>
    <p:sldId xmlns:r="http://schemas.openxmlformats.org/officeDocument/2006/relationships" id="262" r:id="R7fcdaccc63e6472a"/>
    <p:sldId xmlns:r="http://schemas.openxmlformats.org/officeDocument/2006/relationships" id="263" r:id="R476c64dfe88c439f"/>
    <p:sldId xmlns:r="http://schemas.openxmlformats.org/officeDocument/2006/relationships" id="264" r:id="Rb6f82147560c4c66"/>
    <p:sldId xmlns:r="http://schemas.openxmlformats.org/officeDocument/2006/relationships" id="265" r:id="R6d8d3627afec4f0e"/>
    <p:sldId xmlns:r="http://schemas.openxmlformats.org/officeDocument/2006/relationships" id="266" r:id="R3aca21d971d7495b"/>
    <p:sldId xmlns:r="http://schemas.openxmlformats.org/officeDocument/2006/relationships" id="267" r:id="R11d0896d39da48bb"/>
    <p:sldId xmlns:r="http://schemas.openxmlformats.org/officeDocument/2006/relationships" id="268" r:id="R0061a6c59e2d4114"/>
    <p:sldId xmlns:r="http://schemas.openxmlformats.org/officeDocument/2006/relationships" id="269" r:id="R4d0ac7f70c3e42f5"/>
    <p:sldId xmlns:r="http://schemas.openxmlformats.org/officeDocument/2006/relationships" id="270" r:id="R8aec92e4e4224cec"/>
    <p:sldId xmlns:r="http://schemas.openxmlformats.org/officeDocument/2006/relationships" id="271" r:id="Rc3a02253687a4c0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df7421b917e4eff" /><Relationship Type="http://schemas.openxmlformats.org/officeDocument/2006/relationships/slideMaster" Target="/ppt/slideMasters/slideMaster1.xml" Id="Rd432ac931a3b41bf" /><Relationship Type="http://schemas.openxmlformats.org/officeDocument/2006/relationships/notesMaster" Target="/ppt/notesMasters/notesMaster1.xml" Id="R44d09f97946941f7" /><Relationship Type="http://schemas.openxmlformats.org/officeDocument/2006/relationships/presProps" Target="/ppt/presProps.xml" Id="R8ef5dd751ccc4015" /><Relationship Type="http://schemas.openxmlformats.org/officeDocument/2006/relationships/tableStyles" Target="/ppt/tableStyles.xml" Id="R1dcd7835237a4005" /><Relationship Type="http://schemas.openxmlformats.org/officeDocument/2006/relationships/slide" Target="/ppt/slides/slide1.xml" Id="R4d19f39a843a4bf3" /><Relationship Type="http://schemas.openxmlformats.org/officeDocument/2006/relationships/slide" Target="/ppt/slides/slide2.xml" Id="Rde4be6ad4a6642dc" /><Relationship Type="http://schemas.openxmlformats.org/officeDocument/2006/relationships/slide" Target="/ppt/slides/slide3.xml" Id="R96448e84ea0b4ada" /><Relationship Type="http://schemas.openxmlformats.org/officeDocument/2006/relationships/slide" Target="/ppt/slides/slide4.xml" Id="Rd9e0e4a6b29745ed" /><Relationship Type="http://schemas.openxmlformats.org/officeDocument/2006/relationships/slide" Target="/ppt/slides/slide5.xml" Id="R1c76778cd4fd415c" /><Relationship Type="http://schemas.openxmlformats.org/officeDocument/2006/relationships/slide" Target="/ppt/slides/slide6.xml" Id="Rf3f79162a7894231" /><Relationship Type="http://schemas.openxmlformats.org/officeDocument/2006/relationships/slide" Target="/ppt/slides/slide7.xml" Id="R7fcdaccc63e6472a" /><Relationship Type="http://schemas.openxmlformats.org/officeDocument/2006/relationships/slide" Target="/ppt/slides/slide8.xml" Id="R476c64dfe88c439f" /><Relationship Type="http://schemas.openxmlformats.org/officeDocument/2006/relationships/slide" Target="/ppt/slides/slide9.xml" Id="Rb6f82147560c4c66" /><Relationship Type="http://schemas.openxmlformats.org/officeDocument/2006/relationships/slide" Target="/ppt/slides/slide10.xml" Id="R6d8d3627afec4f0e" /><Relationship Type="http://schemas.openxmlformats.org/officeDocument/2006/relationships/slide" Target="/ppt/slides/slide11.xml" Id="R3aca21d971d7495b" /><Relationship Type="http://schemas.openxmlformats.org/officeDocument/2006/relationships/slide" Target="/ppt/slides/slide12.xml" Id="R11d0896d39da48bb" /><Relationship Type="http://schemas.openxmlformats.org/officeDocument/2006/relationships/slide" Target="/ppt/slides/slide13.xml" Id="R0061a6c59e2d4114" /><Relationship Type="http://schemas.openxmlformats.org/officeDocument/2006/relationships/slide" Target="/ppt/slides/slide14.xml" Id="R4d0ac7f70c3e42f5" /><Relationship Type="http://schemas.openxmlformats.org/officeDocument/2006/relationships/slide" Target="/ppt/slides/slide15.xml" Id="R8aec92e4e4224cec" /><Relationship Type="http://schemas.openxmlformats.org/officeDocument/2006/relationships/slide" Target="/ppt/slides/slide16.xml" Id="Rc3a02253687a4c0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da347107124ca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6ffe9464414f56" /><Relationship Type="http://schemas.openxmlformats.org/officeDocument/2006/relationships/notesMaster" Target="/ppt/notesMasters/notesMaster1.xml" Id="R46117b57461040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19b62714564954" /><Relationship Type="http://schemas.openxmlformats.org/officeDocument/2006/relationships/notesMaster" Target="/ppt/notesMasters/notesMaster1.xml" Id="Rd9ded6ffafe648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b1c83ae544417e" /><Relationship Type="http://schemas.openxmlformats.org/officeDocument/2006/relationships/notesMaster" Target="/ppt/notesMasters/notesMaster1.xml" Id="R7c3c2ab0c0e9404e" /></Relationships>
</file>

<file path=ppt/notesSlides/_rels/notesSlide4.xml.rels>&#65279;<?xml version="1.0" encoding="utf-8"?><Relationships xmlns="http://schemas.openxmlformats.org/package/2006/relationships"><Relationship Type="http://schemas.openxmlformats.org/officeDocument/2006/relationships/slide" Target="/ppt/slides/slide4.xml" Id="R4fd850e920b449c2" /><Relationship Type="http://schemas.openxmlformats.org/officeDocument/2006/relationships/notesMaster" Target="/ppt/notesMasters/notesMaster1.xml" Id="Red6b65eb1ada46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9adfe995630c4f59" /><Relationship Type="http://schemas.openxmlformats.org/officeDocument/2006/relationships/notesMaster" Target="/ppt/notesMasters/notesMaster1.xml" Id="R0219494bf2104c9b"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4c279f1a8c4536" /><Relationship Type="http://schemas.openxmlformats.org/officeDocument/2006/relationships/notesMaster" Target="/ppt/notesMasters/notesMaster1.xml" Id="R095d6294cf754087" /></Relationships>
</file>

<file path=ppt/notesSlides/_rels/notesSlide7.xml.rels>&#65279;<?xml version="1.0" encoding="utf-8"?><Relationships xmlns="http://schemas.openxmlformats.org/package/2006/relationships"><Relationship Type="http://schemas.openxmlformats.org/officeDocument/2006/relationships/slide" Target="/ppt/slides/slide7.xml" Id="Reafa12a5a56e4371" /><Relationship Type="http://schemas.openxmlformats.org/officeDocument/2006/relationships/notesMaster" Target="/ppt/notesMasters/notesMaster1.xml" Id="Ra05e681feba34bc1" /></Relationships>
</file>

<file path=ppt/notesSlides/_rels/notesSlide8.xml.rels>&#65279;<?xml version="1.0" encoding="utf-8"?><Relationships xmlns="http://schemas.openxmlformats.org/package/2006/relationships"><Relationship Type="http://schemas.openxmlformats.org/officeDocument/2006/relationships/slide" Target="/ppt/slides/slide8.xml" Id="R309953254fec4230" /><Relationship Type="http://schemas.openxmlformats.org/officeDocument/2006/relationships/notesMaster" Target="/ppt/notesMasters/notesMaster1.xml" Id="Rdfc691f9d0ce44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dea6c83293499a" /><Relationship Type="http://schemas.openxmlformats.org/officeDocument/2006/relationships/notesMaster" Target="/ppt/notesMasters/notesMaster1.xml" Id="R4df32b0d13694b7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f7fee84c75d4953" /><Relationship Type="http://schemas.openxmlformats.org/officeDocument/2006/relationships/notesMaster" Target="/ppt/notesMasters/notesMaster1.xml" Id="R633db1f10c714d9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d8a8f80b0404136" /><Relationship Type="http://schemas.openxmlformats.org/officeDocument/2006/relationships/notesMaster" Target="/ppt/notesMasters/notesMaster1.xml" Id="R62730cfa7ffe45e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b578ece7cd64742" /><Relationship Type="http://schemas.openxmlformats.org/officeDocument/2006/relationships/notesMaster" Target="/ppt/notesMasters/notesMaster1.xml" Id="Rf6188f8fd80b40c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134b7c33fae4f22" /><Relationship Type="http://schemas.openxmlformats.org/officeDocument/2006/relationships/notesMaster" Target="/ppt/notesMasters/notesMaster1.xml" Id="R4824dd205872406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a38113c41e44a31" /><Relationship Type="http://schemas.openxmlformats.org/officeDocument/2006/relationships/notesMaster" Target="/ppt/notesMasters/notesMaster1.xml" Id="Rb603fbc5335b423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28d53bd1c544cec" /><Relationship Type="http://schemas.openxmlformats.org/officeDocument/2006/relationships/notesMaster" Target="/ppt/notesMasters/notesMaster1.xml" Id="R1e69bce588464b8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d9840892afa4f62" /><Relationship Type="http://schemas.openxmlformats.org/officeDocument/2006/relationships/notesMaster" Target="/ppt/notesMasters/notesMaster1.xml" Id="R49596568de1e4c9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40 seconds</a:t>
            </a:r>
          </a:p>
          <a:p xmlns:a="http://schemas.openxmlformats.org/drawingml/2006/main">
            <a:r>
              <a:t/>
            </a:r>
          </a:p>
          <a:p xmlns:a="http://schemas.openxmlformats.org/drawingml/2006/main">
            <a:r>
              <a:t>This project asks whether a reinforcement learning agent can choose how many API replicas to run as demand changes. The challenge is familiar: too little capacity makes requests wait, while too much capacity wastes resources. In Part 1, I proposed a local simulation because I did not have a cloud setup. The completed project follows that approach. I trained PPO, compared it with two simpler controllers, and recorded the agent's decisions. The main finding is that the agent protected service better on average, but did not achieve the planned cost savings.</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a:t>
            </a:r>
          </a:p>
          <a:p xmlns:a="http://schemas.openxmlformats.org/drawingml/2006/main">
            <a:r>
              <a:t/>
            </a:r>
          </a:p>
          <a:p xmlns:a="http://schemas.openxmlformats.org/drawingml/2006/main">
            <a:r>
              <a:t>The original objective had two parts. First, at least 95 percent of requests should meet a two-second waiting target. Second, PPO should use at least ten percent less capacity than the fixed controller. I treat both conditions as necessary for success, and check the waiting target separately for steady, periodic, and bursty traffic. This is a sequential decision problem because an extra replica takes time to start. A decision that looks expensive now may prevent a queue later. A removal that looks efficient now may leave the service unprepared for a burst. That delayed consequence is the reason reinforcement learning is a reasonable approach. Capacity is measured in replica-seconds, which is a resource proxy rather than a cloud bill.</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The research helped me choose both the method and the scope. Barrett and colleagues and the survey by Gari and colleagues connect reinforcement learning to cloud resource allocation and autoscaling. Wang and colleagues also study provisioning in simulation, which supports a simulator as a useful starting point. PPO provides a clipped policy update, and generalized advantage estimation helps estimate which sampled actions were better than expected. Henderson and colleagues emphasize variability and reproducibility, which motivated multiple training seeds and separate evaluation workloads. AWARE also makes clear that production autoscaling requires much more system integration than this project includes. These papers inform the design; the project is not a reproduction of their reported production results.</a:t>
            </a:r>
          </a:p>
          <a:p xmlns:a="http://schemas.openxmlformats.org/drawingml/2006/main">
            <a:r>
              <a:t/>
            </a:r>
          </a:p>
          <a:p xmlns:a="http://schemas.openxmlformats.org/drawingml/2006/main">
            <a:r>
              <a:t>Sources: Research citations on slide 16; full links below and in README.</a:t>
            </a:r>
          </a:p>
          <a:p xmlns:a="http://schemas.openxmlformats.org/drawingml/2006/main">
            <a:r>
              <a:t/>
            </a:r>
          </a:p>
          <a:p xmlns:a="http://schemas.openxmlformats.org/drawingml/2006/main">
            <a:r>
              <a:t>Research references:</a:t>
            </a:r>
          </a:p>
          <a:p xmlns:a="http://schemas.openxmlformats.org/drawingml/2006/main">
            <a:r>
              <a:t>Schulman et al. (2017). Proximal Policy Optimization Algorithms. https://arxiv.org/abs/1707.06347</a:t>
            </a:r>
          </a:p>
          <a:p xmlns:a="http://schemas.openxmlformats.org/drawingml/2006/main">
            <a:r>
              <a:t>Schulman et al. (2015). Generalized Advantage Estimation. https://arxiv.org/abs/1506.02438</a:t>
            </a:r>
          </a:p>
          <a:p xmlns:a="http://schemas.openxmlformats.org/drawingml/2006/main">
            <a:r>
              <a:t>Barrett et al. (2013). RL for cloud resource allocation. https://doi.org/10.1002/cpe.2864</a:t>
            </a:r>
          </a:p>
          <a:p xmlns:a="http://schemas.openxmlformats.org/drawingml/2006/main">
            <a:r>
              <a:t>Garí et al. (2020). Application autoscaling survey. https://arxiv.org/abs/2001.09957</a:t>
            </a:r>
          </a:p>
          <a:p xmlns:a="http://schemas.openxmlformats.org/drawingml/2006/main">
            <a:r>
              <a:t>Wang et al. (2017). Automated cloud provisioning on AWS. https://arxiv.org/abs/1709.04305</a:t>
            </a:r>
          </a:p>
          <a:p xmlns:a="http://schemas.openxmlformats.org/drawingml/2006/main">
            <a:r>
              <a:t>Qiu et al. (2023). AWARE: workload autoscaling. https://www.usenix.org/conference/atc23/presentation/qiu-haoran</a:t>
            </a:r>
          </a:p>
          <a:p xmlns:a="http://schemas.openxmlformats.org/drawingml/2006/main">
            <a:r>
              <a:t>Mnih et al. (2013). Playing Atari with Deep RL. https://arxiv.org/abs/1312.5602</a:t>
            </a:r>
          </a:p>
          <a:p xmlns:a="http://schemas.openxmlformats.org/drawingml/2006/main">
            <a:r>
              <a:t>Henderson et al. (2017). Deep Reinforcement Learning that Matters. https://arxiv.org/abs/1709.06560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60 seconds</a:t>
            </a:r>
          </a:p>
          <a:p xmlns:a="http://schemas.openxmlformats.org/drawingml/2006/main">
            <a:r>
              <a:t/>
            </a:r>
          </a:p>
          <a:p xmlns:a="http://schemas.openxmlformats.org/drawingml/2006/main">
            <a:r>
              <a:t>Each episode represents thirty minutes of arrivals. The controller acts every ten seconds, starting with two active replicas. One replica can serve twenty requests per second, and a new replica takes twenty seconds to become active. The capacity range is one to ten replicas. Requests join a first-in, first-out queue with a thousand-request limit. A request violates the service target if it waits more than two seconds, expires after ten seconds, or is dropped because the queue is full. Once arrivals end, I freeze capacity and drain the queue so unfinished work is still counted. Steady, periodic, and bursty rate profiles produce seeded Poisson arrivals. These are synthetic workloads, not customer traffic. The waiting metric excludes network delay and application processing, so it should not be presented as a complete production latency guarantee.</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a:t>
            </a:r>
          </a:p>
          <a:p xmlns:a="http://schemas.openxmlformats.org/drawingml/2006/main">
            <a:r>
              <a:t/>
            </a:r>
          </a:p>
          <a:p xmlns:a="http://schemas.openxmlformats.org/drawingml/2006/main">
            <a:r>
              <a:t>The agent receives nine normalized observations. They summarize recent arrivals, a short moving average, the change in demand, queue size and age, active capacity, two stages of replicas still starting, and utilization. The actions are simple: remove one replica, hold capacity, or add one replica. A removal cannot take active capacity below one, and an addition cannot exceed ten allocated replicas. Invalid actions become no-ops and are recorded. The observation is deliberately compact, but it does not reveal future demand or every queue cohort. That makes the task partially observable. The network is feed-forward, so it cannot perfectly reconstruct hidden history. This limitation matters when interpreting why a policy reacts well to some workloads and poorly to others.</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a:t>
            </a:r>
          </a:p>
          <a:p xmlns:a="http://schemas.openxmlformats.org/drawingml/2006/main">
            <a:r>
              <a:t/>
            </a:r>
          </a:p>
          <a:p xmlns:a="http://schemas.openxmlformats.org/drawingml/2006/main">
            <a:r>
              <a:t>The reward is the negative sum of four penalties. Allocated capacity has a weight of point one, the fraction of resolved requests that violate the target has a weight of five, normalized queue size has a weight of point five, and each successful scaling change costs point zero two. Starting replicas count toward capacity cost before they serve requests. The violation fraction uses requests resolved in the current interval; if none resolve, that term is zero. This is not the same aggregation as the final episode metric, and that mismatch is a limitation. I retained the initial weights rather than tuning them extensively. The much larger service penalty makes protecting requests attractive, but does not guarantee economical behavior. The resulting policy suggests that the balance needs more careful study.</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65 seconds</a:t>
            </a:r>
          </a:p>
          <a:p xmlns:a="http://schemas.openxmlformats.org/drawingml/2006/main">
            <a:r>
              <a:t/>
            </a:r>
          </a:p>
          <a:p xmlns:a="http://schemas.openxmlformats.org/drawingml/2006/main">
            <a:r>
              <a:t>PPO uses an actor to assign probabilities to the three actions and a critic to estimate future discounted return. Both networks have two hidden layers of sixty-four units with tanh activation. Their nine inputs are the observations. The actor has three outputs and the critic has one. During training, the policy samples actions, gathers a rollout, and computes advantages using the critic and generalized advantage estimation. The clipped objective limits how much the new action probability can move relative to the policy that collected the data. Here the clip range is point two, the discount is point nine nine, and the GAE parameter is point nine five. I use Adam with a learning rate of three times ten to the minus four. Each rollout has 1,024 decisions, followed by ten optimization epochs in minibatches up to sixty-four. At test time, I choose the most probable action, so evaluation is deterministic for a fixed workload.</a:t>
            </a:r>
          </a:p>
          <a:p xmlns:a="http://schemas.openxmlformats.org/drawingml/2006/main">
            <a:r>
              <a:t/>
            </a:r>
          </a:p>
          <a:p xmlns:a="http://schemas.openxmlformats.org/drawingml/2006/main">
            <a:r>
              <a:t>Sources: Research citations on slide 16; full links below and in README.</a:t>
            </a:r>
          </a:p>
          <a:p xmlns:a="http://schemas.openxmlformats.org/drawingml/2006/main">
            <a:r>
              <a:t/>
            </a:r>
          </a:p>
          <a:p xmlns:a="http://schemas.openxmlformats.org/drawingml/2006/main">
            <a:r>
              <a:t>Research references:</a:t>
            </a:r>
          </a:p>
          <a:p xmlns:a="http://schemas.openxmlformats.org/drawingml/2006/main">
            <a:r>
              <a:t>Schulman et al. (2017). Proximal Policy Optimization Algorithms. https://arxiv.org/abs/1707.06347</a:t>
            </a:r>
          </a:p>
          <a:p xmlns:a="http://schemas.openxmlformats.org/drawingml/2006/main">
            <a:r>
              <a:t>Schulman et al. (2015). Generalized Advantage Estimation. https://arxiv.org/abs/1506.02438</a:t>
            </a:r>
          </a:p>
          <a:p xmlns:a="http://schemas.openxmlformats.org/drawingml/2006/main">
            <a:r>
              <a:t>Barrett et al. (2013). RL for cloud resource allocation. https://doi.org/10.1002/cpe.2864</a:t>
            </a:r>
          </a:p>
          <a:p xmlns:a="http://schemas.openxmlformats.org/drawingml/2006/main">
            <a:r>
              <a:t>Garí et al. (2020). Application autoscaling survey. https://arxiv.org/abs/2001.09957</a:t>
            </a:r>
          </a:p>
          <a:p xmlns:a="http://schemas.openxmlformats.org/drawingml/2006/main">
            <a:r>
              <a:t>Wang et al. (2017). Automated cloud provisioning on AWS. https://arxiv.org/abs/1709.04305</a:t>
            </a:r>
          </a:p>
          <a:p xmlns:a="http://schemas.openxmlformats.org/drawingml/2006/main">
            <a:r>
              <a:t>Qiu et al. (2023). AWARE: workload autoscaling. https://www.usenix.org/conference/atc23/presentation/qiu-haoran</a:t>
            </a:r>
          </a:p>
          <a:p xmlns:a="http://schemas.openxmlformats.org/drawingml/2006/main">
            <a:r>
              <a:t>Mnih et al. (2013). Playing Atari with Deep RL. https://arxiv.org/abs/1312.5602</a:t>
            </a:r>
          </a:p>
          <a:p xmlns:a="http://schemas.openxmlformats.org/drawingml/2006/main">
            <a:r>
              <a:t>Henderson et al. (2017). Deep Reinforcement Learning that Matters. https://arxiv.org/abs/1709.06560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a:t>
            </a:r>
          </a:p>
          <a:p xmlns:a="http://schemas.openxmlformats.org/drawingml/2006/main">
            <a:r>
              <a:t/>
            </a:r>
          </a:p>
          <a:p xmlns:a="http://schemas.openxmlformats.org/drawingml/2006/main">
            <a:r>
              <a:t>The implementation separates the simulator, controllers, PPO training, experiment runner, and analysis. NumPy handles the networks, manual gradients, and Adam; Matplotlib creates the plots and FFmpeg encodes the replay. The biggest change from Part 1 is the framework. PyTorch and Gymnasium were unavailable in the execution workspace, so the project uses NumPy and Gymnasium-style reset and step signatures. It does not claim to be a registered Gymnasium environment. I kept PPO and the planned network sizes. DQN remains an alternative rather than a completed comparison. Five tests check policy and network gradients numerically, terminal advantage calculations, startup timing and request accounting, and seeded reproducibility. I also corrected a timing boundary so a replica that finishes starting is visible at the next decision. These checks support the implementation, although they cannot prove every modeling assumption is realistic.</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a:t>
            </a:r>
          </a:p>
          <a:p xmlns:a="http://schemas.openxmlformats.org/drawingml/2006/main">
            <a:r>
              <a:t/>
            </a:r>
          </a:p>
          <a:p xmlns:a="http://schemas.openxmlformats.org/drawingml/2006/main">
            <a:r>
              <a:t>I trained five independent seeds for fifty thousand decisions each. Twenty validation traces select checkpoints and tune the baseline settings. The final test set has thirty different traces, with ten for each workload type. All controllers receive the same test arrivals and start with two active replicas. Validation selected eight replicas for the fixed controller; it ramps up through the same startup process rather than receiving instant capacity. The threshold controller uses upper utilization point six, lower utilization point two, and a ten-second cooldown. Low utilization must persist for three decisions with an empty queue before downscaling. PPO is evaluated as five trained policies on the same thirty traces. Those are 150 policy-trace evaluations, not 150 independent workloads. Reported summaries average episode metrics. They are descriptive results, without a statistical significance claim.</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a:t>
            </a:r>
          </a:p>
          <a:p xmlns:a="http://schemas.openxmlformats.org/drawingml/2006/main">
            <a:r>
              <a:t/>
            </a:r>
          </a:p>
          <a:p xmlns:a="http://schemas.openxmlformats.org/drawingml/2006/main">
            <a:r>
              <a:t>This chart shows mean return over the most recent twenty completed training episodes at five checkpoints. The untrained checkpoint is excluded because it has no completed training episodes. Return generally becomes less negative, but the runs do not follow identical paths. This suggests the sampled training behavior changed, not that the project achieved the practical objective. Checkpoints were chosen using validation service performance and cost, not this curve alone. Four selected policies have test violation rates near one point eight or one point nine percent. Seed two reaches five point one one percent across its test episodes. The total measured time for the five training runs was about forty-eight seconds on this execution machine, excluding plotting and video generation. That confirms the project is computationally small here, but runtime will vary on another computer. Greedy validation was already favorable before training. These results do not establish that training caused better deterministic service performance.</a:t>
            </a:r>
          </a:p>
          <a:p xmlns:a="http://schemas.openxmlformats.org/drawingml/2006/main">
            <a:r>
              <a:t/>
            </a:r>
          </a:p>
          <a:p xmlns:a="http://schemas.openxmlformats.org/drawingml/2006/main">
            <a:r>
              <a:t>Sources: Measured outputs/summary.json, training_seed*.csv, test_metrics.csv, experiment.json and demo_trace.json.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70 seconds</a:t>
            </a:r>
          </a:p>
          <a:p xmlns:a="http://schemas.openxmlformats.org/drawingml/2006/main">
            <a:r>
              <a:t/>
            </a:r>
          </a:p>
          <a:p xmlns:a="http://schemas.openxmlformats.org/drawingml/2006/main">
            <a:r>
              <a:t>The fixed controller averaged 14,250 replica-seconds per episode and a four point five eight percent violation rate. The threshold controller used 15,905 replica-seconds with six point five nine percent violations. PPO averaged about 17,600 replica-seconds and two point five zero percent violations. Relative to fixed capacity, PPO used twenty-three point five one percent more resources. That is the opposite of the ten-percent saving target. Its lower violation rate is useful, but it is not enough to call the overall project successful. A diagnostic is especially revealing: PPO averaged about 172 invalid actions per episode, out of 180 decisions. The policies often continue requesting additions after reaching the capacity limit. Those actions do nothing, so the agent can behave almost like a high fixed-capacity controller. The mean test return is also slightly worse than the fixed baseline. This reinforces why separate service and cost metrics are more informative than a favorable training curve.</a:t>
            </a:r>
          </a:p>
          <a:p xmlns:a="http://schemas.openxmlformats.org/drawingml/2006/main">
            <a:r>
              <a:t/>
            </a:r>
          </a:p>
          <a:p xmlns:a="http://schemas.openxmlformats.org/drawingml/2006/main">
            <a:r>
              <a:t>Sources: Measured outputs/summary.json, training_seed*.csv, test_metrics.csv, experiment.json and demo_trace.json.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a:t>
            </a:r>
          </a:p>
          <a:p xmlns:a="http://schemas.openxmlformats.org/drawingml/2006/main">
            <a:r>
              <a:t/>
            </a:r>
          </a:p>
          <a:p xmlns:a="http://schemas.openxmlformats.org/drawingml/2006/main">
            <a:r>
              <a:t>Breaking results down changes the interpretation. PPO's mean violation rate is five point zero five percent on steady traffic, two point three nine percent on periodic traffic, and only point zero six percent on bursty traffic. The fixed controller does better on steady traffic, but misses eight point three three percent on bursts. The threshold controller misses thirteen point four seven percent on bursts. Extra capacity is therefore especially helpful in the burst tests, while one weaker PPO run raises the steady average above the five-percent limit. The range across PPO training seeds is about one point eight one to five point one one percent when averaged across all workloads. I would not hide that weaker run or present one favorable demo as the overall outcome. The cost condition fails clearly, and the per-workload service condition also fails narrowly.</a:t>
            </a:r>
          </a:p>
          <a:p xmlns:a="http://schemas.openxmlformats.org/drawingml/2006/main">
            <a:r>
              <a:t/>
            </a:r>
          </a:p>
          <a:p xmlns:a="http://schemas.openxmlformats.org/drawingml/2006/main">
            <a:r>
              <a:t>Sources: Measured outputs/summary.json, training_seed*.csv, test_metrics.csv, experiment.json and demo_trace.json.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65 seconds</a:t>
            </a:r>
          </a:p>
          <a:p xmlns:a="http://schemas.openxmlformats.org/drawingml/2006/main">
            <a:r>
              <a:t/>
            </a:r>
          </a:p>
          <a:p xmlns:a="http://schemas.openxmlformats.org/drawingml/2006/main">
            <a:r>
              <a:t>I will now play a sixty-second replay of actual evaluated decisions. It contains three twenty-second segments: steady, periodic, and bursty traffic. Each segment represents thirty simulated minutes. The full curves are visible, and the moving cursor marks the replay time. The gray curve is demand, orange is active service capacity, and green is the queue. The bottom panel tracks cumulative violations among resolved requests. Watch the initial capacity ramp and then the large amount of spare capacity. During periodic traffic, demand falls but the selected policy largely keeps its capacity. On bursty traffic, that spare capacity helps absorb peaks. The demo uses seed two, chosen by validation rather than by test appearance, and three predetermined test traces. It illustrates actual behavior, including inefficiency. It does not demonstrate production readiness or replace the full test results.</a:t>
            </a:r>
          </a:p>
          <a:p xmlns:a="http://schemas.openxmlformats.org/drawingml/2006/main">
            <a:r>
              <a:t/>
            </a:r>
          </a:p>
          <a:p xmlns:a="http://schemas.openxmlformats.org/drawingml/2006/main">
            <a:r>
              <a:t>Sources: Measured outputs/summary.json, training_seed*.csv, test_metrics.csv, experiment.json and demo_trace.json.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a:t>
            </a:r>
          </a:p>
          <a:p xmlns:a="http://schemas.openxmlformats.org/drawingml/2006/main">
            <a:r>
              <a:t/>
            </a:r>
          </a:p>
          <a:p xmlns:a="http://schemas.openxmlformats.org/drawingml/2006/main">
            <a:r>
              <a:t>A real autoscaler controls both service access and resource spending. Underprovisioning can delay or drop requests, and the impact may fall unevenly on different users or time periods. This simulator has no user identities or priority classes, so it does not evaluate fairness. Overprovisioning can also waste money and energy. Replica-seconds provide a limited resource measure, not a measured carbon estimate. For a real deployment, I would require hard capacity and budget limits, a fallback controller, monitoring, and a way to roll back unsafe behavior. Exploration should happen in a sandbox or carefully controlled setting. These experiments use synthetic data and no live cloud service. I would remain accountable for the choices in the reward and simulator rather than assuming the agent's learned behavior is automatically acceptable.</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The project produced a working local simulator, a trained PPO implementation, two baselines, reproducible logs, and a replay. The main lesson is that learning a policy is different from meeting the intended operational goal. In these tests, the learned controller traded higher capacity for better average service and failed the cost target. Next I would mask invalid actions consistently during both training and evaluation, then investigate reward balance and the difference between interval and episode metrics. I would add stronger predictive or rule-based baselines, more workload variation, and longer repeated experiments. Each change should use validation for tuning and a fresh held-out test set. Real traces would be a later step, after improving the simulator evidence. For now, the defensible conclusion is a useful prototype with clear limitations.</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30 seconds</a:t>
            </a:r>
          </a:p>
          <a:p xmlns:a="http://schemas.openxmlformats.org/drawingml/2006/main">
            <a:r>
              <a:t/>
            </a:r>
          </a:p>
          <a:p xmlns:a="http://schemas.openxmlformats.org/drawingml/2006/main">
            <a:r>
              <a:t>The references here connect back to Part 1, and full links are included in the repository and speaker notes. OpenAI ChatGPT helped implement and test code, organize the experiment, analyze measured outputs, and draft these slides and narration. I need to review and understand that assistance, verify the sources, and explain the final work in my own words. The results shown come from actual simulator runs.</a:t>
            </a:r>
          </a:p>
          <a:p xmlns:a="http://schemas.openxmlformats.org/drawingml/2006/main">
            <a:r>
              <a:t/>
            </a:r>
          </a:p>
          <a:p xmlns:a="http://schemas.openxmlformats.org/drawingml/2006/main">
            <a:r>
              <a:t>Sources: Project implementation and Part 1 plan.</a:t>
            </a:r>
          </a:p>
          <a:p xmlns:a="http://schemas.openxmlformats.org/drawingml/2006/main">
            <a:r>
              <a:t/>
            </a:r>
          </a:p>
          <a:p xmlns:a="http://schemas.openxmlformats.org/drawingml/2006/main">
            <a:r>
              <a:t>Research references:</a:t>
            </a:r>
          </a:p>
          <a:p xmlns:a="http://schemas.openxmlformats.org/drawingml/2006/main">
            <a:r>
              <a:t>Schulman et al. (2017). Proximal Policy Optimization Algorithms. https://arxiv.org/abs/1707.06347</a:t>
            </a:r>
          </a:p>
          <a:p xmlns:a="http://schemas.openxmlformats.org/drawingml/2006/main">
            <a:r>
              <a:t>Schulman et al. (2015). Generalized Advantage Estimation. https://arxiv.org/abs/1506.02438</a:t>
            </a:r>
          </a:p>
          <a:p xmlns:a="http://schemas.openxmlformats.org/drawingml/2006/main">
            <a:r>
              <a:t>Barrett et al. (2013). RL for cloud resource allocation. https://doi.org/10.1002/cpe.2864</a:t>
            </a:r>
          </a:p>
          <a:p xmlns:a="http://schemas.openxmlformats.org/drawingml/2006/main">
            <a:r>
              <a:t>Garí et al. (2020). Application autoscaling survey. https://arxiv.org/abs/2001.09957</a:t>
            </a:r>
          </a:p>
          <a:p xmlns:a="http://schemas.openxmlformats.org/drawingml/2006/main">
            <a:r>
              <a:t>Wang et al. (2017). Automated cloud provisioning on AWS. https://arxiv.org/abs/1709.04305</a:t>
            </a:r>
          </a:p>
          <a:p xmlns:a="http://schemas.openxmlformats.org/drawingml/2006/main">
            <a:r>
              <a:t>Qiu et al. (2023). AWARE: workload autoscaling. https://www.usenix.org/conference/atc23/presentation/qiu-haoran</a:t>
            </a:r>
          </a:p>
          <a:p xmlns:a="http://schemas.openxmlformats.org/drawingml/2006/main">
            <a:r>
              <a:t>Mnih et al. (2013). Playing Atari with Deep RL. https://arxiv.org/abs/1312.5602</a:t>
            </a:r>
          </a:p>
          <a:p xmlns:a="http://schemas.openxmlformats.org/drawingml/2006/main">
            <a:r>
              <a:t>Henderson et al. (2017). Deep Reinforcement Learning that Matters. https://arxiv.org/abs/1709.06560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fc7ab0e487c4d7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a2f8f677ff3435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0da9c8b681542c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bf29fac965f4ea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e6ff434a082437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fac2af4b66403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0172DF-0A49-472C-97F9-616DDE883D3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AD6D3B9-02D6-4279-84ED-DD44BFC0EDA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4E7CD1F-E173-42E2-AA35-585E50B435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43E07D-EB8C-4865-B842-7D042B55C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397EFB5-B7AA-423C-AAA6-B0975C2C2E6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E7EDE79-63ED-4AE2-82CE-F9911DA7589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7589B43-34CE-4D61-949D-6C7B785B359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0705033-EC4B-4C22-8FCD-00B022DFCF3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D2178E-17E5-42B0-9FAE-CE143CD5C5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33A04B-256A-4FC3-A14D-6F36E85D100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3c6e32e21004cc8" /><Relationship Type="http://schemas.openxmlformats.org/officeDocument/2006/relationships/slideLayout" Target="/ppt/slideLayouts/slideLayout1.xml" Id="R24ac033f131044fe" /><Relationship Type="http://schemas.openxmlformats.org/officeDocument/2006/relationships/slideLayout" Target="/ppt/slideLayouts/slideLayout2.xml" Id="R82e16b0a9e2c40b5" /><Relationship Type="http://schemas.openxmlformats.org/officeDocument/2006/relationships/slideLayout" Target="/ppt/slideLayouts/slideLayout3.xml" Id="Rcfb374705f9c4ecd" /><Relationship Type="http://schemas.openxmlformats.org/officeDocument/2006/relationships/slideLayout" Target="/ppt/slideLayouts/slideLayout4.xml" Id="Rc876a4bcec594e0b" /><Relationship Type="http://schemas.openxmlformats.org/officeDocument/2006/relationships/slideLayout" Target="/ppt/slideLayouts/slideLayout5.xml" Id="R53a23561aca94bee" /><Relationship Type="http://schemas.openxmlformats.org/officeDocument/2006/relationships/slideLayout" Target="/ppt/slideLayouts/slideLayout6.xml" Id="R7d6b3e7f768e446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4ac033f131044fe"/>
    <p:sldLayoutId xmlns:r="http://schemas.openxmlformats.org/officeDocument/2006/relationships" id="2147483650" r:id="R82e16b0a9e2c40b5"/>
    <p:sldLayoutId xmlns:r="http://schemas.openxmlformats.org/officeDocument/2006/relationships" id="2147483651" r:id="Rcfb374705f9c4ecd"/>
    <p:sldLayoutId xmlns:r="http://schemas.openxmlformats.org/officeDocument/2006/relationships" id="2147483652" r:id="Rc876a4bcec594e0b"/>
    <p:sldLayoutId xmlns:r="http://schemas.openxmlformats.org/officeDocument/2006/relationships" id="2147483653" r:id="R53a23561aca94bee"/>
    <p:sldLayoutId xmlns:r="http://schemas.openxmlformats.org/officeDocument/2006/relationships" id="2147483654" r:id="R7d6b3e7f768e446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b78dd397ec245bf" /><Relationship Type="http://schemas.openxmlformats.org/officeDocument/2006/relationships/notesSlide" Target="/ppt/notesSlides/notesSlide1.xml" Id="R18b73bbe8e7043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271464ffb0848d4" /><Relationship Type="http://schemas.openxmlformats.org/officeDocument/2006/relationships/notesSlide" Target="/ppt/notesSlides/notesSlide2.xml" Id="Rab945f3ae62848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0a23f5f9b004a55" /><Relationship Type="http://schemas.openxmlformats.org/officeDocument/2006/relationships/notesSlide" Target="/ppt/notesSlides/notesSlide3.xml" Id="R3211d0fff66042c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856dc747e1d4af3" /><Relationship Type="http://schemas.openxmlformats.org/officeDocument/2006/relationships/notesSlide" Target="/ppt/notesSlides/notesSlide4.xml" Id="Re9f660150efe449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98967e681f64104" /><Relationship Type="http://schemas.openxmlformats.org/officeDocument/2006/relationships/notesSlide" Target="/ppt/notesSlides/notesSlide5.xml" Id="R84da469bb3ac47e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21b9cfbfce94c2d" /><Relationship Type="http://schemas.openxmlformats.org/officeDocument/2006/relationships/notesSlide" Target="/ppt/notesSlides/notesSlide6.xml" Id="R09e8feaeaedf437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6924d06ae50449d" /><Relationship Type="http://schemas.openxmlformats.org/officeDocument/2006/relationships/notesSlide" Target="/ppt/notesSlides/notesSlide7.xml" Id="Re27c7d65605642a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c6572feb13644b0" /><Relationship Type="http://schemas.openxmlformats.org/officeDocument/2006/relationships/notesSlide" Target="/ppt/notesSlides/notesSlide8.xml" Id="R66d62eab7fc04b6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f11d2d91b9c4e29" /><Relationship Type="http://schemas.openxmlformats.org/officeDocument/2006/relationships/notesSlide" Target="/ppt/notesSlides/notesSlide9.xml" Id="R7700bb47794e49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89b29fbe9ea4e49" /><Relationship Type="http://schemas.openxmlformats.org/officeDocument/2006/relationships/chart" Target="/ppt/slides/charts/chart1.xml" Id="R19525bc2e3804f1f" /><Relationship Type="http://schemas.openxmlformats.org/officeDocument/2006/relationships/notesSlide" Target="/ppt/notesSlides/notesSlide10.xml" Id="Reae62213eeef42f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647093676dc40e4" /><Relationship Type="http://schemas.openxmlformats.org/officeDocument/2006/relationships/chart" Target="/ppt/slides/charts/chart2.xml" Id="Re33e3304bb864a1b" /><Relationship Type="http://schemas.openxmlformats.org/officeDocument/2006/relationships/chart" Target="/ppt/slides/charts/chart3.xml" Id="R3326cb004b684c1f" /><Relationship Type="http://schemas.openxmlformats.org/officeDocument/2006/relationships/notesSlide" Target="/ppt/notesSlides/notesSlide11.xml" Id="Rd38f9378cced4a9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90afcefd613410e" /><Relationship Type="http://schemas.openxmlformats.org/officeDocument/2006/relationships/chart" Target="/ppt/slides/charts/chart4.xml" Id="R10e14271a8904f1e" /><Relationship Type="http://schemas.openxmlformats.org/officeDocument/2006/relationships/notesSlide" Target="/ppt/notesSlides/notesSlide12.xml" Id="R9f475a1122ef49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821fc0a640f4bc5" /><Relationship Type="http://schemas.openxmlformats.org/officeDocument/2006/relationships/image" Target="/ppt/media/image.png" Id="R1ff7bb6a06f44229" /><Relationship Type="http://schemas.openxmlformats.org/officeDocument/2006/relationships/notesSlide" Target="/ppt/notesSlides/notesSlide13.xml" Id="R2cad8f609a3a450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d1c1696d95e491a" /><Relationship Type="http://schemas.openxmlformats.org/officeDocument/2006/relationships/notesSlide" Target="/ppt/notesSlides/notesSlide14.xml" Id="R9325d5a661fb408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ae93a2f3457428d" /><Relationship Type="http://schemas.openxmlformats.org/officeDocument/2006/relationships/notesSlide" Target="/ppt/notesSlides/notesSlide15.xml" Id="R45496241c2874fe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72f9d229ae946d3" /><Relationship Type="http://schemas.openxmlformats.org/officeDocument/2006/relationships/notesSlide" Target="/ppt/notesSlides/notesSlide16.xml" Id="R44d41eeb7b4e4c5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2D44"/>
                </a:solidFill>
                <a:latin typeface="DejaVu Sans"/>
                <a:ea typeface="DejaVu Sans"/>
                <a:cs typeface="DejaVu Sans"/>
              </a:rPr>
              <a:t>Training return by seed</a:t>
            </a:r>
          </a:p>
        </c:rich>
      </c:tx>
      <c:overlay val="0"/>
      <c:txPr>
        <a:bodyPr xmlns:a="http://schemas.openxmlformats.org/drawingml/2006/main" anchorCtr="1"/>
        <a:lstStyle xmlns:a="http://schemas.openxmlformats.org/drawingml/2006/main"/>
        <a:p xmlns:a="http://schemas.openxmlformats.org/drawingml/2006/main">
          <a:pPr>
            <a:defRPr sz="1875">
              <a:solidFill>
                <a:srgbClr val="172D44"/>
              </a:solidFill>
              <a:latin typeface="DejaVu Sans"/>
              <a:ea typeface="DejaVu Sans"/>
              <a:cs typeface="DejaVu Sans"/>
            </a:defRPr>
          </a:pPr>
        </a:p>
      </c:txPr>
    </c:title>
    <c:plotArea>
      <c:lineChart>
        <c:grouping val="standard"/>
        <c:varyColors val="0"/>
        <c:ser>
          <c:idx val="0"/>
          <c:order val="0"/>
          <c:tx>
            <c:v>Seed 0</c:v>
          </c:tx>
          <c:spPr>
            <a:ln xmlns:a="http://schemas.openxmlformats.org/drawingml/2006/main" w="28575">
              <a:solidFill>
                <a:srgbClr val="172D44"/>
              </a:solidFill>
            </a:ln>
          </c:spPr>
          <c:marker>
            <c:symbol val="none"/>
          </c:marker>
          <c:cat>
            <c:numRef>
              <c:f>'Chart Data'!$A$2:$A$6</c:f>
              <c:numCache>
                <c:formatCode>General</c:formatCode>
                <c:ptCount val="5"/>
                <c:pt idx="0">
                  <c:v>10.24</c:v>
                </c:pt>
                <c:pt idx="1">
                  <c:v>20.48</c:v>
                </c:pt>
                <c:pt idx="2">
                  <c:v>30.72</c:v>
                </c:pt>
                <c:pt idx="3">
                  <c:v>40.96</c:v>
                </c:pt>
                <c:pt idx="4">
                  <c:v>50</c:v>
                </c:pt>
              </c:numCache>
            </c:numRef>
          </c:cat>
          <c:val>
            <c:numRef>
              <c:f>'Chart Data'!$B$2:$B$6</c:f>
              <c:numCache>
                <c:formatCode>0</c:formatCode>
                <c:ptCount val="5"/>
                <c:pt idx="0">
                  <c:v>-73.1428</c:v>
                </c:pt>
                <c:pt idx="1">
                  <c:v>-34.8382</c:v>
                </c:pt>
                <c:pt idx="2">
                  <c:v>-24.9245</c:v>
                </c:pt>
                <c:pt idx="3">
                  <c:v>-37.4205</c:v>
                </c:pt>
                <c:pt idx="4">
                  <c:v>-27.2961</c:v>
                </c:pt>
              </c:numCache>
            </c:numRef>
          </c:val>
          <c:smooth val="0"/>
        </c:ser>
        <c:ser>
          <c:idx val="1"/>
          <c:order val="1"/>
          <c:tx>
            <c:v>Seed 1</c:v>
          </c:tx>
          <c:spPr>
            <a:ln xmlns:a="http://schemas.openxmlformats.org/drawingml/2006/main" w="28575">
              <a:solidFill>
                <a:srgbClr val="21867A"/>
              </a:solidFill>
            </a:ln>
          </c:spPr>
          <c:marker>
            <c:symbol val="none"/>
          </c:marker>
          <c:cat>
            <c:numRef>
              <c:f>'Chart Data'!$C$2:$C$6</c:f>
              <c:numCache>
                <c:formatCode>General</c:formatCode>
                <c:ptCount val="5"/>
                <c:pt idx="0">
                  <c:v>10.24</c:v>
                </c:pt>
                <c:pt idx="1">
                  <c:v>20.48</c:v>
                </c:pt>
                <c:pt idx="2">
                  <c:v>30.72</c:v>
                </c:pt>
                <c:pt idx="3">
                  <c:v>40.96</c:v>
                </c:pt>
                <c:pt idx="4">
                  <c:v>50</c:v>
                </c:pt>
              </c:numCache>
            </c:numRef>
          </c:cat>
          <c:val>
            <c:numRef>
              <c:f>'Chart Data'!$D$2:$D$6</c:f>
              <c:numCache>
                <c:formatCode>0</c:formatCode>
                <c:ptCount val="5"/>
                <c:pt idx="0">
                  <c:v>-44.8183</c:v>
                </c:pt>
                <c:pt idx="1">
                  <c:v>-32.7722</c:v>
                </c:pt>
                <c:pt idx="2">
                  <c:v>-28.2849</c:v>
                </c:pt>
                <c:pt idx="3">
                  <c:v>-39.68</c:v>
                </c:pt>
                <c:pt idx="4">
                  <c:v>-41.2693</c:v>
                </c:pt>
              </c:numCache>
            </c:numRef>
          </c:val>
          <c:smooth val="0"/>
        </c:ser>
        <c:ser>
          <c:idx val="2"/>
          <c:order val="2"/>
          <c:tx>
            <c:v>Seed 2</c:v>
          </c:tx>
          <c:spPr>
            <a:ln xmlns:a="http://schemas.openxmlformats.org/drawingml/2006/main" w="28575">
              <a:solidFill>
                <a:srgbClr val="DC7841"/>
              </a:solidFill>
            </a:ln>
          </c:spPr>
          <c:marker>
            <c:symbol val="none"/>
          </c:marker>
          <c:cat>
            <c:numRef>
              <c:f>'Chart Data'!$E$2:$E$6</c:f>
              <c:numCache>
                <c:formatCode>General</c:formatCode>
                <c:ptCount val="5"/>
                <c:pt idx="0">
                  <c:v>10.24</c:v>
                </c:pt>
                <c:pt idx="1">
                  <c:v>20.48</c:v>
                </c:pt>
                <c:pt idx="2">
                  <c:v>30.72</c:v>
                </c:pt>
                <c:pt idx="3">
                  <c:v>40.96</c:v>
                </c:pt>
                <c:pt idx="4">
                  <c:v>50</c:v>
                </c:pt>
              </c:numCache>
            </c:numRef>
          </c:cat>
          <c:val>
            <c:numRef>
              <c:f>'Chart Data'!$F$2:$F$6</c:f>
              <c:numCache>
                <c:formatCode>0</c:formatCode>
                <c:ptCount val="5"/>
                <c:pt idx="0">
                  <c:v>-35.223</c:v>
                </c:pt>
                <c:pt idx="1">
                  <c:v>-23.8927</c:v>
                </c:pt>
                <c:pt idx="2">
                  <c:v>-40.9444</c:v>
                </c:pt>
                <c:pt idx="3">
                  <c:v>-35.6409</c:v>
                </c:pt>
                <c:pt idx="4">
                  <c:v>-38.4033</c:v>
                </c:pt>
              </c:numCache>
            </c:numRef>
          </c:val>
          <c:smooth val="0"/>
        </c:ser>
        <c:ser>
          <c:idx val="3"/>
          <c:order val="3"/>
          <c:tx>
            <c:v>Seed 3</c:v>
          </c:tx>
          <c:spPr>
            <a:ln xmlns:a="http://schemas.openxmlformats.org/drawingml/2006/main" w="28575">
              <a:solidFill>
                <a:srgbClr val="7C61A8"/>
              </a:solidFill>
            </a:ln>
          </c:spPr>
          <c:marker>
            <c:symbol val="none"/>
          </c:marker>
          <c:cat>
            <c:numRef>
              <c:f>'Chart Data'!$G$2:$G$6</c:f>
              <c:numCache>
                <c:formatCode>General</c:formatCode>
                <c:ptCount val="5"/>
                <c:pt idx="0">
                  <c:v>10.24</c:v>
                </c:pt>
                <c:pt idx="1">
                  <c:v>20.48</c:v>
                </c:pt>
                <c:pt idx="2">
                  <c:v>30.72</c:v>
                </c:pt>
                <c:pt idx="3">
                  <c:v>40.96</c:v>
                </c:pt>
                <c:pt idx="4">
                  <c:v>50</c:v>
                </c:pt>
              </c:numCache>
            </c:numRef>
          </c:cat>
          <c:val>
            <c:numRef>
              <c:f>'Chart Data'!$H$2:$H$6</c:f>
              <c:numCache>
                <c:formatCode>0</c:formatCode>
                <c:ptCount val="5"/>
                <c:pt idx="0">
                  <c:v>-51.3357</c:v>
                </c:pt>
                <c:pt idx="1">
                  <c:v>-31.4364</c:v>
                </c:pt>
                <c:pt idx="2">
                  <c:v>-33.6457</c:v>
                </c:pt>
                <c:pt idx="3">
                  <c:v>-36.0628</c:v>
                </c:pt>
                <c:pt idx="4">
                  <c:v>-42.1837</c:v>
                </c:pt>
              </c:numCache>
            </c:numRef>
          </c:val>
          <c:smooth val="0"/>
        </c:ser>
        <c:ser>
          <c:idx val="4"/>
          <c:order val="4"/>
          <c:tx>
            <c:v>Seed 4</c:v>
          </c:tx>
          <c:spPr>
            <a:ln xmlns:a="http://schemas.openxmlformats.org/drawingml/2006/main" w="28575">
              <a:solidFill>
                <a:srgbClr val="8B8C45"/>
              </a:solidFill>
            </a:ln>
          </c:spPr>
          <c:marker>
            <c:symbol val="none"/>
          </c:marker>
          <c:cat>
            <c:numRef>
              <c:f>'Chart Data'!$I$2:$I$6</c:f>
              <c:numCache>
                <c:formatCode>General</c:formatCode>
                <c:ptCount val="5"/>
                <c:pt idx="0">
                  <c:v>10.24</c:v>
                </c:pt>
                <c:pt idx="1">
                  <c:v>20.48</c:v>
                </c:pt>
                <c:pt idx="2">
                  <c:v>30.72</c:v>
                </c:pt>
                <c:pt idx="3">
                  <c:v>40.96</c:v>
                </c:pt>
                <c:pt idx="4">
                  <c:v>50</c:v>
                </c:pt>
              </c:numCache>
            </c:numRef>
          </c:cat>
          <c:val>
            <c:numRef>
              <c:f>'Chart Data'!$J$2:$J$6</c:f>
              <c:numCache>
                <c:formatCode>0</c:formatCode>
                <c:ptCount val="5"/>
                <c:pt idx="0">
                  <c:v>-43.7454</c:v>
                </c:pt>
                <c:pt idx="1">
                  <c:v>-41.9732</c:v>
                </c:pt>
                <c:pt idx="2">
                  <c:v>-37.9099</c:v>
                </c:pt>
                <c:pt idx="3">
                  <c:v>-36.8569</c:v>
                </c:pt>
                <c:pt idx="4">
                  <c:v>-35.4941</c:v>
                </c:pt>
              </c:numCache>
            </c:numRef>
          </c:val>
          <c:smooth val="0"/>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263A4E"/>
                    </a:solidFill>
                    <a:latin typeface="DejaVu Sans"/>
                    <a:ea typeface="DejaVu Sans"/>
                    <a:cs typeface="DejaVu Sans"/>
                  </a:rPr>
                  <a:t>Training decisions (thousands)</a:t>
                </a:r>
              </a:p>
            </c:rich>
          </c:tx>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title>
          <c:tx>
            <c:rich>
              <a:bodyPr xmlns:a="http://schemas.openxmlformats.org/drawingml/2006/main"/>
              <a:lstStyle xmlns:a="http://schemas.openxmlformats.org/drawingml/2006/main"/>
              <a:p xmlns:a="http://schemas.openxmlformats.org/drawingml/2006/main">
                <a:r>
                  <a:rPr sz="1575">
                    <a:solidFill>
                      <a:srgbClr val="263A4E"/>
                    </a:solidFill>
                    <a:latin typeface="DejaVu Sans"/>
                    <a:ea typeface="DejaVu Sans"/>
                    <a:cs typeface="DejaVu Sans"/>
                  </a:rPr>
                  <a:t>Return</a:t>
                </a:r>
              </a:p>
            </c:rich>
          </c:tx>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D44"/>
                </a:solidFill>
                <a:latin typeface="DejaVu Sans"/>
                <a:ea typeface="DejaVu Sans"/>
                <a:cs typeface="DejaVu Sans"/>
              </a:rPr>
              <a:t>Allocated replica-seconds</a:t>
            </a:r>
          </a:p>
        </c:rich>
      </c:tx>
      <c:overlay val="0"/>
      <c:txPr>
        <a:bodyPr xmlns:a="http://schemas.openxmlformats.org/drawingml/2006/main" anchorCtr="1"/>
        <a:lstStyle xmlns:a="http://schemas.openxmlformats.org/drawingml/2006/main"/>
        <a:p xmlns:a="http://schemas.openxmlformats.org/drawingml/2006/main">
          <a:pPr>
            <a:defRPr sz="1725">
              <a:solidFill>
                <a:srgbClr val="172D44"/>
              </a:solidFill>
              <a:latin typeface="DejaVu Sans"/>
              <a:ea typeface="DejaVu Sans"/>
              <a:cs typeface="DejaVu Sans"/>
            </a:defRPr>
          </a:pPr>
        </a:p>
      </c:txPr>
    </c:title>
    <c:plotArea>
      <c:barChart>
        <c:barDir val="col"/>
        <c:grouping val="clustered"/>
        <c:varyColors val="0"/>
        <c:ser>
          <c:idx val="0"/>
          <c:order val="0"/>
          <c:tx>
            <c:v>Capacity</c:v>
          </c:tx>
          <c:spPr>
            <a:solidFill xmlns:a="http://schemas.openxmlformats.org/drawingml/2006/main">
              <a:srgbClr val="172D44"/>
            </a:solidFill>
          </c:spPr>
          <c:cat>
            <c:strRef>
              <c:f>'Chart Data'!$A$2:$A$4</c:f>
              <c:strCache>
                <c:ptCount val="3"/>
                <c:pt idx="0">
                  <c:v>Fixed</c:v>
                </c:pt>
                <c:pt idx="1">
                  <c:v>Threshold</c:v>
                </c:pt>
                <c:pt idx="2">
                  <c:v>PPO</c:v>
                </c:pt>
              </c:strCache>
            </c:strRef>
          </c:cat>
          <c:val>
            <c:numRef>
              <c:f>'Chart Data'!$B$2:$B$4</c:f>
              <c:numCache>
                <c:formatCode>#,##0</c:formatCode>
                <c:ptCount val="3"/>
                <c:pt idx="0">
                  <c:v>14250</c:v>
                </c:pt>
                <c:pt idx="1">
                  <c:v>15905</c:v>
                </c:pt>
                <c:pt idx="2">
                  <c:v>17599.6733</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D44"/>
                </a:solidFill>
                <a:latin typeface="DejaVu Sans"/>
                <a:ea typeface="DejaVu Sans"/>
                <a:cs typeface="DejaVu Sans"/>
              </a:rPr>
              <a:t>Waiting-target violations (%)</a:t>
            </a:r>
          </a:p>
        </c:rich>
      </c:tx>
      <c:overlay val="0"/>
      <c:txPr>
        <a:bodyPr xmlns:a="http://schemas.openxmlformats.org/drawingml/2006/main" anchorCtr="1"/>
        <a:lstStyle xmlns:a="http://schemas.openxmlformats.org/drawingml/2006/main"/>
        <a:p xmlns:a="http://schemas.openxmlformats.org/drawingml/2006/main">
          <a:pPr>
            <a:defRPr sz="1725">
              <a:solidFill>
                <a:srgbClr val="172D44"/>
              </a:solidFill>
              <a:latin typeface="DejaVu Sans"/>
              <a:ea typeface="DejaVu Sans"/>
              <a:cs typeface="DejaVu Sans"/>
            </a:defRPr>
          </a:pPr>
        </a:p>
      </c:txPr>
    </c:title>
    <c:plotArea>
      <c:barChart>
        <c:barDir val="col"/>
        <c:grouping val="clustered"/>
        <c:varyColors val="0"/>
        <c:ser>
          <c:idx val="0"/>
          <c:order val="0"/>
          <c:tx>
            <c:v>Violations</c:v>
          </c:tx>
          <c:spPr>
            <a:solidFill xmlns:a="http://schemas.openxmlformats.org/drawingml/2006/main">
              <a:srgbClr val="DC7841"/>
            </a:solidFill>
          </c:spPr>
          <c:cat>
            <c:strRef>
              <c:f>'Chart Data'!$A$2:$A$4</c:f>
              <c:strCache>
                <c:ptCount val="3"/>
                <c:pt idx="0">
                  <c:v>Fixed</c:v>
                </c:pt>
                <c:pt idx="1">
                  <c:v>Threshold</c:v>
                </c:pt>
                <c:pt idx="2">
                  <c:v>PPO</c:v>
                </c:pt>
              </c:strCache>
            </c:strRef>
          </c:cat>
          <c:val>
            <c:numRef>
              <c:f>'Chart Data'!$B$2:$B$4</c:f>
              <c:numCache>
                <c:formatCode>0.0</c:formatCode>
                <c:ptCount val="3"/>
                <c:pt idx="0">
                  <c:v>4.5799</c:v>
                </c:pt>
                <c:pt idx="1">
                  <c:v>6.5908</c:v>
                </c:pt>
                <c:pt idx="2">
                  <c:v>2.5013</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2D44"/>
                </a:solidFill>
                <a:latin typeface="DejaVu Sans"/>
                <a:ea typeface="DejaVu Sans"/>
                <a:cs typeface="DejaVu Sans"/>
              </a:rPr>
              <a:t>Mean waiting-target violations (%)</a:t>
            </a:r>
          </a:p>
        </c:rich>
      </c:tx>
      <c:overlay val="0"/>
      <c:txPr>
        <a:bodyPr xmlns:a="http://schemas.openxmlformats.org/drawingml/2006/main" anchorCtr="1"/>
        <a:lstStyle xmlns:a="http://schemas.openxmlformats.org/drawingml/2006/main"/>
        <a:p xmlns:a="http://schemas.openxmlformats.org/drawingml/2006/main">
          <a:pPr>
            <a:defRPr sz="1875">
              <a:solidFill>
                <a:srgbClr val="172D44"/>
              </a:solidFill>
              <a:latin typeface="DejaVu Sans"/>
              <a:ea typeface="DejaVu Sans"/>
              <a:cs typeface="DejaVu Sans"/>
            </a:defRPr>
          </a:pPr>
        </a:p>
      </c:txPr>
    </c:title>
    <c:plotArea>
      <c:barChart>
        <c:barDir val="col"/>
        <c:grouping val="clustered"/>
        <c:varyColors val="0"/>
        <c:ser>
          <c:idx val="0"/>
          <c:order val="0"/>
          <c:tx>
            <c:v>Fixed</c:v>
          </c:tx>
          <c:spPr>
            <a:solidFill xmlns:a="http://schemas.openxmlformats.org/drawingml/2006/main">
              <a:srgbClr val="8993A0"/>
            </a:solidFill>
          </c:spPr>
          <c:cat>
            <c:strRef>
              <c:f>'Chart Data'!$A$2:$A$4</c:f>
              <c:strCache>
                <c:ptCount val="3"/>
                <c:pt idx="0">
                  <c:v>Steady</c:v>
                </c:pt>
                <c:pt idx="1">
                  <c:v>Periodic</c:v>
                </c:pt>
                <c:pt idx="2">
                  <c:v>Bursty</c:v>
                </c:pt>
              </c:strCache>
            </c:strRef>
          </c:cat>
          <c:val>
            <c:numRef>
              <c:f>'Chart Data'!$B$2:$B$4</c:f>
              <c:numCache>
                <c:formatCode>0.0</c:formatCode>
                <c:ptCount val="3"/>
                <c:pt idx="0">
                  <c:v>3.149</c:v>
                </c:pt>
                <c:pt idx="1">
                  <c:v>2.2568</c:v>
                </c:pt>
                <c:pt idx="2">
                  <c:v>8.3339</c:v>
                </c:pt>
              </c:numCache>
            </c:numRef>
          </c:val>
        </c:ser>
        <c:ser>
          <c:idx val="1"/>
          <c:order val="1"/>
          <c:tx>
            <c:v>Threshold</c:v>
          </c:tx>
          <c:spPr>
            <a:solidFill xmlns:a="http://schemas.openxmlformats.org/drawingml/2006/main">
              <a:srgbClr val="21867A"/>
            </a:solidFill>
          </c:spPr>
          <c:cat>
            <c:strRef>
              <c:f>'Chart Data'!$C$2:$C$4</c:f>
              <c:strCache>
                <c:ptCount val="3"/>
                <c:pt idx="0">
                  <c:v>Steady</c:v>
                </c:pt>
                <c:pt idx="1">
                  <c:v>Periodic</c:v>
                </c:pt>
                <c:pt idx="2">
                  <c:v>Bursty</c:v>
                </c:pt>
              </c:strCache>
            </c:strRef>
          </c:cat>
          <c:val>
            <c:numRef>
              <c:f>'Chart Data'!$D$2:$D$4</c:f>
              <c:numCache>
                <c:formatCode>0.0</c:formatCode>
                <c:ptCount val="3"/>
                <c:pt idx="0">
                  <c:v>3.6381</c:v>
                </c:pt>
                <c:pt idx="1">
                  <c:v>2.6664</c:v>
                </c:pt>
                <c:pt idx="2">
                  <c:v>13.4679</c:v>
                </c:pt>
              </c:numCache>
            </c:numRef>
          </c:val>
        </c:ser>
        <c:ser>
          <c:idx val="2"/>
          <c:order val="2"/>
          <c:tx>
            <c:v>PPO</c:v>
          </c:tx>
          <c:spPr>
            <a:solidFill xmlns:a="http://schemas.openxmlformats.org/drawingml/2006/main">
              <a:srgbClr val="DC7841"/>
            </a:solidFill>
          </c:spPr>
          <c:cat>
            <c:strRef>
              <c:f>'Chart Data'!$E$2:$E$4</c:f>
              <c:strCache>
                <c:ptCount val="3"/>
                <c:pt idx="0">
                  <c:v>Steady</c:v>
                </c:pt>
                <c:pt idx="1">
                  <c:v>Periodic</c:v>
                </c:pt>
                <c:pt idx="2">
                  <c:v>Bursty</c:v>
                </c:pt>
              </c:strCache>
            </c:strRef>
          </c:cat>
          <c:val>
            <c:numRef>
              <c:f>'Chart Data'!$F$2:$F$4</c:f>
              <c:numCache>
                <c:formatCode>0.0</c:formatCode>
                <c:ptCount val="3"/>
                <c:pt idx="0">
                  <c:v>5.0546</c:v>
                </c:pt>
                <c:pt idx="1">
                  <c:v>2.3899</c:v>
                </c:pt>
                <c:pt idx="2">
                  <c:v>0.0593</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title>
          <c:tx>
            <c:rich>
              <a:bodyPr xmlns:a="http://schemas.openxmlformats.org/drawingml/2006/main"/>
              <a:lstStyle xmlns:a="http://schemas.openxmlformats.org/drawingml/2006/main"/>
              <a:p xmlns:a="http://schemas.openxmlformats.org/drawingml/2006/main">
                <a:r>
                  <a:rPr sz="1575">
                    <a:solidFill>
                      <a:srgbClr val="263A4E"/>
                    </a:solidFill>
                    <a:latin typeface="DejaVu Sans"/>
                    <a:ea typeface="DejaVu Sans"/>
                    <a:cs typeface="DejaVu Sans"/>
                  </a:rPr>
                  <a:t>Percent</a:t>
                </a:r>
              </a:p>
            </c:rich>
          </c:tx>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F81830F-327E-468D-B1AF-87CCA9EFFF6A}"/>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Learning to scale an API</a:t>
            </a:r>
          </a:p>
        </p:txBody>
      </p:sp>
      <p:sp>
        <p:nvSpPr>
          <p:cNvPr id="2" name="">
            <a:extLst xmlns:a="http://schemas.openxmlformats.org/drawingml/2006/main">
              <a:ext uri="{FF2B5EF4-FFF2-40B4-BE49-F238E27FC236}">
                <a16:creationId xmlns:a16="http://schemas.microsoft.com/office/drawing/2014/main" id="{E0473087-9E0C-4B2B-AAF5-20896CF1DEAF}"/>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3" name="">
            <a:extLst xmlns:a="http://schemas.openxmlformats.org/drawingml/2006/main">
              <a:ext uri="{FF2B5EF4-FFF2-40B4-BE49-F238E27FC236}">
                <a16:creationId xmlns:a16="http://schemas.microsoft.com/office/drawing/2014/main" id="{D8E609D4-0306-4318-9B51-20DA90F3E4B2}"/>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a:t>
            </a:r>
          </a:p>
        </p:txBody>
      </p:sp>
      <p:sp>
        <p:nvSpPr>
          <p:cNvPr id="4" name="">
            <a:extLst xmlns:a="http://schemas.openxmlformats.org/drawingml/2006/main">
              <a:ext uri="{FF2B5EF4-FFF2-40B4-BE49-F238E27FC236}">
                <a16:creationId xmlns:a16="http://schemas.microsoft.com/office/drawing/2014/main" id="{0B7D6FE8-3FB9-48AE-814C-9C266DF0215B}"/>
              </a:ext>
            </a:extLst>
          </p:cNvPr>
          <p:cNvSpPr>
            <a:spLocks xmlns:a="http://schemas.openxmlformats.org/drawingml/2006/main" noGrp="1"/>
          </p:cNvSpPr>
          <p:nvPr/>
        </p:nvSpPr>
        <p:spPr>
          <a:xfrm xmlns:a="http://schemas.openxmlformats.org/drawingml/2006/main">
            <a:off x="628650" y="209550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72D44"/>
                </a:solidFill>
                <a:latin typeface="DejaVu Sans"/>
                <a:ea typeface="DejaVu Sans"/>
                <a:cs typeface="DejaVu Sans"/>
              </a:defRPr>
            </a:defPPr>
          </a:lstStyle>
          <a:p xmlns:a="http://schemas.openxmlformats.org/drawingml/2006/main">
            <a:pPr>
              <a:defRPr sz="3600" b="1">
                <a:solidFill>
                  <a:srgbClr val="172D44"/>
                </a:solidFill>
                <a:latin typeface="DejaVu Sans"/>
                <a:ea typeface="DejaVu Sans"/>
                <a:cs typeface="DejaVu Sans"/>
              </a:defRPr>
            </a:pPr>
            <a:r>
              <a:rPr sz="3600" b="1">
                <a:solidFill>
                  <a:srgbClr val="172D44"/>
                </a:solidFill>
                <a:latin typeface="DejaVu Sans"/>
                <a:ea typeface="DejaVu Sans"/>
                <a:cs typeface="DejaVu Sans"/>
              </a:rPr>
              <a:t>PPO for simulated API autoscaling</a:t>
            </a:r>
          </a:p>
        </p:txBody>
      </p:sp>
      <p:sp>
        <p:nvSpPr>
          <p:cNvPr id="5" name="">
            <a:extLst xmlns:a="http://schemas.openxmlformats.org/drawingml/2006/main">
              <a:ext uri="{FF2B5EF4-FFF2-40B4-BE49-F238E27FC236}">
                <a16:creationId xmlns:a16="http://schemas.microsoft.com/office/drawing/2014/main" id="{B58C49DA-5BA4-4CA5-8090-9BB270C70560}"/>
              </a:ext>
            </a:extLst>
          </p:cNvPr>
          <p:cNvSpPr>
            <a:spLocks xmlns:a="http://schemas.openxmlformats.org/drawingml/2006/main" noGrp="1"/>
          </p:cNvSpPr>
          <p:nvPr/>
        </p:nvSpPr>
        <p:spPr>
          <a:xfrm xmlns:a="http://schemas.openxmlformats.org/drawingml/2006/main">
            <a:off x="628650" y="3343275"/>
            <a:ext cx="1028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263A4E"/>
                </a:solidFill>
                <a:latin typeface="DejaVu Sans"/>
                <a:ea typeface="DejaVu Sans"/>
                <a:cs typeface="DejaVu Sans"/>
              </a:defRPr>
            </a:defPPr>
          </a:lstStyle>
          <a:p xmlns:a="http://schemas.openxmlformats.org/drawingml/2006/main">
            <a:pPr>
              <a:defRPr sz="2550" b="0">
                <a:solidFill>
                  <a:srgbClr val="263A4E"/>
                </a:solidFill>
                <a:latin typeface="DejaVu Sans"/>
                <a:ea typeface="DejaVu Sans"/>
                <a:cs typeface="DejaVu Sans"/>
              </a:defRPr>
            </a:pPr>
            <a:r>
              <a:rPr sz="2550" b="0">
                <a:solidFill>
                  <a:srgbClr val="263A4E"/>
                </a:solidFill>
                <a:latin typeface="DejaVu Sans"/>
                <a:ea typeface="DejaVu Sans"/>
                <a:cs typeface="DejaVu Sans"/>
              </a:rPr>
              <a:t>Can an agent protect service while using less capacity?</a:t>
            </a:r>
          </a:p>
        </p:txBody>
      </p:sp>
      <p:sp>
        <p:nvSpPr>
          <p:cNvPr id="6" name="">
            <a:extLst xmlns:a="http://schemas.openxmlformats.org/drawingml/2006/main">
              <a:ext uri="{FF2B5EF4-FFF2-40B4-BE49-F238E27FC236}">
                <a16:creationId xmlns:a16="http://schemas.microsoft.com/office/drawing/2014/main" id="{940BB6C9-FFD0-4316-9568-42B8A27CDA1C}"/>
              </a:ext>
            </a:extLst>
          </p:cNvPr>
          <p:cNvSpPr>
            <a:spLocks xmlns:a="http://schemas.openxmlformats.org/drawingml/2006/main" noGrp="1"/>
          </p:cNvSpPr>
          <p:nvPr/>
        </p:nvSpPr>
        <p:spPr>
          <a:xfrm xmlns:a="http://schemas.openxmlformats.org/drawingml/2006/main">
            <a:off x="628650" y="47339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B6B7C"/>
                </a:solidFill>
                <a:latin typeface="DejaVu Sans"/>
                <a:ea typeface="DejaVu Sans"/>
                <a:cs typeface="DejaVu Sans"/>
              </a:defRPr>
            </a:defPPr>
          </a:lstStyle>
          <a:p xmlns:a="http://schemas.openxmlformats.org/drawingml/2006/main">
            <a:pPr>
              <a:defRPr sz="2025" b="0">
                <a:solidFill>
                  <a:srgbClr val="5B6B7C"/>
                </a:solidFill>
                <a:latin typeface="DejaVu Sans"/>
                <a:ea typeface="DejaVu Sans"/>
                <a:cs typeface="DejaVu Sans"/>
              </a:defRPr>
            </a:pPr>
            <a:r>
              <a:rPr sz="2025" b="0">
                <a:solidFill>
                  <a:srgbClr val="5B6B7C"/>
                </a:solidFill>
                <a:latin typeface="DejaVu Sans"/>
                <a:ea typeface="DejaVu Sans"/>
                <a:cs typeface="DejaVu Sans"/>
              </a:rPr>
              <a:t>Local simulator • Five training runs • Two baselines</a:t>
            </a:r>
          </a:p>
        </p:txBody>
      </p:sp>
      <p:sp>
        <p:nvSpPr>
          <p:cNvPr id="7" name="">
            <a:extLst xmlns:a="http://schemas.openxmlformats.org/drawingml/2006/main">
              <a:ext uri="{FF2B5EF4-FFF2-40B4-BE49-F238E27FC236}">
                <a16:creationId xmlns:a16="http://schemas.microsoft.com/office/drawing/2014/main" id="{ED0A6CC1-0277-40BA-BC90-C212F0E8AC40}"/>
              </a:ext>
            </a:extLst>
          </p:cNvPr>
          <p:cNvSpPr>
            <a:spLocks xmlns:a="http://schemas.openxmlformats.org/drawingml/2006/main" noGrp="1"/>
          </p:cNvSpPr>
          <p:nvPr/>
        </p:nvSpPr>
        <p:spPr>
          <a:xfrm xmlns:a="http://schemas.openxmlformats.org/drawingml/2006/main">
            <a:off x="628650" y="53911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DC7841"/>
                </a:solidFill>
                <a:latin typeface="DejaVu Sans"/>
                <a:ea typeface="DejaVu Sans"/>
                <a:cs typeface="DejaVu Sans"/>
              </a:defRPr>
            </a:defPPr>
          </a:lstStyle>
          <a:p xmlns:a="http://schemas.openxmlformats.org/drawingml/2006/main">
            <a:pPr>
              <a:defRPr sz="2175" b="1">
                <a:solidFill>
                  <a:srgbClr val="DC7841"/>
                </a:solidFill>
                <a:latin typeface="DejaVu Sans"/>
                <a:ea typeface="DejaVu Sans"/>
                <a:cs typeface="DejaVu Sans"/>
              </a:defRPr>
            </a:pPr>
            <a:r>
              <a:rPr sz="2175" b="1">
                <a:solidFill>
                  <a:srgbClr val="DC7841"/>
                </a:solidFill>
                <a:latin typeface="DejaVu Sans"/>
                <a:ea typeface="DejaVu Sans"/>
                <a:cs typeface="DejaVu Sans"/>
              </a:rPr>
              <a:t>Measured outcome: lower average violations, higher resource use</a:t>
            </a:r>
          </a:p>
        </p:txBody>
      </p:sp>
    </p:spTree>
    <p:extLst>
      <p:ext uri="{BB962C8B-B14F-4D97-AF65-F5344CB8AC3E}">
        <p14:creationId xmlns:p14="http://schemas.microsoft.com/office/powerpoint/2010/main" val="51656454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42399F3-0405-4E1F-A8A4-47A2F035C322}"/>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The goal from Part 1</a:t>
            </a:r>
          </a:p>
        </p:txBody>
      </p:sp>
      <p:sp>
        <p:nvSpPr>
          <p:cNvPr id="2" name="">
            <a:extLst xmlns:a="http://schemas.openxmlformats.org/drawingml/2006/main">
              <a:ext uri="{FF2B5EF4-FFF2-40B4-BE49-F238E27FC236}">
                <a16:creationId xmlns:a16="http://schemas.microsoft.com/office/drawing/2014/main" id="{F8F06E76-43B5-407C-86AB-D25AAED4E0A5}"/>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One objective with two conditions</a:t>
            </a:r>
          </a:p>
        </p:txBody>
      </p:sp>
      <p:sp>
        <p:nvSpPr>
          <p:cNvPr id="3" name="">
            <a:extLst xmlns:a="http://schemas.openxmlformats.org/drawingml/2006/main">
              <a:ext uri="{FF2B5EF4-FFF2-40B4-BE49-F238E27FC236}">
                <a16:creationId xmlns:a16="http://schemas.microsoft.com/office/drawing/2014/main" id="{6C61F9E6-008D-448E-B420-568D5DE994D6}"/>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D6426BDB-8C6C-48A4-9F9D-AF51E85FC74F}"/>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2</a:t>
            </a:r>
          </a:p>
        </p:txBody>
      </p:sp>
      <p:sp>
        <p:nvSpPr>
          <p:cNvPr id="5" name="">
            <a:extLst xmlns:a="http://schemas.openxmlformats.org/drawingml/2006/main">
              <a:ext uri="{FF2B5EF4-FFF2-40B4-BE49-F238E27FC236}">
                <a16:creationId xmlns:a16="http://schemas.microsoft.com/office/drawing/2014/main" id="{48C7FBCF-AA9F-4BCD-AF36-BFB8A1845DE2}"/>
              </a:ext>
            </a:extLst>
          </p:cNvPr>
          <p:cNvSpPr>
            <a:spLocks xmlns:a="http://schemas.openxmlformats.org/drawingml/2006/main" noGrp="1"/>
          </p:cNvSpPr>
          <p:nvPr/>
        </p:nvSpPr>
        <p:spPr>
          <a:xfrm xmlns:a="http://schemas.openxmlformats.org/drawingml/2006/main">
            <a:off x="628650" y="21145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Service target</a:t>
            </a:r>
          </a:p>
        </p:txBody>
      </p:sp>
      <p:sp>
        <p:nvSpPr>
          <p:cNvPr id="6" name="">
            <a:extLst xmlns:a="http://schemas.openxmlformats.org/drawingml/2006/main">
              <a:ext uri="{FF2B5EF4-FFF2-40B4-BE49-F238E27FC236}">
                <a16:creationId xmlns:a16="http://schemas.microsoft.com/office/drawing/2014/main" id="{BBB6E3BA-A414-4CC1-82B8-2893F8520480}"/>
              </a:ext>
            </a:extLst>
          </p:cNvPr>
          <p:cNvSpPr>
            <a:spLocks xmlns:a="http://schemas.openxmlformats.org/drawingml/2006/main" noGrp="1"/>
          </p:cNvSpPr>
          <p:nvPr/>
        </p:nvSpPr>
        <p:spPr>
          <a:xfrm xmlns:a="http://schemas.openxmlformats.org/drawingml/2006/main">
            <a:off x="628650" y="25146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At least 95% of requests within 2 seconds of queue waiting.</a:t>
            </a:r>
          </a:p>
        </p:txBody>
      </p:sp>
      <p:sp>
        <p:nvSpPr>
          <p:cNvPr id="7" name="">
            <a:extLst xmlns:a="http://schemas.openxmlformats.org/drawingml/2006/main">
              <a:ext uri="{FF2B5EF4-FFF2-40B4-BE49-F238E27FC236}">
                <a16:creationId xmlns:a16="http://schemas.microsoft.com/office/drawing/2014/main" id="{EFB24D8A-F435-4782-A11C-FCC09B49F343}"/>
              </a:ext>
            </a:extLst>
          </p:cNvPr>
          <p:cNvSpPr>
            <a:spLocks xmlns:a="http://schemas.openxmlformats.org/drawingml/2006/main" noGrp="1"/>
          </p:cNvSpPr>
          <p:nvPr/>
        </p:nvSpPr>
        <p:spPr>
          <a:xfrm xmlns:a="http://schemas.openxmlformats.org/drawingml/2006/main">
            <a:off x="628650" y="31813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Cost target</a:t>
            </a:r>
          </a:p>
        </p:txBody>
      </p:sp>
      <p:sp>
        <p:nvSpPr>
          <p:cNvPr id="8" name="">
            <a:extLst xmlns:a="http://schemas.openxmlformats.org/drawingml/2006/main">
              <a:ext uri="{FF2B5EF4-FFF2-40B4-BE49-F238E27FC236}">
                <a16:creationId xmlns:a16="http://schemas.microsoft.com/office/drawing/2014/main" id="{031B25F2-755C-47B6-9222-9DEA817334A4}"/>
              </a:ext>
            </a:extLst>
          </p:cNvPr>
          <p:cNvSpPr>
            <a:spLocks xmlns:a="http://schemas.openxmlformats.org/drawingml/2006/main" noGrp="1"/>
          </p:cNvSpPr>
          <p:nvPr/>
        </p:nvSpPr>
        <p:spPr>
          <a:xfrm xmlns:a="http://schemas.openxmlformats.org/drawingml/2006/main">
            <a:off x="628650" y="35814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At least 10% fewer replica-seconds than fixed capacity.</a:t>
            </a:r>
          </a:p>
        </p:txBody>
      </p:sp>
      <p:sp>
        <p:nvSpPr>
          <p:cNvPr id="9" name="">
            <a:extLst xmlns:a="http://schemas.openxmlformats.org/drawingml/2006/main">
              <a:ext uri="{FF2B5EF4-FFF2-40B4-BE49-F238E27FC236}">
                <a16:creationId xmlns:a16="http://schemas.microsoft.com/office/drawing/2014/main" id="{0D5ACB33-C9D2-4911-9438-10DC5A7955BF}"/>
              </a:ext>
            </a:extLst>
          </p:cNvPr>
          <p:cNvSpPr>
            <a:spLocks xmlns:a="http://schemas.openxmlformats.org/drawingml/2006/main" noGrp="1"/>
          </p:cNvSpPr>
          <p:nvPr/>
        </p:nvSpPr>
        <p:spPr>
          <a:xfrm xmlns:a="http://schemas.openxmlformats.org/drawingml/2006/main">
            <a:off x="628650" y="42481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Why reinforcement learning?</a:t>
            </a:r>
          </a:p>
        </p:txBody>
      </p:sp>
      <p:sp>
        <p:nvSpPr>
          <p:cNvPr id="10" name="">
            <a:extLst xmlns:a="http://schemas.openxmlformats.org/drawingml/2006/main">
              <a:ext uri="{FF2B5EF4-FFF2-40B4-BE49-F238E27FC236}">
                <a16:creationId xmlns:a16="http://schemas.microsoft.com/office/drawing/2014/main" id="{B433F916-7DEE-45D9-B6DF-5FED5E4D0F9D}"/>
              </a:ext>
            </a:extLst>
          </p:cNvPr>
          <p:cNvSpPr>
            <a:spLocks xmlns:a="http://schemas.openxmlformats.org/drawingml/2006/main" noGrp="1"/>
          </p:cNvSpPr>
          <p:nvPr/>
        </p:nvSpPr>
        <p:spPr>
          <a:xfrm xmlns:a="http://schemas.openxmlformats.org/drawingml/2006/main">
            <a:off x="628650" y="46482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Scaling decisions have delayed effects: startup takes 20 seconds.</a:t>
            </a:r>
          </a:p>
        </p:txBody>
      </p:sp>
      <p:sp>
        <p:nvSpPr>
          <p:cNvPr id="11" name="">
            <a:extLst xmlns:a="http://schemas.openxmlformats.org/drawingml/2006/main">
              <a:ext uri="{FF2B5EF4-FFF2-40B4-BE49-F238E27FC236}">
                <a16:creationId xmlns:a16="http://schemas.microsoft.com/office/drawing/2014/main" id="{C129DA2D-99C3-4FBF-8EBB-15BCC600CF22}"/>
              </a:ext>
            </a:extLst>
          </p:cNvPr>
          <p:cNvSpPr>
            <a:spLocks xmlns:a="http://schemas.openxmlformats.org/drawingml/2006/main" noGrp="1"/>
          </p:cNvSpPr>
          <p:nvPr/>
        </p:nvSpPr>
        <p:spPr>
          <a:xfrm xmlns:a="http://schemas.openxmlformats.org/drawingml/2006/main">
            <a:off x="628650" y="57054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1867A"/>
                </a:solidFill>
                <a:latin typeface="DejaVu Sans"/>
                <a:ea typeface="DejaVu Sans"/>
                <a:cs typeface="DejaVu Sans"/>
              </a:defRPr>
            </a:defPPr>
          </a:lstStyle>
          <a:p xmlns:a="http://schemas.openxmlformats.org/drawingml/2006/main">
            <a:pPr>
              <a:defRPr sz="2025" b="1">
                <a:solidFill>
                  <a:srgbClr val="21867A"/>
                </a:solidFill>
                <a:latin typeface="DejaVu Sans"/>
                <a:ea typeface="DejaVu Sans"/>
                <a:cs typeface="DejaVu Sans"/>
              </a:defRPr>
            </a:pPr>
            <a:r>
              <a:rPr sz="2025" b="1">
                <a:solidFill>
                  <a:srgbClr val="21867A"/>
                </a:solidFill>
                <a:latin typeface="DejaVu Sans"/>
                <a:ea typeface="DejaVu Sans"/>
                <a:cs typeface="DejaVu Sans"/>
              </a:rPr>
              <a:t>Success requires both conditions, including each workload class.</a:t>
            </a:r>
          </a:p>
        </p:txBody>
      </p:sp>
    </p:spTree>
    <p:extLst>
      <p:ext uri="{BB962C8B-B14F-4D97-AF65-F5344CB8AC3E}">
        <p14:creationId xmlns:p14="http://schemas.microsoft.com/office/powerpoint/2010/main" val="111772047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715FBE-7C25-4117-90DF-B5F641DFF4F9}"/>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Research that shaped the design</a:t>
            </a:r>
          </a:p>
        </p:txBody>
      </p:sp>
      <p:sp>
        <p:nvSpPr>
          <p:cNvPr id="2" name="">
            <a:extLst xmlns:a="http://schemas.openxmlformats.org/drawingml/2006/main">
              <a:ext uri="{FF2B5EF4-FFF2-40B4-BE49-F238E27FC236}">
                <a16:creationId xmlns:a16="http://schemas.microsoft.com/office/drawing/2014/main" id="{B7A7A698-6EE0-45B9-B63E-F770391E5DC4}"/>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A local prototype informed by autoscaling and RL research</a:t>
            </a:r>
          </a:p>
        </p:txBody>
      </p:sp>
      <p:sp>
        <p:nvSpPr>
          <p:cNvPr id="3" name="">
            <a:extLst xmlns:a="http://schemas.openxmlformats.org/drawingml/2006/main">
              <a:ext uri="{FF2B5EF4-FFF2-40B4-BE49-F238E27FC236}">
                <a16:creationId xmlns:a16="http://schemas.microsoft.com/office/drawing/2014/main" id="{9BC509D1-8F53-494A-A4F7-E300D4022913}"/>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C23D5D4E-7F50-4035-920B-974A92AA65CE}"/>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3</a:t>
            </a:r>
          </a:p>
        </p:txBody>
      </p:sp>
      <p:sp>
        <p:nvSpPr>
          <p:cNvPr id="5" name="">
            <a:extLst xmlns:a="http://schemas.openxmlformats.org/drawingml/2006/main">
              <a:ext uri="{FF2B5EF4-FFF2-40B4-BE49-F238E27FC236}">
                <a16:creationId xmlns:a16="http://schemas.microsoft.com/office/drawing/2014/main" id="{F0038FC2-BD89-45C9-AFBC-40F7257DCF42}"/>
              </a:ext>
            </a:extLst>
          </p:cNvPr>
          <p:cNvSpPr>
            <a:spLocks xmlns:a="http://schemas.openxmlformats.org/drawingml/2006/main" noGrp="1"/>
          </p:cNvSpPr>
          <p:nvPr/>
        </p:nvSpPr>
        <p:spPr>
          <a:xfrm xmlns:a="http://schemas.openxmlformats.org/drawingml/2006/main">
            <a:off x="628650" y="20288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Autoscaling and provisioning</a:t>
            </a:r>
          </a:p>
        </p:txBody>
      </p:sp>
      <p:sp>
        <p:nvSpPr>
          <p:cNvPr id="6" name="">
            <a:extLst xmlns:a="http://schemas.openxmlformats.org/drawingml/2006/main">
              <a:ext uri="{FF2B5EF4-FFF2-40B4-BE49-F238E27FC236}">
                <a16:creationId xmlns:a16="http://schemas.microsoft.com/office/drawing/2014/main" id="{B41FA4E4-113F-4149-ADBD-B7FA271B55BD}"/>
              </a:ext>
            </a:extLst>
          </p:cNvPr>
          <p:cNvSpPr>
            <a:spLocks xmlns:a="http://schemas.openxmlformats.org/drawingml/2006/main" noGrp="1"/>
          </p:cNvSpPr>
          <p:nvPr/>
        </p:nvSpPr>
        <p:spPr>
          <a:xfrm xmlns:a="http://schemas.openxmlformats.org/drawingml/2006/main">
            <a:off x="628650" y="24288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Barrett et al. (2013); Garí et al. (2020); Wang et al. (2017).</a:t>
            </a:r>
          </a:p>
        </p:txBody>
      </p:sp>
      <p:sp>
        <p:nvSpPr>
          <p:cNvPr id="7" name="">
            <a:extLst xmlns:a="http://schemas.openxmlformats.org/drawingml/2006/main">
              <a:ext uri="{FF2B5EF4-FFF2-40B4-BE49-F238E27FC236}">
                <a16:creationId xmlns:a16="http://schemas.microsoft.com/office/drawing/2014/main" id="{2690A551-F35D-4C88-931C-839389F038ED}"/>
              </a:ext>
            </a:extLst>
          </p:cNvPr>
          <p:cNvSpPr>
            <a:spLocks xmlns:a="http://schemas.openxmlformats.org/drawingml/2006/main" noGrp="1"/>
          </p:cNvSpPr>
          <p:nvPr/>
        </p:nvSpPr>
        <p:spPr>
          <a:xfrm xmlns:a="http://schemas.openxmlformats.org/drawingml/2006/main">
            <a:off x="628650" y="331470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Algorithm and evaluation</a:t>
            </a:r>
          </a:p>
        </p:txBody>
      </p:sp>
      <p:sp>
        <p:nvSpPr>
          <p:cNvPr id="8" name="">
            <a:extLst xmlns:a="http://schemas.openxmlformats.org/drawingml/2006/main">
              <a:ext uri="{FF2B5EF4-FFF2-40B4-BE49-F238E27FC236}">
                <a16:creationId xmlns:a16="http://schemas.microsoft.com/office/drawing/2014/main" id="{F4083FE4-C8C2-4B54-B5F4-8A600DD25EF9}"/>
              </a:ext>
            </a:extLst>
          </p:cNvPr>
          <p:cNvSpPr>
            <a:spLocks xmlns:a="http://schemas.openxmlformats.org/drawingml/2006/main" noGrp="1"/>
          </p:cNvSpPr>
          <p:nvPr/>
        </p:nvSpPr>
        <p:spPr>
          <a:xfrm xmlns:a="http://schemas.openxmlformats.org/drawingml/2006/main">
            <a:off x="628650" y="3714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PPO and GAE: Schulman et al. (2017, 2015).</a:t>
            </a:r>
          </a:p>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Seed variability: Henderson et al. (2017).</a:t>
            </a:r>
          </a:p>
        </p:txBody>
      </p:sp>
      <p:sp>
        <p:nvSpPr>
          <p:cNvPr id="9" name="">
            <a:extLst xmlns:a="http://schemas.openxmlformats.org/drawingml/2006/main">
              <a:ext uri="{FF2B5EF4-FFF2-40B4-BE49-F238E27FC236}">
                <a16:creationId xmlns:a16="http://schemas.microsoft.com/office/drawing/2014/main" id="{E1024FF1-A1B6-4502-8A08-BB352AC5F1DB}"/>
              </a:ext>
            </a:extLst>
          </p:cNvPr>
          <p:cNvSpPr>
            <a:spLocks xmlns:a="http://schemas.openxmlformats.org/drawingml/2006/main" noGrp="1"/>
          </p:cNvSpPr>
          <p:nvPr/>
        </p:nvSpPr>
        <p:spPr>
          <a:xfrm xmlns:a="http://schemas.openxmlformats.org/drawingml/2006/main">
            <a:off x="628650" y="460057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Production context</a:t>
            </a:r>
          </a:p>
        </p:txBody>
      </p:sp>
      <p:sp>
        <p:nvSpPr>
          <p:cNvPr id="10" name="">
            <a:extLst xmlns:a="http://schemas.openxmlformats.org/drawingml/2006/main">
              <a:ext uri="{FF2B5EF4-FFF2-40B4-BE49-F238E27FC236}">
                <a16:creationId xmlns:a16="http://schemas.microsoft.com/office/drawing/2014/main" id="{04C62792-7672-423E-9E2F-58894EFF040A}"/>
              </a:ext>
            </a:extLst>
          </p:cNvPr>
          <p:cNvSpPr>
            <a:spLocks xmlns:a="http://schemas.openxmlformats.org/drawingml/2006/main" noGrp="1"/>
          </p:cNvSpPr>
          <p:nvPr/>
        </p:nvSpPr>
        <p:spPr>
          <a:xfrm xmlns:a="http://schemas.openxmlformats.org/drawingml/2006/main">
            <a:off x="628650" y="5000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AWARE: Qiu et al. (2023) motivates caution about deployment.</a:t>
            </a:r>
          </a:p>
        </p:txBody>
      </p:sp>
    </p:spTree>
    <p:extLst>
      <p:ext uri="{BB962C8B-B14F-4D97-AF65-F5344CB8AC3E}">
        <p14:creationId xmlns:p14="http://schemas.microsoft.com/office/powerpoint/2010/main" val="171210507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B670E8-E23E-4E7E-A308-E5B4EAF5CEB3}"/>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A small, explicit simulator</a:t>
            </a:r>
          </a:p>
        </p:txBody>
      </p:sp>
      <p:sp>
        <p:nvSpPr>
          <p:cNvPr id="2" name="">
            <a:extLst xmlns:a="http://schemas.openxmlformats.org/drawingml/2006/main">
              <a:ext uri="{FF2B5EF4-FFF2-40B4-BE49-F238E27FC236}">
                <a16:creationId xmlns:a16="http://schemas.microsoft.com/office/drawing/2014/main" id="{B06AF7CA-0DB5-4E24-B463-B182757671E1}"/>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All values below are modeling assumptions</a:t>
            </a:r>
          </a:p>
        </p:txBody>
      </p:sp>
      <p:sp>
        <p:nvSpPr>
          <p:cNvPr id="3" name="">
            <a:extLst xmlns:a="http://schemas.openxmlformats.org/drawingml/2006/main">
              <a:ext uri="{FF2B5EF4-FFF2-40B4-BE49-F238E27FC236}">
                <a16:creationId xmlns:a16="http://schemas.microsoft.com/office/drawing/2014/main" id="{D06CBF71-897C-4B40-8F72-113E8D15A993}"/>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B9EE2704-AD87-40D3-8C10-B8D6FB5718A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4</a:t>
            </a:r>
          </a:p>
        </p:txBody>
      </p:sp>
      <p:graphicFrame>
        <p:nvGraphicFramePr>
          <p:cNvPr id="5" name="">
            <a:extLst xmlns:a="http://schemas.openxmlformats.org/drawingml/2006/main">
              <a:ext uri="{FF2B5EF4-FFF2-40B4-BE49-F238E27FC236}">
                <a16:creationId xmlns:a16="http://schemas.microsoft.com/office/drawing/2014/main" id="{44B27B23-F555-449F-94B9-D81B55615A28}"/>
              </a:ext>
            </a:extLst>
          </p:cNvPr>
          <p:cNvGraphicFramePr/>
          <p:nvPr/>
        </p:nvGraphicFramePr>
        <p:xfrm>
          <a:off xmlns:a="http://schemas.openxmlformats.org/drawingml/2006/main" x="628650" y="1914525"/>
          <a:ext xmlns:a="http://schemas.openxmlformats.org/drawingml/2006/main" cx="10896600" cy="3714750"/>
        </p:xfrm>
        <a:graphic xmlns:a="http://schemas.openxmlformats.org/drawingml/2006/main">
          <a:graphicData uri="http://schemas.openxmlformats.org/drawingml/2006/table">
            <a:tbl>
              <a:tblPr/>
              <a:tblGrid>
                <a:gridCol w="3333750"/>
                <a:gridCol w="7562850"/>
              </a:tblGrid>
              <a:tr h="619125">
                <a:tc>
                  <a:txBody>
                    <a:bodyPr/>
                    <a:lstStyle/>
                    <a:p>
                      <a:r>
                        <a:rPr sz="1875" b="1">
                          <a:solidFill>
                            <a:srgbClr val="FFFFFF"/>
                          </a:solidFill>
                          <a:latin typeface="DejaVu Sans"/>
                          <a:ea typeface="DejaVu Sans"/>
                          <a:cs typeface="DejaVu Sans"/>
                        </a:rPr>
                        <a:t>Component</a:t>
                      </a:r>
                    </a:p>
                  </a:txBody>
                  <a:tcPr marL="133350" marR="133350" marT="95250" marB="95250">
                    <a:solidFill>
                      <a:srgbClr val="172D44"/>
                    </a:solidFill>
                  </a:tcPr>
                </a:tc>
                <a:tc>
                  <a:txBody>
                    <a:bodyPr/>
                    <a:lstStyle/>
                    <a:p>
                      <a:r>
                        <a:rPr sz="1875" b="1">
                          <a:solidFill>
                            <a:srgbClr val="FFFFFF"/>
                          </a:solidFill>
                          <a:latin typeface="DejaVu Sans"/>
                          <a:ea typeface="DejaVu Sans"/>
                          <a:cs typeface="DejaVu Sans"/>
                        </a:rPr>
                        <a:t>Design</a:t>
                      </a:r>
                    </a:p>
                  </a:txBody>
                  <a:tcPr marL="133350" marR="133350" marT="95250" marB="95250">
                    <a:solidFill>
                      <a:srgbClr val="172D44"/>
                    </a:solidFill>
                  </a:tcPr>
                </a:tc>
              </a:tr>
              <a:tr h="619125">
                <a:tc>
                  <a:txBody>
                    <a:bodyPr/>
                    <a:lstStyle/>
                    <a:p>
                      <a:r>
                        <a:rPr sz="1875">
                          <a:solidFill>
                            <a:srgbClr val="263A4E"/>
                          </a:solidFill>
                          <a:latin typeface="DejaVu Sans"/>
                          <a:ea typeface="DejaVu Sans"/>
                          <a:cs typeface="DejaVu Sans"/>
                        </a:rPr>
                        <a:t>Episode / decisions</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30 minutes / every 10 seconds</a:t>
                      </a:r>
                    </a:p>
                  </a:txBody>
                  <a:tcPr marL="133350" marR="133350" marT="95250" marB="95250">
                    <a:solidFill>
                      <a:srgbClr val="FFFFFF"/>
                    </a:solidFill>
                  </a:tcPr>
                </a:tc>
              </a:tr>
              <a:tr h="619125">
                <a:tc>
                  <a:txBody>
                    <a:bodyPr/>
                    <a:lstStyle/>
                    <a:p>
                      <a:r>
                        <a:rPr sz="1875">
                          <a:solidFill>
                            <a:srgbClr val="263A4E"/>
                          </a:solidFill>
                          <a:latin typeface="DejaVu Sans"/>
                          <a:ea typeface="DejaVu Sans"/>
                          <a:cs typeface="DejaVu Sans"/>
                        </a:rPr>
                        <a:t>Replicas</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2 initially; 1–10 allowed; 20 requests/s each</a:t>
                      </a:r>
                    </a:p>
                  </a:txBody>
                  <a:tcPr marL="133350" marR="133350" marT="95250" marB="95250">
                    <a:solidFill>
                      <a:srgbClr val="FFFFFF"/>
                    </a:solidFill>
                  </a:tcPr>
                </a:tc>
              </a:tr>
              <a:tr h="619125">
                <a:tc>
                  <a:txBody>
                    <a:bodyPr/>
                    <a:lstStyle/>
                    <a:p>
                      <a:r>
                        <a:rPr sz="1875">
                          <a:solidFill>
                            <a:srgbClr val="263A4E"/>
                          </a:solidFill>
                          <a:latin typeface="DejaVu Sans"/>
                          <a:ea typeface="DejaVu Sans"/>
                          <a:cs typeface="DejaVu Sans"/>
                        </a:rPr>
                        <a:t>Startup / queue</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20-second startup; FIFO queue limit 1,000</a:t>
                      </a:r>
                    </a:p>
                  </a:txBody>
                  <a:tcPr marL="133350" marR="133350" marT="95250" marB="95250">
                    <a:solidFill>
                      <a:srgbClr val="FFFFFF"/>
                    </a:solidFill>
                  </a:tcPr>
                </a:tc>
              </a:tr>
              <a:tr h="619125">
                <a:tc>
                  <a:txBody>
                    <a:bodyPr/>
                    <a:lstStyle/>
                    <a:p>
                      <a:r>
                        <a:rPr sz="1875">
                          <a:solidFill>
                            <a:srgbClr val="263A4E"/>
                          </a:solidFill>
                          <a:latin typeface="DejaVu Sans"/>
                          <a:ea typeface="DejaVu Sans"/>
                          <a:cs typeface="DejaVu Sans"/>
                        </a:rPr>
                        <a:t>Failure accounting</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Wait &gt;2 s, expiration &gt;10 s, or overflow</a:t>
                      </a:r>
                    </a:p>
                  </a:txBody>
                  <a:tcPr marL="133350" marR="133350" marT="95250" marB="95250">
                    <a:solidFill>
                      <a:srgbClr val="FFFFFF"/>
                    </a:solidFill>
                  </a:tcPr>
                </a:tc>
              </a:tr>
              <a:tr h="619125">
                <a:tc>
                  <a:txBody>
                    <a:bodyPr/>
                    <a:lstStyle/>
                    <a:p>
                      <a:r>
                        <a:rPr sz="1875">
                          <a:solidFill>
                            <a:srgbClr val="263A4E"/>
                          </a:solidFill>
                          <a:latin typeface="DejaVu Sans"/>
                          <a:ea typeface="DejaVu Sans"/>
                          <a:cs typeface="DejaVu Sans"/>
                        </a:rPr>
                        <a:t>Traffic / episode end</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Steady, periodic, bursty; drain after arrivals</a:t>
                      </a:r>
                    </a:p>
                  </a:txBody>
                  <a:tcPr marL="133350" marR="133350" marT="95250" marB="9525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EB064F13-88BC-4444-858B-6985B31832F1}"/>
              </a:ext>
            </a:extLst>
          </p:cNvPr>
          <p:cNvSpPr>
            <a:spLocks xmlns:a="http://schemas.openxmlformats.org/drawingml/2006/main" noGrp="1"/>
          </p:cNvSpPr>
          <p:nvPr/>
        </p:nvSpPr>
        <p:spPr>
          <a:xfrm xmlns:a="http://schemas.openxmlformats.org/drawingml/2006/main">
            <a:off x="628650" y="5772150"/>
            <a:ext cx="10620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B6B7C"/>
                </a:solidFill>
                <a:latin typeface="DejaVu Sans"/>
                <a:ea typeface="DejaVu Sans"/>
                <a:cs typeface="DejaVu Sans"/>
              </a:defRPr>
            </a:defPPr>
          </a:lstStyle>
          <a:p xmlns:a="http://schemas.openxmlformats.org/drawingml/2006/main">
            <a:pPr>
              <a:defRPr sz="1800" b="0">
                <a:solidFill>
                  <a:srgbClr val="5B6B7C"/>
                </a:solidFill>
                <a:latin typeface="DejaVu Sans"/>
                <a:ea typeface="DejaVu Sans"/>
                <a:cs typeface="DejaVu Sans"/>
              </a:defRPr>
            </a:pPr>
            <a:r>
              <a:rPr sz="1800" b="0">
                <a:solidFill>
                  <a:srgbClr val="5B6B7C"/>
                </a:solidFill>
                <a:latin typeface="DejaVu Sans"/>
                <a:ea typeface="DejaVu Sans"/>
                <a:cs typeface="DejaVu Sans"/>
              </a:rPr>
              <a:t>Synthetic arrivals; waiting excludes network and processing time.</a:t>
            </a:r>
          </a:p>
        </p:txBody>
      </p:sp>
    </p:spTree>
    <p:extLst>
      <p:ext uri="{BB962C8B-B14F-4D97-AF65-F5344CB8AC3E}">
        <p14:creationId xmlns:p14="http://schemas.microsoft.com/office/powerpoint/2010/main" val="7982866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A72884A-861B-42A6-92AF-1A90A4803F61}"/>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What the agent sees and controls</a:t>
            </a:r>
          </a:p>
        </p:txBody>
      </p:sp>
      <p:sp>
        <p:nvSpPr>
          <p:cNvPr id="2" name="">
            <a:extLst xmlns:a="http://schemas.openxmlformats.org/drawingml/2006/main">
              <a:ext uri="{FF2B5EF4-FFF2-40B4-BE49-F238E27FC236}">
                <a16:creationId xmlns:a16="http://schemas.microsoft.com/office/drawing/2014/main" id="{101192A9-34D7-4C5A-84F8-89746D41D27C}"/>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Nine normalized observations; three discrete actions</a:t>
            </a:r>
          </a:p>
        </p:txBody>
      </p:sp>
      <p:sp>
        <p:nvSpPr>
          <p:cNvPr id="3" name="">
            <a:extLst xmlns:a="http://schemas.openxmlformats.org/drawingml/2006/main">
              <a:ext uri="{FF2B5EF4-FFF2-40B4-BE49-F238E27FC236}">
                <a16:creationId xmlns:a16="http://schemas.microsoft.com/office/drawing/2014/main" id="{FBC4FE8A-3291-4468-9BF8-50A145E7D746}"/>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658A9F6C-4DC3-42D8-9E6B-30CF92DF14C5}"/>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5</a:t>
            </a:r>
          </a:p>
        </p:txBody>
      </p:sp>
      <p:sp>
        <p:nvSpPr>
          <p:cNvPr id="5" name="">
            <a:extLst xmlns:a="http://schemas.openxmlformats.org/drawingml/2006/main">
              <a:ext uri="{FF2B5EF4-FFF2-40B4-BE49-F238E27FC236}">
                <a16:creationId xmlns:a16="http://schemas.microsoft.com/office/drawing/2014/main" id="{4328D696-B8B8-4043-B029-FAA6F850EF1A}"/>
              </a:ext>
            </a:extLst>
          </p:cNvPr>
          <p:cNvSpPr>
            <a:spLocks xmlns:a="http://schemas.openxmlformats.org/drawingml/2006/main" noGrp="1"/>
          </p:cNvSpPr>
          <p:nvPr/>
        </p:nvSpPr>
        <p:spPr>
          <a:xfrm xmlns:a="http://schemas.openxmlformats.org/drawingml/2006/main">
            <a:off x="628650" y="2047875"/>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2D44"/>
                </a:solidFill>
                <a:latin typeface="DejaVu Sans"/>
                <a:ea typeface="DejaVu Sans"/>
                <a:cs typeface="DejaVu Sans"/>
              </a:defRPr>
            </a:defPPr>
          </a:lstStyle>
          <a:p xmlns:a="http://schemas.openxmlformats.org/drawingml/2006/main">
            <a:pPr>
              <a:defRPr sz="2400" b="1">
                <a:solidFill>
                  <a:srgbClr val="172D44"/>
                </a:solidFill>
                <a:latin typeface="DejaVu Sans"/>
                <a:ea typeface="DejaVu Sans"/>
                <a:cs typeface="DejaVu Sans"/>
              </a:defRPr>
            </a:pPr>
            <a:r>
              <a:rPr sz="2400" b="1">
                <a:solidFill>
                  <a:srgbClr val="172D44"/>
                </a:solidFill>
                <a:latin typeface="DejaVu Sans"/>
                <a:ea typeface="DejaVu Sans"/>
                <a:cs typeface="DejaVu Sans"/>
              </a:rPr>
              <a:t>Observations</a:t>
            </a:r>
          </a:p>
        </p:txBody>
      </p:sp>
      <p:sp>
        <p:nvSpPr>
          <p:cNvPr id="6" name="">
            <a:extLst xmlns:a="http://schemas.openxmlformats.org/drawingml/2006/main">
              <a:ext uri="{FF2B5EF4-FFF2-40B4-BE49-F238E27FC236}">
                <a16:creationId xmlns:a16="http://schemas.microsoft.com/office/drawing/2014/main" id="{0F8A08A4-3CCB-492C-86E9-D9E4022F06B9}"/>
              </a:ext>
            </a:extLst>
          </p:cNvPr>
          <p:cNvSpPr>
            <a:spLocks xmlns:a="http://schemas.openxmlformats.org/drawingml/2006/main" noGrp="1"/>
          </p:cNvSpPr>
          <p:nvPr/>
        </p:nvSpPr>
        <p:spPr>
          <a:xfrm xmlns:a="http://schemas.openxmlformats.org/drawingml/2006/main">
            <a:off x="628650" y="2686050"/>
            <a:ext cx="6810375" cy="2771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63A4E"/>
                </a:solidFill>
                <a:latin typeface="DejaVu Sans"/>
                <a:ea typeface="DejaVu Sans"/>
                <a:cs typeface="DejaVu Sans"/>
              </a:defRPr>
            </a:defPPr>
          </a:lstStyle>
          <a:p xmlns:a="http://schemas.openxmlformats.org/drawingml/2006/main">
            <a:pPr>
              <a:defRPr sz="2025" b="0">
                <a:solidFill>
                  <a:srgbClr val="263A4E"/>
                </a:solidFill>
                <a:latin typeface="DejaVu Sans"/>
                <a:ea typeface="DejaVu Sans"/>
                <a:cs typeface="DejaVu Sans"/>
              </a:defRPr>
            </a:pPr>
            <a:r>
              <a:rPr sz="2025" b="0">
                <a:solidFill>
                  <a:srgbClr val="263A4E"/>
                </a:solidFill>
                <a:latin typeface="DejaVu Sans"/>
                <a:ea typeface="DejaVu Sans"/>
                <a:cs typeface="DejaVu Sans"/>
              </a:rPr>
              <a:t>Recent rate • short average • rate change</a:t>
            </a:r>
          </a:p>
          <a:p xmlns:a="http://schemas.openxmlformats.org/drawingml/2006/main">
            <a:r>
              <a:t/>
            </a:r>
          </a:p>
          <a:p xmlns:a="http://schemas.openxmlformats.org/drawingml/2006/main">
            <a:pPr>
              <a:defRPr sz="2025" b="0">
                <a:solidFill>
                  <a:srgbClr val="263A4E"/>
                </a:solidFill>
                <a:latin typeface="DejaVu Sans"/>
                <a:ea typeface="DejaVu Sans"/>
                <a:cs typeface="DejaVu Sans"/>
              </a:defRPr>
            </a:pPr>
            <a:r>
              <a:rPr sz="2025" b="0">
                <a:solidFill>
                  <a:srgbClr val="263A4E"/>
                </a:solidFill>
                <a:latin typeface="DejaVu Sans"/>
                <a:ea typeface="DejaVu Sans"/>
                <a:cs typeface="DejaVu Sans"/>
              </a:rPr>
              <a:t>Queue size • oldest waiting age</a:t>
            </a:r>
          </a:p>
          <a:p xmlns:a="http://schemas.openxmlformats.org/drawingml/2006/main">
            <a:r>
              <a:t/>
            </a:r>
          </a:p>
          <a:p xmlns:a="http://schemas.openxmlformats.org/drawingml/2006/main">
            <a:pPr>
              <a:defRPr sz="2025" b="0">
                <a:solidFill>
                  <a:srgbClr val="263A4E"/>
                </a:solidFill>
                <a:latin typeface="DejaVu Sans"/>
                <a:ea typeface="DejaVu Sans"/>
                <a:cs typeface="DejaVu Sans"/>
              </a:defRPr>
            </a:pPr>
            <a:r>
              <a:rPr sz="2025" b="0">
                <a:solidFill>
                  <a:srgbClr val="263A4E"/>
                </a:solidFill>
                <a:latin typeface="DejaVu Sans"/>
                <a:ea typeface="DejaVu Sans"/>
                <a:cs typeface="DejaVu Sans"/>
              </a:rPr>
              <a:t>Active replicas • 2 startup stages</a:t>
            </a:r>
          </a:p>
          <a:p xmlns:a="http://schemas.openxmlformats.org/drawingml/2006/main">
            <a:r>
              <a:t/>
            </a:r>
          </a:p>
          <a:p xmlns:a="http://schemas.openxmlformats.org/drawingml/2006/main">
            <a:pPr>
              <a:defRPr sz="2025" b="0">
                <a:solidFill>
                  <a:srgbClr val="263A4E"/>
                </a:solidFill>
                <a:latin typeface="DejaVu Sans"/>
                <a:ea typeface="DejaVu Sans"/>
                <a:cs typeface="DejaVu Sans"/>
              </a:defRPr>
            </a:pPr>
            <a:r>
              <a:rPr sz="2025" b="0">
                <a:solidFill>
                  <a:srgbClr val="263A4E"/>
                </a:solidFill>
                <a:latin typeface="DejaVu Sans"/>
                <a:ea typeface="DejaVu Sans"/>
                <a:cs typeface="DejaVu Sans"/>
              </a:rPr>
              <a:t>Utilization</a:t>
            </a:r>
          </a:p>
        </p:txBody>
      </p:sp>
      <p:sp>
        <p:nvSpPr>
          <p:cNvPr id="7" name="">
            <a:extLst xmlns:a="http://schemas.openxmlformats.org/drawingml/2006/main">
              <a:ext uri="{FF2B5EF4-FFF2-40B4-BE49-F238E27FC236}">
                <a16:creationId xmlns:a16="http://schemas.microsoft.com/office/drawing/2014/main" id="{718DE9BD-4BCE-44AD-80B7-1E8D1461CA33}"/>
              </a:ext>
            </a:extLst>
          </p:cNvPr>
          <p:cNvSpPr>
            <a:spLocks xmlns:a="http://schemas.openxmlformats.org/drawingml/2006/main" noGrp="1"/>
          </p:cNvSpPr>
          <p:nvPr/>
        </p:nvSpPr>
        <p:spPr>
          <a:xfrm xmlns:a="http://schemas.openxmlformats.org/drawingml/2006/main">
            <a:off x="8096250" y="2047875"/>
            <a:ext cx="338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2D44"/>
                </a:solidFill>
                <a:latin typeface="DejaVu Sans"/>
                <a:ea typeface="DejaVu Sans"/>
                <a:cs typeface="DejaVu Sans"/>
              </a:defRPr>
            </a:defPPr>
          </a:lstStyle>
          <a:p xmlns:a="http://schemas.openxmlformats.org/drawingml/2006/main">
            <a:pPr>
              <a:defRPr sz="2400" b="1">
                <a:solidFill>
                  <a:srgbClr val="172D44"/>
                </a:solidFill>
                <a:latin typeface="DejaVu Sans"/>
                <a:ea typeface="DejaVu Sans"/>
                <a:cs typeface="DejaVu Sans"/>
              </a:defRPr>
            </a:pPr>
            <a:r>
              <a:rPr sz="2400" b="1">
                <a:solidFill>
                  <a:srgbClr val="172D44"/>
                </a:solidFill>
                <a:latin typeface="DejaVu Sans"/>
                <a:ea typeface="DejaVu Sans"/>
                <a:cs typeface="DejaVu Sans"/>
              </a:rPr>
              <a:t>Actions</a:t>
            </a:r>
          </a:p>
        </p:txBody>
      </p:sp>
      <p:sp>
        <p:nvSpPr>
          <p:cNvPr id="8" name="">
            <a:extLst xmlns:a="http://schemas.openxmlformats.org/drawingml/2006/main">
              <a:ext uri="{FF2B5EF4-FFF2-40B4-BE49-F238E27FC236}">
                <a16:creationId xmlns:a16="http://schemas.microsoft.com/office/drawing/2014/main" id="{B883C941-DFE2-4180-9007-F2B7FA6AFE03}"/>
              </a:ext>
            </a:extLst>
          </p:cNvPr>
          <p:cNvSpPr>
            <a:spLocks xmlns:a="http://schemas.openxmlformats.org/drawingml/2006/main" noGrp="1"/>
          </p:cNvSpPr>
          <p:nvPr/>
        </p:nvSpPr>
        <p:spPr>
          <a:xfrm xmlns:a="http://schemas.openxmlformats.org/drawingml/2006/main">
            <a:off x="8096250" y="2686050"/>
            <a:ext cx="3381375"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63A4E"/>
                </a:solidFill>
                <a:latin typeface="DejaVu Sans"/>
                <a:ea typeface="DejaVu Sans"/>
                <a:cs typeface="DejaVu Sans"/>
              </a:defRPr>
            </a:defPPr>
          </a:lstStyle>
          <a:p xmlns:a="http://schemas.openxmlformats.org/drawingml/2006/main">
            <a:pPr>
              <a:defRPr sz="2250" b="0">
                <a:solidFill>
                  <a:srgbClr val="263A4E"/>
                </a:solidFill>
                <a:latin typeface="DejaVu Sans"/>
                <a:ea typeface="DejaVu Sans"/>
                <a:cs typeface="DejaVu Sans"/>
              </a:defRPr>
            </a:pPr>
            <a:r>
              <a:rPr sz="2250" b="0">
                <a:solidFill>
                  <a:srgbClr val="263A4E"/>
                </a:solidFill>
                <a:latin typeface="DejaVu Sans"/>
                <a:ea typeface="DejaVu Sans"/>
                <a:cs typeface="DejaVu Sans"/>
              </a:rPr>
              <a:t>Remove one</a:t>
            </a:r>
          </a:p>
          <a:p xmlns:a="http://schemas.openxmlformats.org/drawingml/2006/main">
            <a:r>
              <a:t/>
            </a:r>
          </a:p>
          <a:p xmlns:a="http://schemas.openxmlformats.org/drawingml/2006/main">
            <a:pPr>
              <a:defRPr sz="2250" b="0">
                <a:solidFill>
                  <a:srgbClr val="263A4E"/>
                </a:solidFill>
                <a:latin typeface="DejaVu Sans"/>
                <a:ea typeface="DejaVu Sans"/>
                <a:cs typeface="DejaVu Sans"/>
              </a:defRPr>
            </a:pPr>
            <a:r>
              <a:rPr sz="2250" b="0">
                <a:solidFill>
                  <a:srgbClr val="263A4E"/>
                </a:solidFill>
                <a:latin typeface="DejaVu Sans"/>
                <a:ea typeface="DejaVu Sans"/>
                <a:cs typeface="DejaVu Sans"/>
              </a:rPr>
              <a:t>Hold</a:t>
            </a:r>
          </a:p>
          <a:p xmlns:a="http://schemas.openxmlformats.org/drawingml/2006/main">
            <a:r>
              <a:t/>
            </a:r>
          </a:p>
          <a:p xmlns:a="http://schemas.openxmlformats.org/drawingml/2006/main">
            <a:pPr>
              <a:defRPr sz="2250" b="0">
                <a:solidFill>
                  <a:srgbClr val="263A4E"/>
                </a:solidFill>
                <a:latin typeface="DejaVu Sans"/>
                <a:ea typeface="DejaVu Sans"/>
                <a:cs typeface="DejaVu Sans"/>
              </a:defRPr>
            </a:pPr>
            <a:r>
              <a:rPr sz="2250" b="0">
                <a:solidFill>
                  <a:srgbClr val="263A4E"/>
                </a:solidFill>
                <a:latin typeface="DejaVu Sans"/>
                <a:ea typeface="DejaVu Sans"/>
                <a:cs typeface="DejaVu Sans"/>
              </a:rPr>
              <a:t>Add one</a:t>
            </a:r>
          </a:p>
        </p:txBody>
      </p:sp>
      <p:sp>
        <p:nvSpPr>
          <p:cNvPr id="9" name="">
            <a:extLst xmlns:a="http://schemas.openxmlformats.org/drawingml/2006/main">
              <a:ext uri="{FF2B5EF4-FFF2-40B4-BE49-F238E27FC236}">
                <a16:creationId xmlns:a16="http://schemas.microsoft.com/office/drawing/2014/main" id="{F61325E5-366B-4C0D-93E0-E9073310CF19}"/>
              </a:ext>
            </a:extLst>
          </p:cNvPr>
          <p:cNvSpPr>
            <a:spLocks xmlns:a="http://schemas.openxmlformats.org/drawingml/2006/main" noGrp="1"/>
          </p:cNvSpPr>
          <p:nvPr/>
        </p:nvSpPr>
        <p:spPr>
          <a:xfrm xmlns:a="http://schemas.openxmlformats.org/drawingml/2006/main">
            <a:off x="628650" y="579120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21867A"/>
                </a:solidFill>
                <a:latin typeface="DejaVu Sans"/>
                <a:ea typeface="DejaVu Sans"/>
                <a:cs typeface="DejaVu Sans"/>
              </a:defRPr>
            </a:defPPr>
          </a:lstStyle>
          <a:p xmlns:a="http://schemas.openxmlformats.org/drawingml/2006/main">
            <a:pPr>
              <a:defRPr sz="1875" b="1">
                <a:solidFill>
                  <a:srgbClr val="21867A"/>
                </a:solidFill>
                <a:latin typeface="DejaVu Sans"/>
                <a:ea typeface="DejaVu Sans"/>
                <a:cs typeface="DejaVu Sans"/>
              </a:defRPr>
            </a:pPr>
            <a:r>
              <a:rPr sz="1875" b="1">
                <a:solidFill>
                  <a:srgbClr val="21867A"/>
                </a:solidFill>
                <a:latin typeface="DejaVu Sans"/>
                <a:ea typeface="DejaVu Sans"/>
                <a:cs typeface="DejaVu Sans"/>
              </a:rPr>
              <a:t>No future demand; invalid actions are logged no-ops.</a:t>
            </a:r>
          </a:p>
        </p:txBody>
      </p:sp>
    </p:spTree>
    <p:extLst>
      <p:ext uri="{BB962C8B-B14F-4D97-AF65-F5344CB8AC3E}">
        <p14:creationId xmlns:p14="http://schemas.microsoft.com/office/powerpoint/2010/main" val="4599023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ACCFB1C-77F4-486E-8EFB-AF594390B0EE}"/>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Reward expresses the tradeoff</a:t>
            </a:r>
          </a:p>
        </p:txBody>
      </p:sp>
      <p:sp>
        <p:nvSpPr>
          <p:cNvPr id="2" name="">
            <a:extLst xmlns:a="http://schemas.openxmlformats.org/drawingml/2006/main">
              <a:ext uri="{FF2B5EF4-FFF2-40B4-BE49-F238E27FC236}">
                <a16:creationId xmlns:a16="http://schemas.microsoft.com/office/drawing/2014/main" id="{A3C28255-1BDC-43C9-80CA-5B2C418FE147}"/>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Reward = negative weighted penalties</a:t>
            </a:r>
          </a:p>
        </p:txBody>
      </p:sp>
      <p:sp>
        <p:nvSpPr>
          <p:cNvPr id="3" name="">
            <a:extLst xmlns:a="http://schemas.openxmlformats.org/drawingml/2006/main">
              <a:ext uri="{FF2B5EF4-FFF2-40B4-BE49-F238E27FC236}">
                <a16:creationId xmlns:a16="http://schemas.microsoft.com/office/drawing/2014/main" id="{1D74EE2F-6EC5-4B54-B579-5C49C9E966C9}"/>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F9F83404-604B-431D-8212-BEF689314F0F}"/>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6</a:t>
            </a:r>
          </a:p>
        </p:txBody>
      </p:sp>
      <p:graphicFrame>
        <p:nvGraphicFramePr>
          <p:cNvPr id="5" name="">
            <a:extLst xmlns:a="http://schemas.openxmlformats.org/drawingml/2006/main">
              <a:ext uri="{FF2B5EF4-FFF2-40B4-BE49-F238E27FC236}">
                <a16:creationId xmlns:a16="http://schemas.microsoft.com/office/drawing/2014/main" id="{7BA31875-F8A8-4914-883E-21FF60868DF9}"/>
              </a:ext>
            </a:extLst>
          </p:cNvPr>
          <p:cNvGraphicFramePr/>
          <p:nvPr/>
        </p:nvGraphicFramePr>
        <p:xfrm>
          <a:off xmlns:a="http://schemas.openxmlformats.org/drawingml/2006/main" x="628650" y="2009775"/>
          <a:ext xmlns:a="http://schemas.openxmlformats.org/drawingml/2006/main" cx="10896600" cy="3067050"/>
        </p:xfrm>
        <a:graphic xmlns:a="http://schemas.openxmlformats.org/drawingml/2006/main">
          <a:graphicData uri="http://schemas.openxmlformats.org/drawingml/2006/table">
            <a:tbl>
              <a:tblPr/>
              <a:tblGrid>
                <a:gridCol w="3143250"/>
                <a:gridCol w="1524000"/>
                <a:gridCol w="6229350"/>
              </a:tblGrid>
              <a:tr h="613410">
                <a:tc>
                  <a:txBody>
                    <a:bodyPr/>
                    <a:lstStyle/>
                    <a:p>
                      <a:r>
                        <a:rPr sz="1875" b="1">
                          <a:solidFill>
                            <a:srgbClr val="FFFFFF"/>
                          </a:solidFill>
                          <a:latin typeface="DejaVu Sans"/>
                          <a:ea typeface="DejaVu Sans"/>
                          <a:cs typeface="DejaVu Sans"/>
                        </a:rPr>
                        <a:t>Penalty</a:t>
                      </a:r>
                    </a:p>
                  </a:txBody>
                  <a:tcPr marL="133350" marR="133350" marT="95250" marB="95250">
                    <a:solidFill>
                      <a:srgbClr val="172D44"/>
                    </a:solidFill>
                  </a:tcPr>
                </a:tc>
                <a:tc>
                  <a:txBody>
                    <a:bodyPr/>
                    <a:lstStyle/>
                    <a:p>
                      <a:r>
                        <a:rPr sz="1875" b="1">
                          <a:solidFill>
                            <a:srgbClr val="FFFFFF"/>
                          </a:solidFill>
                          <a:latin typeface="DejaVu Sans"/>
                          <a:ea typeface="DejaVu Sans"/>
                          <a:cs typeface="DejaVu Sans"/>
                        </a:rPr>
                        <a:t>Weight</a:t>
                      </a:r>
                    </a:p>
                  </a:txBody>
                  <a:tcPr marL="133350" marR="133350" marT="95250" marB="95250">
                    <a:solidFill>
                      <a:srgbClr val="172D44"/>
                    </a:solidFill>
                  </a:tcPr>
                </a:tc>
                <a:tc>
                  <a:txBody>
                    <a:bodyPr/>
                    <a:lstStyle/>
                    <a:p>
                      <a:r>
                        <a:rPr sz="1875" b="1">
                          <a:solidFill>
                            <a:srgbClr val="FFFFFF"/>
                          </a:solidFill>
                          <a:latin typeface="DejaVu Sans"/>
                          <a:ea typeface="DejaVu Sans"/>
                          <a:cs typeface="DejaVu Sans"/>
                        </a:rPr>
                        <a:t>Interval measure</a:t>
                      </a:r>
                    </a:p>
                  </a:txBody>
                  <a:tcPr marL="133350" marR="133350" marT="95250" marB="95250">
                    <a:solidFill>
                      <a:srgbClr val="172D44"/>
                    </a:solidFill>
                  </a:tcPr>
                </a:tc>
              </a:tr>
              <a:tr h="613410">
                <a:tc>
                  <a:txBody>
                    <a:bodyPr/>
                    <a:lstStyle/>
                    <a:p>
                      <a:r>
                        <a:rPr sz="1875">
                          <a:solidFill>
                            <a:srgbClr val="263A4E"/>
                          </a:solidFill>
                          <a:latin typeface="DejaVu Sans"/>
                          <a:ea typeface="DejaVu Sans"/>
                          <a:cs typeface="DejaVu Sans"/>
                        </a:rPr>
                        <a:t>Capacity</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0.1</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Mean allocated replicas / 10</a:t>
                      </a:r>
                    </a:p>
                  </a:txBody>
                  <a:tcPr marL="133350" marR="133350" marT="95250" marB="95250">
                    <a:solidFill>
                      <a:srgbClr val="FFFFFF"/>
                    </a:solidFill>
                  </a:tcPr>
                </a:tc>
              </a:tr>
              <a:tr h="613410">
                <a:tc>
                  <a:txBody>
                    <a:bodyPr/>
                    <a:lstStyle/>
                    <a:p>
                      <a:r>
                        <a:rPr sz="1875">
                          <a:solidFill>
                            <a:srgbClr val="263A4E"/>
                          </a:solidFill>
                          <a:latin typeface="DejaVu Sans"/>
                          <a:ea typeface="DejaVu Sans"/>
                          <a:cs typeface="DejaVu Sans"/>
                        </a:rPr>
                        <a:t>Target violations</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5.0</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Bad / resolved requests</a:t>
                      </a:r>
                    </a:p>
                  </a:txBody>
                  <a:tcPr marL="133350" marR="133350" marT="95250" marB="95250">
                    <a:solidFill>
                      <a:srgbClr val="FFFFFF"/>
                    </a:solidFill>
                  </a:tcPr>
                </a:tc>
              </a:tr>
              <a:tr h="613410">
                <a:tc>
                  <a:txBody>
                    <a:bodyPr/>
                    <a:lstStyle/>
                    <a:p>
                      <a:r>
                        <a:rPr sz="1875">
                          <a:solidFill>
                            <a:srgbClr val="263A4E"/>
                          </a:solidFill>
                          <a:latin typeface="DejaVu Sans"/>
                          <a:ea typeface="DejaVu Sans"/>
                          <a:cs typeface="DejaVu Sans"/>
                        </a:rPr>
                        <a:t>Queue</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0.5</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Mean queue size / 1,000</a:t>
                      </a:r>
                    </a:p>
                  </a:txBody>
                  <a:tcPr marL="133350" marR="133350" marT="95250" marB="95250">
                    <a:solidFill>
                      <a:srgbClr val="FFFFFF"/>
                    </a:solidFill>
                  </a:tcPr>
                </a:tc>
              </a:tr>
              <a:tr h="613410">
                <a:tc>
                  <a:txBody>
                    <a:bodyPr/>
                    <a:lstStyle/>
                    <a:p>
                      <a:r>
                        <a:rPr sz="1875">
                          <a:solidFill>
                            <a:srgbClr val="263A4E"/>
                          </a:solidFill>
                          <a:latin typeface="DejaVu Sans"/>
                          <a:ea typeface="DejaVu Sans"/>
                          <a:cs typeface="DejaVu Sans"/>
                        </a:rPr>
                        <a:t>Scaling</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0.02</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Each executed change</a:t>
                      </a:r>
                    </a:p>
                  </a:txBody>
                  <a:tcPr marL="133350" marR="133350" marT="95250" marB="9525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46BCE124-AE3C-4F76-B36C-3D181D1C01BF}"/>
              </a:ext>
            </a:extLst>
          </p:cNvPr>
          <p:cNvSpPr>
            <a:spLocks xmlns:a="http://schemas.openxmlformats.org/drawingml/2006/main" noGrp="1"/>
          </p:cNvSpPr>
          <p:nvPr/>
        </p:nvSpPr>
        <p:spPr>
          <a:xfrm xmlns:a="http://schemas.openxmlformats.org/drawingml/2006/main">
            <a:off x="628650" y="5314950"/>
            <a:ext cx="10858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A4E"/>
                </a:solidFill>
                <a:latin typeface="DejaVu Sans"/>
                <a:ea typeface="DejaVu Sans"/>
                <a:cs typeface="DejaVu Sans"/>
              </a:defRPr>
            </a:defPPr>
          </a:lstStyle>
          <a:p xmlns:a="http://schemas.openxmlformats.org/drawingml/2006/main">
            <a:pPr>
              <a:defRPr sz="1875" b="0">
                <a:solidFill>
                  <a:srgbClr val="263A4E"/>
                </a:solidFill>
                <a:latin typeface="DejaVu Sans"/>
                <a:ea typeface="DejaVu Sans"/>
                <a:cs typeface="DejaVu Sans"/>
              </a:defRPr>
            </a:pPr>
            <a:r>
              <a:rPr sz="1875" b="0">
                <a:solidFill>
                  <a:srgbClr val="263A4E"/>
                </a:solidFill>
                <a:latin typeface="DejaVu Sans"/>
                <a:ea typeface="DejaVu Sans"/>
                <a:cs typeface="DejaVu Sans"/>
              </a:rPr>
              <a:t>Starting replicas incur cost. No resolved requests → zero violation fraction.</a:t>
            </a:r>
          </a:p>
        </p:txBody>
      </p:sp>
      <p:sp>
        <p:nvSpPr>
          <p:cNvPr id="7" name="">
            <a:extLst xmlns:a="http://schemas.openxmlformats.org/drawingml/2006/main">
              <a:ext uri="{FF2B5EF4-FFF2-40B4-BE49-F238E27FC236}">
                <a16:creationId xmlns:a16="http://schemas.microsoft.com/office/drawing/2014/main" id="{020405E0-248F-4EF3-A7B0-89B82BA2BBB4}"/>
              </a:ext>
            </a:extLst>
          </p:cNvPr>
          <p:cNvSpPr>
            <a:spLocks xmlns:a="http://schemas.openxmlformats.org/drawingml/2006/main" noGrp="1"/>
          </p:cNvSpPr>
          <p:nvPr/>
        </p:nvSpPr>
        <p:spPr>
          <a:xfrm xmlns:a="http://schemas.openxmlformats.org/drawingml/2006/main">
            <a:off x="628650" y="58864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C7841"/>
                </a:solidFill>
                <a:latin typeface="DejaVu Sans"/>
                <a:ea typeface="DejaVu Sans"/>
                <a:cs typeface="DejaVu Sans"/>
              </a:defRPr>
            </a:defPPr>
          </a:lstStyle>
          <a:p xmlns:a="http://schemas.openxmlformats.org/drawingml/2006/main">
            <a:pPr>
              <a:defRPr sz="1800" b="1">
                <a:solidFill>
                  <a:srgbClr val="DC7841"/>
                </a:solidFill>
                <a:latin typeface="DejaVu Sans"/>
                <a:ea typeface="DejaVu Sans"/>
                <a:cs typeface="DejaVu Sans"/>
              </a:defRPr>
            </a:pPr>
            <a:r>
              <a:rPr sz="1800" b="1">
                <a:solidFill>
                  <a:srgbClr val="DC7841"/>
                </a:solidFill>
                <a:latin typeface="DejaVu Sans"/>
                <a:ea typeface="DejaVu Sans"/>
                <a:cs typeface="DejaVu Sans"/>
              </a:rPr>
              <a:t>Initial weights retained; no extensive reward search.</a:t>
            </a:r>
          </a:p>
        </p:txBody>
      </p:sp>
    </p:spTree>
    <p:extLst>
      <p:ext uri="{BB962C8B-B14F-4D97-AF65-F5344CB8AC3E}">
        <p14:creationId xmlns:p14="http://schemas.microsoft.com/office/powerpoint/2010/main" val="80317726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25929B5-5BBB-48BF-A7AC-762B3491ABCE}"/>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PPO and the actor–critic model</a:t>
            </a:r>
          </a:p>
        </p:txBody>
      </p:sp>
      <p:sp>
        <p:nvSpPr>
          <p:cNvPr id="2" name="">
            <a:extLst xmlns:a="http://schemas.openxmlformats.org/drawingml/2006/main">
              <a:ext uri="{FF2B5EF4-FFF2-40B4-BE49-F238E27FC236}">
                <a16:creationId xmlns:a16="http://schemas.microsoft.com/office/drawing/2014/main" id="{CFF1A538-8AB6-4C1E-AAF1-98ED90B2E653}"/>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Clipped policy updates with Generalized Advantage Estimation</a:t>
            </a:r>
          </a:p>
        </p:txBody>
      </p:sp>
      <p:sp>
        <p:nvSpPr>
          <p:cNvPr id="3" name="">
            <a:extLst xmlns:a="http://schemas.openxmlformats.org/drawingml/2006/main">
              <a:ext uri="{FF2B5EF4-FFF2-40B4-BE49-F238E27FC236}">
                <a16:creationId xmlns:a16="http://schemas.microsoft.com/office/drawing/2014/main" id="{964AA0DA-8A42-415A-A82A-59658DE26F3F}"/>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3591FB3F-A7DC-4943-AC4C-4B593E4BCCC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7</a:t>
            </a:r>
          </a:p>
        </p:txBody>
      </p:sp>
      <p:sp>
        <p:nvSpPr>
          <p:cNvPr id="5" name="">
            <a:extLst xmlns:a="http://schemas.openxmlformats.org/drawingml/2006/main">
              <a:ext uri="{FF2B5EF4-FFF2-40B4-BE49-F238E27FC236}">
                <a16:creationId xmlns:a16="http://schemas.microsoft.com/office/drawing/2014/main" id="{57C23DF6-6D91-4A05-8FF9-D2ADA3706AAE}"/>
              </a:ext>
            </a:extLst>
          </p:cNvPr>
          <p:cNvSpPr>
            <a:spLocks xmlns:a="http://schemas.openxmlformats.org/drawingml/2006/main" noGrp="1"/>
          </p:cNvSpPr>
          <p:nvPr/>
        </p:nvSpPr>
        <p:spPr>
          <a:xfrm xmlns:a="http://schemas.openxmlformats.org/drawingml/2006/main">
            <a:off x="628650" y="202882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263A4E"/>
                </a:solidFill>
                <a:latin typeface="DejaVu Sans"/>
                <a:ea typeface="DejaVu Sans"/>
                <a:cs typeface="DejaVu Sans"/>
              </a:defRPr>
            </a:defPPr>
          </a:lstStyle>
          <a:p xmlns:a="http://schemas.openxmlformats.org/drawingml/2006/main">
            <a:pPr>
              <a:defRPr sz="2325" b="1">
                <a:solidFill>
                  <a:srgbClr val="263A4E"/>
                </a:solidFill>
                <a:latin typeface="DejaVu Sans"/>
                <a:ea typeface="DejaVu Sans"/>
                <a:cs typeface="DejaVu Sans"/>
              </a:defRPr>
            </a:pPr>
            <a:r>
              <a:rPr sz="2325" b="1">
                <a:solidFill>
                  <a:srgbClr val="263A4E"/>
                </a:solidFill>
                <a:latin typeface="DejaVu Sans"/>
                <a:ea typeface="DejaVu Sans"/>
                <a:cs typeface="DejaVu Sans"/>
              </a:rPr>
              <a:t>Actor: 9 → 64 → 64 → 3 action probabilities</a:t>
            </a:r>
          </a:p>
        </p:txBody>
      </p:sp>
      <p:sp>
        <p:nvSpPr>
          <p:cNvPr id="6" name="">
            <a:extLst xmlns:a="http://schemas.openxmlformats.org/drawingml/2006/main">
              <a:ext uri="{FF2B5EF4-FFF2-40B4-BE49-F238E27FC236}">
                <a16:creationId xmlns:a16="http://schemas.microsoft.com/office/drawing/2014/main" id="{E2FA3632-94AF-49E6-B598-71D706603B8A}"/>
              </a:ext>
            </a:extLst>
          </p:cNvPr>
          <p:cNvSpPr>
            <a:spLocks xmlns:a="http://schemas.openxmlformats.org/drawingml/2006/main" noGrp="1"/>
          </p:cNvSpPr>
          <p:nvPr/>
        </p:nvSpPr>
        <p:spPr>
          <a:xfrm xmlns:a="http://schemas.openxmlformats.org/drawingml/2006/main">
            <a:off x="628650" y="266700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263A4E"/>
                </a:solidFill>
                <a:latin typeface="DejaVu Sans"/>
                <a:ea typeface="DejaVu Sans"/>
                <a:cs typeface="DejaVu Sans"/>
              </a:defRPr>
            </a:defPPr>
          </a:lstStyle>
          <a:p xmlns:a="http://schemas.openxmlformats.org/drawingml/2006/main">
            <a:pPr>
              <a:defRPr sz="2325" b="1">
                <a:solidFill>
                  <a:srgbClr val="263A4E"/>
                </a:solidFill>
                <a:latin typeface="DejaVu Sans"/>
                <a:ea typeface="DejaVu Sans"/>
                <a:cs typeface="DejaVu Sans"/>
              </a:defRPr>
            </a:pPr>
            <a:r>
              <a:rPr sz="2325" b="1">
                <a:solidFill>
                  <a:srgbClr val="263A4E"/>
                </a:solidFill>
                <a:latin typeface="DejaVu Sans"/>
                <a:ea typeface="DejaVu Sans"/>
                <a:cs typeface="DejaVu Sans"/>
              </a:rPr>
              <a:t>Critic: 9 → 64 → 64 → 1 estimated return</a:t>
            </a:r>
          </a:p>
        </p:txBody>
      </p:sp>
      <p:sp>
        <p:nvSpPr>
          <p:cNvPr id="7" name="">
            <a:extLst xmlns:a="http://schemas.openxmlformats.org/drawingml/2006/main">
              <a:ext uri="{FF2B5EF4-FFF2-40B4-BE49-F238E27FC236}">
                <a16:creationId xmlns:a16="http://schemas.microsoft.com/office/drawing/2014/main" id="{15DE2778-A44C-4D07-B9AB-73F30D35D561}"/>
              </a:ext>
            </a:extLst>
          </p:cNvPr>
          <p:cNvSpPr>
            <a:spLocks xmlns:a="http://schemas.openxmlformats.org/drawingml/2006/main" noGrp="1"/>
          </p:cNvSpPr>
          <p:nvPr/>
        </p:nvSpPr>
        <p:spPr>
          <a:xfrm xmlns:a="http://schemas.openxmlformats.org/drawingml/2006/main">
            <a:off x="628650" y="326707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Both networks: tanh hidden layers; separate parameters.</a:t>
            </a:r>
          </a:p>
        </p:txBody>
      </p:sp>
      <p:sp>
        <p:nvSpPr>
          <p:cNvPr id="8" name="">
            <a:extLst xmlns:a="http://schemas.openxmlformats.org/drawingml/2006/main">
              <a:ext uri="{FF2B5EF4-FFF2-40B4-BE49-F238E27FC236}">
                <a16:creationId xmlns:a16="http://schemas.microsoft.com/office/drawing/2014/main" id="{7982002A-6F2A-4E28-9BFC-417D0DF81163}"/>
              </a:ext>
            </a:extLst>
          </p:cNvPr>
          <p:cNvSpPr>
            <a:spLocks xmlns:a="http://schemas.openxmlformats.org/drawingml/2006/main" noGrp="1"/>
          </p:cNvSpPr>
          <p:nvPr/>
        </p:nvSpPr>
        <p:spPr>
          <a:xfrm xmlns:a="http://schemas.openxmlformats.org/drawingml/2006/main">
            <a:off x="628650" y="4010025"/>
            <a:ext cx="1076325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63A4E"/>
                </a:solidFill>
                <a:latin typeface="DejaVu Sans"/>
                <a:ea typeface="DejaVu Sans"/>
                <a:cs typeface="DejaVu Sans"/>
              </a:defRPr>
            </a:defPPr>
          </a:lstStyle>
          <a:p xmlns:a="http://schemas.openxmlformats.org/drawingml/2006/main">
            <a:pPr>
              <a:defRPr sz="2175" b="0">
                <a:solidFill>
                  <a:srgbClr val="263A4E"/>
                </a:solidFill>
                <a:latin typeface="DejaVu Sans"/>
                <a:ea typeface="DejaVu Sans"/>
                <a:cs typeface="DejaVu Sans"/>
              </a:defRPr>
            </a:pPr>
            <a:r>
              <a:rPr sz="2175" b="0">
                <a:solidFill>
                  <a:srgbClr val="263A4E"/>
                </a:solidFill>
                <a:latin typeface="DejaVu Sans"/>
                <a:ea typeface="DejaVu Sans"/>
                <a:cs typeface="DejaVu Sans"/>
              </a:rPr>
              <a:t>PPO clip 0.2  |  discount 0.99  |  GAE λ 0.95</a:t>
            </a:r>
          </a:p>
          <a:p xmlns:a="http://schemas.openxmlformats.org/drawingml/2006/main">
            <a:pPr>
              <a:defRPr sz="2175" b="0">
                <a:solidFill>
                  <a:srgbClr val="263A4E"/>
                </a:solidFill>
                <a:latin typeface="DejaVu Sans"/>
                <a:ea typeface="DejaVu Sans"/>
                <a:cs typeface="DejaVu Sans"/>
              </a:defRPr>
            </a:pPr>
            <a:r>
              <a:rPr sz="2175" b="0">
                <a:solidFill>
                  <a:srgbClr val="263A4E"/>
                </a:solidFill>
                <a:latin typeface="DejaVu Sans"/>
                <a:ea typeface="DejaVu Sans"/>
                <a:cs typeface="DejaVu Sans"/>
              </a:rPr>
              <a:t>Adam learning rate 0.0003  |  entropy coefficient 0.01</a:t>
            </a:r>
          </a:p>
          <a:p xmlns:a="http://schemas.openxmlformats.org/drawingml/2006/main">
            <a:pPr>
              <a:defRPr sz="2175" b="0">
                <a:solidFill>
                  <a:srgbClr val="263A4E"/>
                </a:solidFill>
                <a:latin typeface="DejaVu Sans"/>
                <a:ea typeface="DejaVu Sans"/>
                <a:cs typeface="DejaVu Sans"/>
              </a:defRPr>
            </a:pPr>
            <a:r>
              <a:rPr sz="2175" b="0">
                <a:solidFill>
                  <a:srgbClr val="263A4E"/>
                </a:solidFill>
                <a:latin typeface="DejaVu Sans"/>
                <a:ea typeface="DejaVu Sans"/>
                <a:cs typeface="DejaVu Sans"/>
              </a:rPr>
              <a:t>1,024-step rollouts  |  10 epochs  |  minibatches ≤64</a:t>
            </a:r>
          </a:p>
        </p:txBody>
      </p:sp>
      <p:sp>
        <p:nvSpPr>
          <p:cNvPr id="9" name="">
            <a:extLst xmlns:a="http://schemas.openxmlformats.org/drawingml/2006/main">
              <a:ext uri="{FF2B5EF4-FFF2-40B4-BE49-F238E27FC236}">
                <a16:creationId xmlns:a16="http://schemas.microsoft.com/office/drawing/2014/main" id="{E96C2D58-D943-4660-9877-B86B96B2191C}"/>
              </a:ext>
            </a:extLst>
          </p:cNvPr>
          <p:cNvSpPr>
            <a:spLocks xmlns:a="http://schemas.openxmlformats.org/drawingml/2006/main" noGrp="1"/>
          </p:cNvSpPr>
          <p:nvPr/>
        </p:nvSpPr>
        <p:spPr>
          <a:xfrm xmlns:a="http://schemas.openxmlformats.org/drawingml/2006/main">
            <a:off x="628650" y="58293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1867A"/>
                </a:solidFill>
                <a:latin typeface="DejaVu Sans"/>
                <a:ea typeface="DejaVu Sans"/>
                <a:cs typeface="DejaVu Sans"/>
              </a:defRPr>
            </a:defPPr>
          </a:lstStyle>
          <a:p xmlns:a="http://schemas.openxmlformats.org/drawingml/2006/main">
            <a:pPr>
              <a:defRPr sz="1800" b="0">
                <a:solidFill>
                  <a:srgbClr val="21867A"/>
                </a:solidFill>
                <a:latin typeface="DejaVu Sans"/>
                <a:ea typeface="DejaVu Sans"/>
                <a:cs typeface="DejaVu Sans"/>
              </a:defRPr>
            </a:pPr>
            <a:r>
              <a:rPr sz="1800" b="0">
                <a:solidFill>
                  <a:srgbClr val="21867A"/>
                </a:solidFill>
                <a:latin typeface="DejaVu Sans"/>
                <a:ea typeface="DejaVu Sans"/>
                <a:cs typeface="DejaVu Sans"/>
              </a:rPr>
              <a:t>Sample actions during training; choose most probable at test time.</a:t>
            </a:r>
          </a:p>
        </p:txBody>
      </p:sp>
    </p:spTree>
    <p:extLst>
      <p:ext uri="{BB962C8B-B14F-4D97-AF65-F5344CB8AC3E}">
        <p14:creationId xmlns:p14="http://schemas.microsoft.com/office/powerpoint/2010/main" val="194045121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71E0C4-9E93-4A69-92F6-2A45B456C3DF}"/>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Implementation and changes to the plan</a:t>
            </a:r>
          </a:p>
        </p:txBody>
      </p:sp>
      <p:sp>
        <p:nvSpPr>
          <p:cNvPr id="2" name="">
            <a:extLst xmlns:a="http://schemas.openxmlformats.org/drawingml/2006/main">
              <a:ext uri="{FF2B5EF4-FFF2-40B4-BE49-F238E27FC236}">
                <a16:creationId xmlns:a16="http://schemas.microsoft.com/office/drawing/2014/main" id="{381DFADA-8717-45A2-A1C1-ED123CA296A1}"/>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A complete local workflow with numerical checks</a:t>
            </a:r>
          </a:p>
        </p:txBody>
      </p:sp>
      <p:sp>
        <p:nvSpPr>
          <p:cNvPr id="3" name="">
            <a:extLst xmlns:a="http://schemas.openxmlformats.org/drawingml/2006/main">
              <a:ext uri="{FF2B5EF4-FFF2-40B4-BE49-F238E27FC236}">
                <a16:creationId xmlns:a16="http://schemas.microsoft.com/office/drawing/2014/main" id="{DD66C2F5-FF6D-4E42-B9B8-11A0E6F9AE06}"/>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1147501A-A437-4D0D-AD5A-A40AA24311D0}"/>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8</a:t>
            </a:r>
          </a:p>
        </p:txBody>
      </p:sp>
      <p:sp>
        <p:nvSpPr>
          <p:cNvPr id="5" name="">
            <a:extLst xmlns:a="http://schemas.openxmlformats.org/drawingml/2006/main">
              <a:ext uri="{FF2B5EF4-FFF2-40B4-BE49-F238E27FC236}">
                <a16:creationId xmlns:a16="http://schemas.microsoft.com/office/drawing/2014/main" id="{82FC09B5-2FFA-482C-AB65-EC23726225CA}"/>
              </a:ext>
            </a:extLst>
          </p:cNvPr>
          <p:cNvSpPr>
            <a:spLocks xmlns:a="http://schemas.openxmlformats.org/drawingml/2006/main" noGrp="1"/>
          </p:cNvSpPr>
          <p:nvPr/>
        </p:nvSpPr>
        <p:spPr>
          <a:xfrm xmlns:a="http://schemas.openxmlformats.org/drawingml/2006/main">
            <a:off x="628650" y="20002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Core components</a:t>
            </a:r>
          </a:p>
        </p:txBody>
      </p:sp>
      <p:sp>
        <p:nvSpPr>
          <p:cNvPr id="6" name="">
            <a:extLst xmlns:a="http://schemas.openxmlformats.org/drawingml/2006/main">
              <a:ext uri="{FF2B5EF4-FFF2-40B4-BE49-F238E27FC236}">
                <a16:creationId xmlns:a16="http://schemas.microsoft.com/office/drawing/2014/main" id="{501CFBEA-74AE-4B25-812C-38BA03E80EB2}"/>
              </a:ext>
            </a:extLst>
          </p:cNvPr>
          <p:cNvSpPr>
            <a:spLocks xmlns:a="http://schemas.openxmlformats.org/drawingml/2006/main" noGrp="1"/>
          </p:cNvSpPr>
          <p:nvPr/>
        </p:nvSpPr>
        <p:spPr>
          <a:xfrm xmlns:a="http://schemas.openxmlformats.org/drawingml/2006/main">
            <a:off x="628650" y="24003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Simulator → controllers → training → evaluation → plots and replay.</a:t>
            </a:r>
          </a:p>
        </p:txBody>
      </p:sp>
      <p:sp>
        <p:nvSpPr>
          <p:cNvPr id="7" name="">
            <a:extLst xmlns:a="http://schemas.openxmlformats.org/drawingml/2006/main">
              <a:ext uri="{FF2B5EF4-FFF2-40B4-BE49-F238E27FC236}">
                <a16:creationId xmlns:a16="http://schemas.microsoft.com/office/drawing/2014/main" id="{39318F43-6293-4DA5-A336-EA6472FB4081}"/>
              </a:ext>
            </a:extLst>
          </p:cNvPr>
          <p:cNvSpPr>
            <a:spLocks xmlns:a="http://schemas.openxmlformats.org/drawingml/2006/main" noGrp="1"/>
          </p:cNvSpPr>
          <p:nvPr/>
        </p:nvSpPr>
        <p:spPr>
          <a:xfrm xmlns:a="http://schemas.openxmlformats.org/drawingml/2006/main">
            <a:off x="628650" y="320040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Framework change from Part 1</a:t>
            </a:r>
          </a:p>
        </p:txBody>
      </p:sp>
      <p:sp>
        <p:nvSpPr>
          <p:cNvPr id="8" name="">
            <a:extLst xmlns:a="http://schemas.openxmlformats.org/drawingml/2006/main">
              <a:ext uri="{FF2B5EF4-FFF2-40B4-BE49-F238E27FC236}">
                <a16:creationId xmlns:a16="http://schemas.microsoft.com/office/drawing/2014/main" id="{9C3B65A2-0552-423E-B365-DF1B1CD946D1}"/>
              </a:ext>
            </a:extLst>
          </p:cNvPr>
          <p:cNvSpPr>
            <a:spLocks xmlns:a="http://schemas.openxmlformats.org/drawingml/2006/main" noGrp="1"/>
          </p:cNvSpPr>
          <p:nvPr/>
        </p:nvSpPr>
        <p:spPr>
          <a:xfrm xmlns:a="http://schemas.openxmlformats.org/drawingml/2006/main">
            <a:off x="628650" y="36004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NumPy manual backpropagation instead of PyTorch / Gymnasium.</a:t>
            </a:r>
          </a:p>
        </p:txBody>
      </p:sp>
      <p:sp>
        <p:nvSpPr>
          <p:cNvPr id="9" name="">
            <a:extLst xmlns:a="http://schemas.openxmlformats.org/drawingml/2006/main">
              <a:ext uri="{FF2B5EF4-FFF2-40B4-BE49-F238E27FC236}">
                <a16:creationId xmlns:a16="http://schemas.microsoft.com/office/drawing/2014/main" id="{F533FBA4-4BCD-4588-86F5-AEB79F370FFC}"/>
              </a:ext>
            </a:extLst>
          </p:cNvPr>
          <p:cNvSpPr>
            <a:spLocks xmlns:a="http://schemas.openxmlformats.org/drawingml/2006/main" noGrp="1"/>
          </p:cNvSpPr>
          <p:nvPr/>
        </p:nvSpPr>
        <p:spPr>
          <a:xfrm xmlns:a="http://schemas.openxmlformats.org/drawingml/2006/main">
            <a:off x="628650" y="44005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Verification and scope</a:t>
            </a:r>
          </a:p>
        </p:txBody>
      </p:sp>
      <p:sp>
        <p:nvSpPr>
          <p:cNvPr id="10" name="">
            <a:extLst xmlns:a="http://schemas.openxmlformats.org/drawingml/2006/main">
              <a:ext uri="{FF2B5EF4-FFF2-40B4-BE49-F238E27FC236}">
                <a16:creationId xmlns:a16="http://schemas.microsoft.com/office/drawing/2014/main" id="{42FA03C7-6552-43F3-B134-5CD79CE5A4ED}"/>
              </a:ext>
            </a:extLst>
          </p:cNvPr>
          <p:cNvSpPr>
            <a:spLocks xmlns:a="http://schemas.openxmlformats.org/drawingml/2006/main" noGrp="1"/>
          </p:cNvSpPr>
          <p:nvPr/>
        </p:nvSpPr>
        <p:spPr>
          <a:xfrm xmlns:a="http://schemas.openxmlformats.org/drawingml/2006/main">
            <a:off x="628650" y="48006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5 tests: gradients, terminal GAE, startup/accounting, reproducibility.</a:t>
            </a:r>
          </a:p>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DQN remains an alternative; no DQN experiment was run.</a:t>
            </a:r>
          </a:p>
        </p:txBody>
      </p:sp>
    </p:spTree>
    <p:extLst>
      <p:ext uri="{BB962C8B-B14F-4D97-AF65-F5344CB8AC3E}">
        <p14:creationId xmlns:p14="http://schemas.microsoft.com/office/powerpoint/2010/main" val="14297303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399D1CC-5EF4-4453-9D22-ABB8767D5C05}"/>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Training and evaluation protocol</a:t>
            </a:r>
          </a:p>
        </p:txBody>
      </p:sp>
      <p:sp>
        <p:nvSpPr>
          <p:cNvPr id="2" name="">
            <a:extLst xmlns:a="http://schemas.openxmlformats.org/drawingml/2006/main">
              <a:ext uri="{FF2B5EF4-FFF2-40B4-BE49-F238E27FC236}">
                <a16:creationId xmlns:a16="http://schemas.microsoft.com/office/drawing/2014/main" id="{0B4A5B9D-E761-4951-9331-F949406F78E6}"/>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Validation selects settings; testing measures outcomes</a:t>
            </a:r>
          </a:p>
        </p:txBody>
      </p:sp>
      <p:sp>
        <p:nvSpPr>
          <p:cNvPr id="3" name="">
            <a:extLst xmlns:a="http://schemas.openxmlformats.org/drawingml/2006/main">
              <a:ext uri="{FF2B5EF4-FFF2-40B4-BE49-F238E27FC236}">
                <a16:creationId xmlns:a16="http://schemas.microsoft.com/office/drawing/2014/main" id="{A8D56BE6-A94E-49D0-9A76-9F4531436BC7}"/>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F873642A-0C2F-4B49-A84F-1ADA27AAEB05}"/>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9</a:t>
            </a:r>
          </a:p>
        </p:txBody>
      </p:sp>
      <p:graphicFrame>
        <p:nvGraphicFramePr>
          <p:cNvPr id="5" name="">
            <a:extLst xmlns:a="http://schemas.openxmlformats.org/drawingml/2006/main">
              <a:ext uri="{FF2B5EF4-FFF2-40B4-BE49-F238E27FC236}">
                <a16:creationId xmlns:a16="http://schemas.microsoft.com/office/drawing/2014/main" id="{AE6EEB4E-B67A-4162-9B55-29464F4E0A1F}"/>
              </a:ext>
            </a:extLst>
          </p:cNvPr>
          <p:cNvGraphicFramePr/>
          <p:nvPr/>
        </p:nvGraphicFramePr>
        <p:xfrm>
          <a:off xmlns:a="http://schemas.openxmlformats.org/drawingml/2006/main" x="628650" y="1914525"/>
          <a:ext xmlns:a="http://schemas.openxmlformats.org/drawingml/2006/main" cx="10896600" cy="3638550"/>
        </p:xfrm>
        <a:graphic xmlns:a="http://schemas.openxmlformats.org/drawingml/2006/main">
          <a:graphicData uri="http://schemas.openxmlformats.org/drawingml/2006/table">
            <a:tbl>
              <a:tblPr/>
              <a:tblGrid>
                <a:gridCol w="2762250"/>
                <a:gridCol w="8134350"/>
              </a:tblGrid>
              <a:tr h="606425">
                <a:tc>
                  <a:txBody>
                    <a:bodyPr/>
                    <a:lstStyle/>
                    <a:p>
                      <a:r>
                        <a:rPr sz="1875" b="1">
                          <a:solidFill>
                            <a:srgbClr val="FFFFFF"/>
                          </a:solidFill>
                          <a:latin typeface="DejaVu Sans"/>
                          <a:ea typeface="DejaVu Sans"/>
                          <a:cs typeface="DejaVu Sans"/>
                        </a:rPr>
                        <a:t>Stage</a:t>
                      </a:r>
                    </a:p>
                  </a:txBody>
                  <a:tcPr marL="133350" marR="133350" marT="95250" marB="95250">
                    <a:solidFill>
                      <a:srgbClr val="172D44"/>
                    </a:solidFill>
                  </a:tcPr>
                </a:tc>
                <a:tc>
                  <a:txBody>
                    <a:bodyPr/>
                    <a:lstStyle/>
                    <a:p>
                      <a:r>
                        <a:rPr sz="1875" b="1">
                          <a:solidFill>
                            <a:srgbClr val="FFFFFF"/>
                          </a:solidFill>
                          <a:latin typeface="DejaVu Sans"/>
                          <a:ea typeface="DejaVu Sans"/>
                          <a:cs typeface="DejaVu Sans"/>
                        </a:rPr>
                        <a:t>Protocol</a:t>
                      </a:r>
                    </a:p>
                  </a:txBody>
                  <a:tcPr marL="133350" marR="133350" marT="95250" marB="95250">
                    <a:solidFill>
                      <a:srgbClr val="172D44"/>
                    </a:solidFill>
                  </a:tcPr>
                </a:tc>
              </a:tr>
              <a:tr h="606425">
                <a:tc>
                  <a:txBody>
                    <a:bodyPr/>
                    <a:lstStyle/>
                    <a:p>
                      <a:r>
                        <a:rPr sz="1875">
                          <a:solidFill>
                            <a:srgbClr val="263A4E"/>
                          </a:solidFill>
                          <a:latin typeface="DejaVu Sans"/>
                          <a:ea typeface="DejaVu Sans"/>
                          <a:cs typeface="DejaVu Sans"/>
                        </a:rPr>
                        <a:t>Training</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5 seeds × 50,000 decisions</a:t>
                      </a:r>
                    </a:p>
                  </a:txBody>
                  <a:tcPr marL="133350" marR="133350" marT="95250" marB="95250">
                    <a:solidFill>
                      <a:srgbClr val="FFFFFF"/>
                    </a:solidFill>
                  </a:tcPr>
                </a:tc>
              </a:tr>
              <a:tr h="606425">
                <a:tc>
                  <a:txBody>
                    <a:bodyPr/>
                    <a:lstStyle/>
                    <a:p>
                      <a:r>
                        <a:rPr sz="1875">
                          <a:solidFill>
                            <a:srgbClr val="263A4E"/>
                          </a:solidFill>
                          <a:latin typeface="DejaVu Sans"/>
                          <a:ea typeface="DejaVu Sans"/>
                          <a:cs typeface="DejaVu Sans"/>
                        </a:rPr>
                        <a:t>Validation</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20 traces; tune baselines and select checkpoints</a:t>
                      </a:r>
                    </a:p>
                  </a:txBody>
                  <a:tcPr marL="133350" marR="133350" marT="95250" marB="95250">
                    <a:solidFill>
                      <a:srgbClr val="FFFFFF"/>
                    </a:solidFill>
                  </a:tcPr>
                </a:tc>
              </a:tr>
              <a:tr h="606425">
                <a:tc>
                  <a:txBody>
                    <a:bodyPr/>
                    <a:lstStyle/>
                    <a:p>
                      <a:r>
                        <a:rPr sz="1875">
                          <a:solidFill>
                            <a:srgbClr val="263A4E"/>
                          </a:solidFill>
                          <a:latin typeface="DejaVu Sans"/>
                          <a:ea typeface="DejaVu Sans"/>
                          <a:cs typeface="DejaVu Sans"/>
                        </a:rPr>
                        <a:t>Testing</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30 held-out traces: 10 per workload class</a:t>
                      </a:r>
                    </a:p>
                  </a:txBody>
                  <a:tcPr marL="133350" marR="133350" marT="95250" marB="95250">
                    <a:solidFill>
                      <a:srgbClr val="FFFFFF"/>
                    </a:solidFill>
                  </a:tcPr>
                </a:tc>
              </a:tr>
              <a:tr h="606425">
                <a:tc>
                  <a:txBody>
                    <a:bodyPr/>
                    <a:lstStyle/>
                    <a:p>
                      <a:r>
                        <a:rPr sz="1875">
                          <a:solidFill>
                            <a:srgbClr val="263A4E"/>
                          </a:solidFill>
                          <a:latin typeface="DejaVu Sans"/>
                          <a:ea typeface="DejaVu Sans"/>
                          <a:cs typeface="DejaVu Sans"/>
                        </a:rPr>
                        <a:t>Baselines</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Fixed target 8; threshold upper/lower 0.6/0.2</a:t>
                      </a:r>
                    </a:p>
                  </a:txBody>
                  <a:tcPr marL="133350" marR="133350" marT="95250" marB="95250">
                    <a:solidFill>
                      <a:srgbClr val="FFFFFF"/>
                    </a:solidFill>
                  </a:tcPr>
                </a:tc>
              </a:tr>
              <a:tr h="606425">
                <a:tc>
                  <a:txBody>
                    <a:bodyPr/>
                    <a:lstStyle/>
                    <a:p>
                      <a:r>
                        <a:rPr sz="1875">
                          <a:solidFill>
                            <a:srgbClr val="263A4E"/>
                          </a:solidFill>
                          <a:latin typeface="DejaVu Sans"/>
                          <a:ea typeface="DejaVu Sans"/>
                          <a:cs typeface="DejaVu Sans"/>
                        </a:rPr>
                        <a:t>Fair comparison</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Same arrivals; 2 initial replicas; same startup delay</a:t>
                      </a:r>
                    </a:p>
                  </a:txBody>
                  <a:tcPr marL="133350" marR="133350" marT="95250" marB="9525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69DB8F64-4E8E-46EA-9BB6-B972AA867CA5}"/>
              </a:ext>
            </a:extLst>
          </p:cNvPr>
          <p:cNvSpPr>
            <a:spLocks xmlns:a="http://schemas.openxmlformats.org/drawingml/2006/main" noGrp="1"/>
          </p:cNvSpPr>
          <p:nvPr/>
        </p:nvSpPr>
        <p:spPr>
          <a:xfrm xmlns:a="http://schemas.openxmlformats.org/drawingml/2006/main">
            <a:off x="628650" y="5781675"/>
            <a:ext cx="10858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B6B7C"/>
                </a:solidFill>
                <a:latin typeface="DejaVu Sans"/>
                <a:ea typeface="DejaVu Sans"/>
                <a:cs typeface="DejaVu Sans"/>
              </a:defRPr>
            </a:defPPr>
          </a:lstStyle>
          <a:p xmlns:a="http://schemas.openxmlformats.org/drawingml/2006/main">
            <a:pPr>
              <a:defRPr sz="1800" b="0">
                <a:solidFill>
                  <a:srgbClr val="5B6B7C"/>
                </a:solidFill>
                <a:latin typeface="DejaVu Sans"/>
                <a:ea typeface="DejaVu Sans"/>
                <a:cs typeface="DejaVu Sans"/>
              </a:defRPr>
            </a:pPr>
            <a:r>
              <a:rPr sz="1800" b="0">
                <a:solidFill>
                  <a:srgbClr val="5B6B7C"/>
                </a:solidFill>
                <a:latin typeface="DejaVu Sans"/>
                <a:ea typeface="DejaVu Sans"/>
                <a:cs typeface="DejaVu Sans"/>
              </a:rPr>
              <a:t>PPO: 5 policies × 30 common traces. Means of episode metrics.</a:t>
            </a:r>
          </a:p>
        </p:txBody>
      </p:sp>
    </p:spTree>
    <p:extLst>
      <p:ext uri="{BB962C8B-B14F-4D97-AF65-F5344CB8AC3E}">
        <p14:creationId xmlns:p14="http://schemas.microsoft.com/office/powerpoint/2010/main" val="70929871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F5E9558-1348-49DB-B6B3-8FD462C32CD3}"/>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Training improved, but runs differed</a:t>
            </a:r>
          </a:p>
        </p:txBody>
      </p:sp>
      <p:sp>
        <p:nvSpPr>
          <p:cNvPr id="2" name="">
            <a:extLst xmlns:a="http://schemas.openxmlformats.org/drawingml/2006/main">
              <a:ext uri="{FF2B5EF4-FFF2-40B4-BE49-F238E27FC236}">
                <a16:creationId xmlns:a16="http://schemas.microsoft.com/office/drawing/2014/main" id="{FFFC883C-BD85-4A39-AA2C-08814FF1098E}"/>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Mean return over the most recent 20 completed training episodes</a:t>
            </a:r>
          </a:p>
        </p:txBody>
      </p:sp>
      <p:sp>
        <p:nvSpPr>
          <p:cNvPr id="3" name="">
            <a:extLst xmlns:a="http://schemas.openxmlformats.org/drawingml/2006/main">
              <a:ext uri="{FF2B5EF4-FFF2-40B4-BE49-F238E27FC236}">
                <a16:creationId xmlns:a16="http://schemas.microsoft.com/office/drawing/2014/main" id="{C2B4A5F6-BC67-4B89-8019-55C961292FAB}"/>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48B8AA12-0D8A-4229-A594-C9944F27377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10</a:t>
            </a:r>
          </a:p>
        </p:txBody>
      </p:sp>
      <p:graphicFrame>
        <p:nvGraphicFramePr>
          <p:cNvPr id="5" name="Chart">
            <a:extLst xmlns:a="http://schemas.openxmlformats.org/drawingml/2006/main">
              <a:ext uri="{FF2B5EF4-FFF2-40B4-BE49-F238E27FC236}">
                <a16:creationId xmlns:a16="http://schemas.microsoft.com/office/drawing/2014/main" id="{A5AE8695-3FE3-4280-8608-BC5496B73902}"/>
              </a:ext>
            </a:extLst>
          </p:cNvPr>
          <p:cNvGraphicFramePr/>
          <p:nvPr/>
        </p:nvGraphicFramePr>
        <p:xfrm>
          <a:off xmlns:a="http://schemas.openxmlformats.org/drawingml/2006/main" x="628650" y="1914525"/>
          <a:ext xmlns:a="http://schemas.openxmlformats.org/drawingml/2006/main" cx="10906125" cy="3286125"/>
        </p:xfrm>
        <a:graphic xmlns:a="http://schemas.openxmlformats.org/drawingml/2006/main">
          <a:graphicData uri="http://schemas.openxmlformats.org/drawingml/2006/chart">
            <c:chart xmlns:r="http://schemas.openxmlformats.org/officeDocument/2006/relationships" xmlns:c="http://schemas.openxmlformats.org/drawingml/2006/chart" r:id="R19525bc2e3804f1f"/>
          </a:graphicData>
        </a:graphic>
      </p:graphicFrame>
      <p:sp>
        <p:nvSpPr>
          <p:cNvPr id="6" name="">
            <a:extLst xmlns:a="http://schemas.openxmlformats.org/drawingml/2006/main">
              <a:ext uri="{FF2B5EF4-FFF2-40B4-BE49-F238E27FC236}">
                <a16:creationId xmlns:a16="http://schemas.microsoft.com/office/drawing/2014/main" id="{4A8E0406-CF81-4E67-852F-ECFC3428F932}"/>
              </a:ext>
            </a:extLst>
          </p:cNvPr>
          <p:cNvSpPr>
            <a:spLocks xmlns:a="http://schemas.openxmlformats.org/drawingml/2006/main" noGrp="1"/>
          </p:cNvSpPr>
          <p:nvPr/>
        </p:nvSpPr>
        <p:spPr>
          <a:xfrm xmlns:a="http://schemas.openxmlformats.org/drawingml/2006/main">
            <a:off x="628650" y="54768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DC7841"/>
                </a:solidFill>
                <a:latin typeface="DejaVu Sans"/>
                <a:ea typeface="DejaVu Sans"/>
                <a:cs typeface="DejaVu Sans"/>
              </a:defRPr>
            </a:defPPr>
          </a:lstStyle>
          <a:p xmlns:a="http://schemas.openxmlformats.org/drawingml/2006/main">
            <a:pPr>
              <a:defRPr sz="2100" b="1">
                <a:solidFill>
                  <a:srgbClr val="DC7841"/>
                </a:solidFill>
                <a:latin typeface="DejaVu Sans"/>
                <a:ea typeface="DejaVu Sans"/>
                <a:cs typeface="DejaVu Sans"/>
              </a:defRPr>
            </a:pPr>
            <a:r>
              <a:rPr sz="2100" b="1">
                <a:solidFill>
                  <a:srgbClr val="DC7841"/>
                </a:solidFill>
                <a:latin typeface="DejaVu Sans"/>
                <a:ea typeface="DejaVu Sans"/>
                <a:cs typeface="DejaVu Sans"/>
              </a:rPr>
              <a:t>Improved training return does not establish test success.</a:t>
            </a:r>
          </a:p>
        </p:txBody>
      </p:sp>
      <p:sp>
        <p:nvSpPr>
          <p:cNvPr id="7" name="">
            <a:extLst xmlns:a="http://schemas.openxmlformats.org/drawingml/2006/main">
              <a:ext uri="{FF2B5EF4-FFF2-40B4-BE49-F238E27FC236}">
                <a16:creationId xmlns:a16="http://schemas.microsoft.com/office/drawing/2014/main" id="{CE64199A-A205-4D2C-B48A-595A7D8A4434}"/>
              </a:ext>
            </a:extLst>
          </p:cNvPr>
          <p:cNvSpPr>
            <a:spLocks xmlns:a="http://schemas.openxmlformats.org/drawingml/2006/main" noGrp="1"/>
          </p:cNvSpPr>
          <p:nvPr/>
        </p:nvSpPr>
        <p:spPr>
          <a:xfrm xmlns:a="http://schemas.openxmlformats.org/drawingml/2006/main">
            <a:off x="628650" y="5915025"/>
            <a:ext cx="1085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B6B7C"/>
                </a:solidFill>
                <a:latin typeface="DejaVu Sans"/>
                <a:ea typeface="DejaVu Sans"/>
                <a:cs typeface="DejaVu Sans"/>
              </a:defRPr>
            </a:defPPr>
          </a:lstStyle>
          <a:p xmlns:a="http://schemas.openxmlformats.org/drawingml/2006/main">
            <a:pPr>
              <a:defRPr sz="1725" b="0">
                <a:solidFill>
                  <a:srgbClr val="5B6B7C"/>
                </a:solidFill>
                <a:latin typeface="DejaVu Sans"/>
                <a:ea typeface="DejaVu Sans"/>
                <a:cs typeface="DejaVu Sans"/>
              </a:defRPr>
            </a:pPr>
            <a:r>
              <a:rPr sz="1725" b="0">
                <a:solidFill>
                  <a:srgbClr val="5B6B7C"/>
                </a:solidFill>
                <a:latin typeface="DejaVu Sans"/>
                <a:ea typeface="DejaVu Sans"/>
                <a:cs typeface="DejaVu Sans"/>
              </a:rPr>
              <a:t>Greedy validation was already favorable before training.</a:t>
            </a:r>
          </a:p>
        </p:txBody>
      </p:sp>
    </p:spTree>
    <p:extLst>
      <p:ext uri="{BB962C8B-B14F-4D97-AF65-F5344CB8AC3E}">
        <p14:creationId xmlns:p14="http://schemas.microsoft.com/office/powerpoint/2010/main" val="3228781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5A8816-104D-4FAC-BBD0-0A7B930578D0}"/>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Better average service, higher cost</a:t>
            </a:r>
          </a:p>
        </p:txBody>
      </p:sp>
      <p:sp>
        <p:nvSpPr>
          <p:cNvPr id="2" name="">
            <a:extLst xmlns:a="http://schemas.openxmlformats.org/drawingml/2006/main">
              <a:ext uri="{FF2B5EF4-FFF2-40B4-BE49-F238E27FC236}">
                <a16:creationId xmlns:a16="http://schemas.microsoft.com/office/drawing/2014/main" id="{202AB2EF-FBB5-4EF2-B525-2A4E9227EF8A}"/>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Average episode metrics across the common test traces</a:t>
            </a:r>
          </a:p>
        </p:txBody>
      </p:sp>
      <p:sp>
        <p:nvSpPr>
          <p:cNvPr id="3" name="">
            <a:extLst xmlns:a="http://schemas.openxmlformats.org/drawingml/2006/main">
              <a:ext uri="{FF2B5EF4-FFF2-40B4-BE49-F238E27FC236}">
                <a16:creationId xmlns:a16="http://schemas.microsoft.com/office/drawing/2014/main" id="{A8E7FDCB-73D1-4FD7-8DC8-EC47EFF72449}"/>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70A8902A-1451-4FCE-BD81-CF2B4CD3355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11</a:t>
            </a:r>
          </a:p>
        </p:txBody>
      </p:sp>
      <p:graphicFrame>
        <p:nvGraphicFramePr>
          <p:cNvPr id="5" name="Chart">
            <a:extLst xmlns:a="http://schemas.openxmlformats.org/drawingml/2006/main">
              <a:ext uri="{FF2B5EF4-FFF2-40B4-BE49-F238E27FC236}">
                <a16:creationId xmlns:a16="http://schemas.microsoft.com/office/drawing/2014/main" id="{BB58B0CF-4B2C-4933-99A1-F0BD503EDF00}"/>
              </a:ext>
            </a:extLst>
          </p:cNvPr>
          <p:cNvGraphicFramePr/>
          <p:nvPr/>
        </p:nvGraphicFramePr>
        <p:xfrm>
          <a:off xmlns:a="http://schemas.openxmlformats.org/drawingml/2006/main" x="628650" y="1924050"/>
          <a:ext xmlns:a="http://schemas.openxmlformats.org/drawingml/2006/main" cx="5248275" cy="3171825"/>
        </p:xfrm>
        <a:graphic xmlns:a="http://schemas.openxmlformats.org/drawingml/2006/main">
          <a:graphicData uri="http://schemas.openxmlformats.org/drawingml/2006/chart">
            <c:chart xmlns:r="http://schemas.openxmlformats.org/officeDocument/2006/relationships" xmlns:c="http://schemas.openxmlformats.org/drawingml/2006/chart" r:id="Re33e3304bb864a1b"/>
          </a:graphicData>
        </a:graphic>
      </p:graphicFrame>
      <p:graphicFrame>
        <p:nvGraphicFramePr>
          <p:cNvPr id="6" name="Chart">
            <a:extLst xmlns:a="http://schemas.openxmlformats.org/drawingml/2006/main">
              <a:ext uri="{FF2B5EF4-FFF2-40B4-BE49-F238E27FC236}">
                <a16:creationId xmlns:a16="http://schemas.microsoft.com/office/drawing/2014/main" id="{363F0AF6-F900-49BB-82E1-77B2D0DA40F5}"/>
              </a:ext>
            </a:extLst>
          </p:cNvPr>
          <p:cNvGraphicFramePr/>
          <p:nvPr/>
        </p:nvGraphicFramePr>
        <p:xfrm>
          <a:off xmlns:a="http://schemas.openxmlformats.org/drawingml/2006/main" x="6134100" y="1924050"/>
          <a:ext xmlns:a="http://schemas.openxmlformats.org/drawingml/2006/main" cx="5248275" cy="3171825"/>
        </p:xfrm>
        <a:graphic xmlns:a="http://schemas.openxmlformats.org/drawingml/2006/main">
          <a:graphicData uri="http://schemas.openxmlformats.org/drawingml/2006/chart">
            <c:chart xmlns:r="http://schemas.openxmlformats.org/officeDocument/2006/relationships" xmlns:c="http://schemas.openxmlformats.org/drawingml/2006/chart" r:id="R3326cb004b684c1f"/>
          </a:graphicData>
        </a:graphic>
      </p:graphicFrame>
      <p:sp>
        <p:nvSpPr>
          <p:cNvPr id="7" name="">
            <a:extLst xmlns:a="http://schemas.openxmlformats.org/drawingml/2006/main">
              <a:ext uri="{FF2B5EF4-FFF2-40B4-BE49-F238E27FC236}">
                <a16:creationId xmlns:a16="http://schemas.microsoft.com/office/drawing/2014/main" id="{08D7C428-71A1-4AF7-A6E5-3D94650F12FA}"/>
              </a:ext>
            </a:extLst>
          </p:cNvPr>
          <p:cNvSpPr>
            <a:spLocks xmlns:a="http://schemas.openxmlformats.org/drawingml/2006/main" noGrp="1"/>
          </p:cNvSpPr>
          <p:nvPr/>
        </p:nvSpPr>
        <p:spPr>
          <a:xfrm xmlns:a="http://schemas.openxmlformats.org/drawingml/2006/main">
            <a:off x="628650" y="5248275"/>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DC7841"/>
                </a:solidFill>
                <a:latin typeface="DejaVu Sans"/>
                <a:ea typeface="DejaVu Sans"/>
                <a:cs typeface="DejaVu Sans"/>
              </a:defRPr>
            </a:defPPr>
          </a:lstStyle>
          <a:p xmlns:a="http://schemas.openxmlformats.org/drawingml/2006/main">
            <a:pPr>
              <a:defRPr sz="2175" b="1">
                <a:solidFill>
                  <a:srgbClr val="DC7841"/>
                </a:solidFill>
                <a:latin typeface="DejaVu Sans"/>
                <a:ea typeface="DejaVu Sans"/>
                <a:cs typeface="DejaVu Sans"/>
              </a:defRPr>
            </a:pPr>
            <a:r>
              <a:rPr sz="2175" b="1">
                <a:solidFill>
                  <a:srgbClr val="DC7841"/>
                </a:solidFill>
                <a:latin typeface="DejaVu Sans"/>
                <a:ea typeface="DejaVu Sans"/>
                <a:cs typeface="DejaVu Sans"/>
              </a:rPr>
              <a:t>PPO used 23.51% more capacity than fixed. Cost goal failed.</a:t>
            </a:r>
          </a:p>
        </p:txBody>
      </p:sp>
      <p:sp>
        <p:nvSpPr>
          <p:cNvPr id="8" name="">
            <a:extLst xmlns:a="http://schemas.openxmlformats.org/drawingml/2006/main">
              <a:ext uri="{FF2B5EF4-FFF2-40B4-BE49-F238E27FC236}">
                <a16:creationId xmlns:a16="http://schemas.microsoft.com/office/drawing/2014/main" id="{7B4018CF-36A9-4B75-B6CF-0ECAAA1A810C}"/>
              </a:ext>
            </a:extLst>
          </p:cNvPr>
          <p:cNvSpPr>
            <a:spLocks xmlns:a="http://schemas.openxmlformats.org/drawingml/2006/main" noGrp="1"/>
          </p:cNvSpPr>
          <p:nvPr/>
        </p:nvSpPr>
        <p:spPr>
          <a:xfrm xmlns:a="http://schemas.openxmlformats.org/drawingml/2006/main">
            <a:off x="628650" y="583882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B6B7C"/>
                </a:solidFill>
                <a:latin typeface="DejaVu Sans"/>
                <a:ea typeface="DejaVu Sans"/>
                <a:cs typeface="DejaVu Sans"/>
              </a:defRPr>
            </a:defPPr>
          </a:lstStyle>
          <a:p xmlns:a="http://schemas.openxmlformats.org/drawingml/2006/main">
            <a:pPr>
              <a:defRPr sz="1800" b="0">
                <a:solidFill>
                  <a:srgbClr val="5B6B7C"/>
                </a:solidFill>
                <a:latin typeface="DejaVu Sans"/>
                <a:ea typeface="DejaVu Sans"/>
                <a:cs typeface="DejaVu Sans"/>
              </a:defRPr>
            </a:pPr>
            <a:r>
              <a:rPr sz="1800" b="0">
                <a:solidFill>
                  <a:srgbClr val="5B6B7C"/>
                </a:solidFill>
                <a:latin typeface="DejaVu Sans"/>
                <a:ea typeface="DejaVu Sans"/>
                <a:cs typeface="DejaVu Sans"/>
              </a:rPr>
              <a:t>About 172 invalid actions / 180 decisions: additions at the limit.</a:t>
            </a:r>
          </a:p>
        </p:txBody>
      </p:sp>
    </p:spTree>
    <p:extLst>
      <p:ext uri="{BB962C8B-B14F-4D97-AF65-F5344CB8AC3E}">
        <p14:creationId xmlns:p14="http://schemas.microsoft.com/office/powerpoint/2010/main" val="136801403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3E79AD-DB75-4E9F-BA89-2E2988477895}"/>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Workload and seed results matter</a:t>
            </a:r>
          </a:p>
        </p:txBody>
      </p:sp>
      <p:sp>
        <p:nvSpPr>
          <p:cNvPr id="2" name="">
            <a:extLst xmlns:a="http://schemas.openxmlformats.org/drawingml/2006/main">
              <a:ext uri="{FF2B5EF4-FFF2-40B4-BE49-F238E27FC236}">
                <a16:creationId xmlns:a16="http://schemas.microsoft.com/office/drawing/2014/main" id="{5CFA98F6-E4BC-422C-A5C8-10B4870B45A7}"/>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The 5% violation limit applies separately to each workload</a:t>
            </a:r>
          </a:p>
        </p:txBody>
      </p:sp>
      <p:sp>
        <p:nvSpPr>
          <p:cNvPr id="3" name="">
            <a:extLst xmlns:a="http://schemas.openxmlformats.org/drawingml/2006/main">
              <a:ext uri="{FF2B5EF4-FFF2-40B4-BE49-F238E27FC236}">
                <a16:creationId xmlns:a16="http://schemas.microsoft.com/office/drawing/2014/main" id="{D4F49B3A-C309-4A24-B56F-E187DC5DC5D6}"/>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601AA5D5-A3B8-4B8F-BBC1-59E570CB344E}"/>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12</a:t>
            </a:r>
          </a:p>
        </p:txBody>
      </p:sp>
      <p:graphicFrame>
        <p:nvGraphicFramePr>
          <p:cNvPr id="5" name="Chart">
            <a:extLst xmlns:a="http://schemas.openxmlformats.org/drawingml/2006/main">
              <a:ext uri="{FF2B5EF4-FFF2-40B4-BE49-F238E27FC236}">
                <a16:creationId xmlns:a16="http://schemas.microsoft.com/office/drawing/2014/main" id="{59DF2E70-48AD-42A8-BAC8-5009E6013687}"/>
              </a:ext>
            </a:extLst>
          </p:cNvPr>
          <p:cNvGraphicFramePr/>
          <p:nvPr/>
        </p:nvGraphicFramePr>
        <p:xfrm>
          <a:off xmlns:a="http://schemas.openxmlformats.org/drawingml/2006/main" x="628650" y="1914525"/>
          <a:ext xmlns:a="http://schemas.openxmlformats.org/drawingml/2006/main" cx="10906125" cy="3352800"/>
        </p:xfrm>
        <a:graphic xmlns:a="http://schemas.openxmlformats.org/drawingml/2006/main">
          <a:graphicData uri="http://schemas.openxmlformats.org/drawingml/2006/chart">
            <c:chart xmlns:r="http://schemas.openxmlformats.org/officeDocument/2006/relationships" xmlns:c="http://schemas.openxmlformats.org/drawingml/2006/chart" r:id="R10e14271a8904f1e"/>
          </a:graphicData>
        </a:graphic>
      </p:graphicFrame>
      <p:sp>
        <p:nvSpPr>
          <p:cNvPr id="6" name="">
            <a:extLst xmlns:a="http://schemas.openxmlformats.org/drawingml/2006/main">
              <a:ext uri="{FF2B5EF4-FFF2-40B4-BE49-F238E27FC236}">
                <a16:creationId xmlns:a16="http://schemas.microsoft.com/office/drawing/2014/main" id="{FC9E9239-BE21-40F4-9515-20B6E80BA13A}"/>
              </a:ext>
            </a:extLst>
          </p:cNvPr>
          <p:cNvSpPr>
            <a:spLocks xmlns:a="http://schemas.openxmlformats.org/drawingml/2006/main" noGrp="1"/>
          </p:cNvSpPr>
          <p:nvPr/>
        </p:nvSpPr>
        <p:spPr>
          <a:xfrm xmlns:a="http://schemas.openxmlformats.org/drawingml/2006/main">
            <a:off x="628650" y="545782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DC7841"/>
                </a:solidFill>
                <a:latin typeface="DejaVu Sans"/>
                <a:ea typeface="DejaVu Sans"/>
                <a:cs typeface="DejaVu Sans"/>
              </a:defRPr>
            </a:defPPr>
          </a:lstStyle>
          <a:p xmlns:a="http://schemas.openxmlformats.org/drawingml/2006/main">
            <a:pPr>
              <a:defRPr sz="2100" b="1">
                <a:solidFill>
                  <a:srgbClr val="DC7841"/>
                </a:solidFill>
                <a:latin typeface="DejaVu Sans"/>
                <a:ea typeface="DejaVu Sans"/>
                <a:cs typeface="DejaVu Sans"/>
              </a:defRPr>
            </a:pPr>
            <a:r>
              <a:rPr sz="2100" b="1">
                <a:solidFill>
                  <a:srgbClr val="DC7841"/>
                </a:solidFill>
                <a:latin typeface="DejaVu Sans"/>
                <a:ea typeface="DejaVu Sans"/>
                <a:cs typeface="DejaVu Sans"/>
              </a:rPr>
              <a:t>PPO steady mean: 5.05% → narrowly misses the limit.</a:t>
            </a:r>
          </a:p>
        </p:txBody>
      </p:sp>
      <p:sp>
        <p:nvSpPr>
          <p:cNvPr id="7" name="">
            <a:extLst xmlns:a="http://schemas.openxmlformats.org/drawingml/2006/main">
              <a:ext uri="{FF2B5EF4-FFF2-40B4-BE49-F238E27FC236}">
                <a16:creationId xmlns:a16="http://schemas.microsoft.com/office/drawing/2014/main" id="{95D265E2-7442-412F-85B5-17918CC5B777}"/>
              </a:ext>
            </a:extLst>
          </p:cNvPr>
          <p:cNvSpPr>
            <a:spLocks xmlns:a="http://schemas.openxmlformats.org/drawingml/2006/main" noGrp="1"/>
          </p:cNvSpPr>
          <p:nvPr/>
        </p:nvSpPr>
        <p:spPr>
          <a:xfrm xmlns:a="http://schemas.openxmlformats.org/drawingml/2006/main">
            <a:off x="628650" y="5953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B6B7C"/>
                </a:solidFill>
                <a:latin typeface="DejaVu Sans"/>
                <a:ea typeface="DejaVu Sans"/>
                <a:cs typeface="DejaVu Sans"/>
              </a:defRPr>
            </a:defPPr>
          </a:lstStyle>
          <a:p xmlns:a="http://schemas.openxmlformats.org/drawingml/2006/main">
            <a:pPr>
              <a:defRPr sz="1725" b="0">
                <a:solidFill>
                  <a:srgbClr val="5B6B7C"/>
                </a:solidFill>
                <a:latin typeface="DejaVu Sans"/>
                <a:ea typeface="DejaVu Sans"/>
                <a:cs typeface="DejaVu Sans"/>
              </a:defRPr>
            </a:pPr>
            <a:r>
              <a:rPr sz="1725" b="0">
                <a:solidFill>
                  <a:srgbClr val="5B6B7C"/>
                </a:solidFill>
                <a:latin typeface="DejaVu Sans"/>
                <a:ea typeface="DejaVu Sans"/>
                <a:cs typeface="DejaVu Sans"/>
              </a:rPr>
              <a:t>Across seeds: 1.81–5.11% overall violations. No significance claim.</a:t>
            </a:r>
          </a:p>
        </p:txBody>
      </p:sp>
    </p:spTree>
    <p:extLst>
      <p:ext uri="{BB962C8B-B14F-4D97-AF65-F5344CB8AC3E}">
        <p14:creationId xmlns:p14="http://schemas.microsoft.com/office/powerpoint/2010/main" val="56359187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8D2ABE7-E05F-425D-88EE-FDF7E25A373C}"/>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Demonstration: actual policy replay</a:t>
            </a:r>
          </a:p>
        </p:txBody>
      </p:sp>
      <p:sp>
        <p:nvSpPr>
          <p:cNvPr id="2" name="">
            <a:extLst xmlns:a="http://schemas.openxmlformats.org/drawingml/2006/main">
              <a:ext uri="{FF2B5EF4-FFF2-40B4-BE49-F238E27FC236}">
                <a16:creationId xmlns:a16="http://schemas.microsoft.com/office/drawing/2014/main" id="{DF2C603E-A683-422F-A391-A4582D0E7D46}"/>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Play agent_demo.mp4 with your webcam and narration active</a:t>
            </a:r>
          </a:p>
        </p:txBody>
      </p:sp>
      <p:sp>
        <p:nvSpPr>
          <p:cNvPr id="3" name="">
            <a:extLst xmlns:a="http://schemas.openxmlformats.org/drawingml/2006/main">
              <a:ext uri="{FF2B5EF4-FFF2-40B4-BE49-F238E27FC236}">
                <a16:creationId xmlns:a16="http://schemas.microsoft.com/office/drawing/2014/main" id="{23C2DA6D-06FB-432D-BAE0-DA645CFBE975}"/>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7EACE5A0-B420-4389-BAE3-8F78652EB3AE}"/>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13</a:t>
            </a:r>
          </a:p>
        </p:txBody>
      </p:sp>
      <p:pic>
        <p:nvPicPr>
          <p:cNvPr id="5" name="">
            <a:extLst xmlns:a="http://schemas.openxmlformats.org/drawingml/2006/main">
              <a:ext uri="{FF2B5EF4-FFF2-40B4-BE49-F238E27FC236}">
                <a16:creationId xmlns:a16="http://schemas.microsoft.com/office/drawing/2014/main" id="{9D15B7EC-A803-4EDD-9078-678BC5890333}"/>
              </a:ext>
            </a:extLst>
          </p:cNvPr>
          <p:cNvPicPr>
            <a:picLocks xmlns:a="http://schemas.openxmlformats.org/drawingml/2006/main" noChangeAspect="1"/>
          </p:cNvPicPr>
          <p:nvPr/>
        </p:nvPicPr>
        <p:blipFill>
          <a:blip xmlns:r="http://schemas.openxmlformats.org/officeDocument/2006/relationships" xmlns:a="http://schemas.openxmlformats.org/drawingml/2006/main" r:embed="R1ff7bb6a06f44229"/>
          <a:stretch xmlns:a="http://schemas.openxmlformats.org/drawingml/2006/main"/>
        </p:blipFill>
        <p:spPr>
          <a:xfrm xmlns:a="http://schemas.openxmlformats.org/drawingml/2006/main">
            <a:off x="730250" y="1828800"/>
            <a:ext cx="7874000" cy="44291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5D76237-1BB7-4787-8B93-B975DAE886E4}"/>
              </a:ext>
            </a:extLst>
          </p:cNvPr>
          <p:cNvSpPr>
            <a:spLocks xmlns:a="http://schemas.openxmlformats.org/drawingml/2006/main" noGrp="1"/>
          </p:cNvSpPr>
          <p:nvPr/>
        </p:nvSpPr>
        <p:spPr>
          <a:xfrm xmlns:a="http://schemas.openxmlformats.org/drawingml/2006/main">
            <a:off x="8924925" y="1962150"/>
            <a:ext cx="2619375" cy="3705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63A4E"/>
                </a:solidFill>
                <a:latin typeface="DejaVu Sans"/>
                <a:ea typeface="DejaVu Sans"/>
                <a:cs typeface="DejaVu Sans"/>
              </a:defRPr>
            </a:defPPr>
          </a:lstStyle>
          <a:p xmlns:a="http://schemas.openxmlformats.org/drawingml/2006/main">
            <a:pPr>
              <a:defRPr sz="1800" b="0">
                <a:solidFill>
                  <a:srgbClr val="263A4E"/>
                </a:solidFill>
                <a:latin typeface="DejaVu Sans"/>
                <a:ea typeface="DejaVu Sans"/>
                <a:cs typeface="DejaVu Sans"/>
              </a:defRPr>
            </a:pPr>
            <a:r>
              <a:rPr sz="1800" b="0">
                <a:solidFill>
                  <a:srgbClr val="263A4E"/>
                </a:solidFill>
                <a:latin typeface="DejaVu Sans"/>
                <a:ea typeface="DejaVu Sans"/>
                <a:cs typeface="DejaVu Sans"/>
              </a:rPr>
              <a:t>60-second replay</a:t>
            </a:r>
          </a:p>
          <a:p xmlns:a="http://schemas.openxmlformats.org/drawingml/2006/main">
            <a:r>
              <a:t/>
            </a:r>
          </a:p>
          <a:p xmlns:a="http://schemas.openxmlformats.org/drawingml/2006/main">
            <a:pPr>
              <a:defRPr sz="1800" b="0">
                <a:solidFill>
                  <a:srgbClr val="263A4E"/>
                </a:solidFill>
                <a:latin typeface="DejaVu Sans"/>
                <a:ea typeface="DejaVu Sans"/>
                <a:cs typeface="DejaVu Sans"/>
              </a:defRPr>
            </a:pPr>
            <a:r>
              <a:rPr sz="1800" b="0">
                <a:solidFill>
                  <a:srgbClr val="263A4E"/>
                </a:solidFill>
                <a:latin typeface="DejaVu Sans"/>
                <a:ea typeface="DejaVu Sans"/>
                <a:cs typeface="DejaVu Sans"/>
              </a:rPr>
              <a:t>Steady → periodic → bursty</a:t>
            </a:r>
          </a:p>
          <a:p xmlns:a="http://schemas.openxmlformats.org/drawingml/2006/main">
            <a:r>
              <a:t/>
            </a:r>
          </a:p>
          <a:p xmlns:a="http://schemas.openxmlformats.org/drawingml/2006/main">
            <a:pPr>
              <a:defRPr sz="1800" b="0">
                <a:solidFill>
                  <a:srgbClr val="263A4E"/>
                </a:solidFill>
                <a:latin typeface="DejaVu Sans"/>
                <a:ea typeface="DejaVu Sans"/>
                <a:cs typeface="DejaVu Sans"/>
              </a:defRPr>
            </a:pPr>
            <a:r>
              <a:rPr sz="1800" b="0">
                <a:solidFill>
                  <a:srgbClr val="263A4E"/>
                </a:solidFill>
                <a:latin typeface="DejaVu Sans"/>
                <a:ea typeface="DejaVu Sans"/>
                <a:cs typeface="DejaVu Sans"/>
              </a:rPr>
              <a:t>Full curves shown; cursor marks replay time.</a:t>
            </a:r>
          </a:p>
          <a:p xmlns:a="http://schemas.openxmlformats.org/drawingml/2006/main">
            <a:r>
              <a:t/>
            </a:r>
          </a:p>
          <a:p xmlns:a="http://schemas.openxmlformats.org/drawingml/2006/main">
            <a:pPr>
              <a:defRPr sz="1800" b="0">
                <a:solidFill>
                  <a:srgbClr val="263A4E"/>
                </a:solidFill>
                <a:latin typeface="DejaVu Sans"/>
                <a:ea typeface="DejaVu Sans"/>
                <a:cs typeface="DejaVu Sans"/>
              </a:defRPr>
            </a:pPr>
            <a:r>
              <a:rPr sz="1800" b="0">
                <a:solidFill>
                  <a:srgbClr val="263A4E"/>
                </a:solidFill>
                <a:latin typeface="DejaVu Sans"/>
                <a:ea typeface="DejaVu Sans"/>
                <a:cs typeface="DejaVu Sans"/>
              </a:rPr>
              <a:t>Policy seed 2: selected by validation.</a:t>
            </a:r>
          </a:p>
        </p:txBody>
      </p:sp>
      <p:sp>
        <p:nvSpPr>
          <p:cNvPr id="7" name="">
            <a:extLst xmlns:a="http://schemas.openxmlformats.org/drawingml/2006/main">
              <a:ext uri="{FF2B5EF4-FFF2-40B4-BE49-F238E27FC236}">
                <a16:creationId xmlns:a16="http://schemas.microsoft.com/office/drawing/2014/main" id="{ED8D6CC6-9E45-4060-A600-53E6E83A123D}"/>
              </a:ext>
            </a:extLst>
          </p:cNvPr>
          <p:cNvSpPr>
            <a:spLocks xmlns:a="http://schemas.openxmlformats.org/drawingml/2006/main" noGrp="1"/>
          </p:cNvSpPr>
          <p:nvPr/>
        </p:nvSpPr>
        <p:spPr>
          <a:xfrm xmlns:a="http://schemas.openxmlformats.org/drawingml/2006/main">
            <a:off x="8934450" y="5724525"/>
            <a:ext cx="2619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Three traces illustrate behavior. Use aggregate metrics for conclusions.</a:t>
            </a:r>
          </a:p>
        </p:txBody>
      </p:sp>
    </p:spTree>
    <p:extLst>
      <p:ext uri="{BB962C8B-B14F-4D97-AF65-F5344CB8AC3E}">
        <p14:creationId xmlns:p14="http://schemas.microsoft.com/office/powerpoint/2010/main" val="16675553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9F5639-EA13-4AA9-BDDB-418DE729CF27}"/>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Reliability and ethical considerations</a:t>
            </a:r>
          </a:p>
        </p:txBody>
      </p:sp>
      <p:sp>
        <p:nvSpPr>
          <p:cNvPr id="2" name="">
            <a:extLst xmlns:a="http://schemas.openxmlformats.org/drawingml/2006/main">
              <a:ext uri="{FF2B5EF4-FFF2-40B4-BE49-F238E27FC236}">
                <a16:creationId xmlns:a16="http://schemas.microsoft.com/office/drawing/2014/main" id="{FA693E7A-1861-4F49-964F-4C06A2A1BBAE}"/>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Simulation evidence supports a prototype, not production deployment</a:t>
            </a:r>
          </a:p>
        </p:txBody>
      </p:sp>
      <p:sp>
        <p:nvSpPr>
          <p:cNvPr id="3" name="">
            <a:extLst xmlns:a="http://schemas.openxmlformats.org/drawingml/2006/main">
              <a:ext uri="{FF2B5EF4-FFF2-40B4-BE49-F238E27FC236}">
                <a16:creationId xmlns:a16="http://schemas.microsoft.com/office/drawing/2014/main" id="{E1044CBC-C5D8-4D77-B6BB-8CAE6FB8A99B}"/>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04D4EA9D-33B2-47F0-9FF3-4FAEC4901B64}"/>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14</a:t>
            </a:r>
          </a:p>
        </p:txBody>
      </p:sp>
      <p:sp>
        <p:nvSpPr>
          <p:cNvPr id="5" name="">
            <a:extLst xmlns:a="http://schemas.openxmlformats.org/drawingml/2006/main">
              <a:ext uri="{FF2B5EF4-FFF2-40B4-BE49-F238E27FC236}">
                <a16:creationId xmlns:a16="http://schemas.microsoft.com/office/drawing/2014/main" id="{37D186EA-C4C1-4F87-A4FF-0FEBA0278BD4}"/>
              </a:ext>
            </a:extLst>
          </p:cNvPr>
          <p:cNvSpPr>
            <a:spLocks xmlns:a="http://schemas.openxmlformats.org/drawingml/2006/main" noGrp="1"/>
          </p:cNvSpPr>
          <p:nvPr/>
        </p:nvSpPr>
        <p:spPr>
          <a:xfrm xmlns:a="http://schemas.openxmlformats.org/drawingml/2006/main">
            <a:off x="628650" y="20383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Service reliability and fairness</a:t>
            </a:r>
          </a:p>
        </p:txBody>
      </p:sp>
      <p:sp>
        <p:nvSpPr>
          <p:cNvPr id="6" name="">
            <a:extLst xmlns:a="http://schemas.openxmlformats.org/drawingml/2006/main">
              <a:ext uri="{FF2B5EF4-FFF2-40B4-BE49-F238E27FC236}">
                <a16:creationId xmlns:a16="http://schemas.microsoft.com/office/drawing/2014/main" id="{71367C93-B92C-454C-847C-AF188B064D8B}"/>
              </a:ext>
            </a:extLst>
          </p:cNvPr>
          <p:cNvSpPr>
            <a:spLocks xmlns:a="http://schemas.openxmlformats.org/drawingml/2006/main" noGrp="1"/>
          </p:cNvSpPr>
          <p:nvPr/>
        </p:nvSpPr>
        <p:spPr>
          <a:xfrm xmlns:a="http://schemas.openxmlformats.org/drawingml/2006/main">
            <a:off x="628650" y="24384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Drops and delays matter. No user groups or fairness metrics modeled.</a:t>
            </a:r>
          </a:p>
        </p:txBody>
      </p:sp>
      <p:sp>
        <p:nvSpPr>
          <p:cNvPr id="7" name="">
            <a:extLst xmlns:a="http://schemas.openxmlformats.org/drawingml/2006/main">
              <a:ext uri="{FF2B5EF4-FFF2-40B4-BE49-F238E27FC236}">
                <a16:creationId xmlns:a16="http://schemas.microsoft.com/office/drawing/2014/main" id="{8FDD5806-6AF5-4FEA-AEE7-465D68497348}"/>
              </a:ext>
            </a:extLst>
          </p:cNvPr>
          <p:cNvSpPr>
            <a:spLocks xmlns:a="http://schemas.openxmlformats.org/drawingml/2006/main" noGrp="1"/>
          </p:cNvSpPr>
          <p:nvPr/>
        </p:nvSpPr>
        <p:spPr>
          <a:xfrm xmlns:a="http://schemas.openxmlformats.org/drawingml/2006/main">
            <a:off x="628650" y="327660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Resource use and accountability</a:t>
            </a:r>
          </a:p>
        </p:txBody>
      </p:sp>
      <p:sp>
        <p:nvSpPr>
          <p:cNvPr id="8" name="">
            <a:extLst xmlns:a="http://schemas.openxmlformats.org/drawingml/2006/main">
              <a:ext uri="{FF2B5EF4-FFF2-40B4-BE49-F238E27FC236}">
                <a16:creationId xmlns:a16="http://schemas.microsoft.com/office/drawing/2014/main" id="{82FE54F9-4439-418E-AEE2-00CE43F5B02C}"/>
              </a:ext>
            </a:extLst>
          </p:cNvPr>
          <p:cNvSpPr>
            <a:spLocks xmlns:a="http://schemas.openxmlformats.org/drawingml/2006/main" noGrp="1"/>
          </p:cNvSpPr>
          <p:nvPr/>
        </p:nvSpPr>
        <p:spPr>
          <a:xfrm xmlns:a="http://schemas.openxmlformats.org/drawingml/2006/main">
            <a:off x="628650" y="36766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Replica-seconds measure capacity, not spending or emissions.</a:t>
            </a:r>
          </a:p>
        </p:txBody>
      </p:sp>
      <p:sp>
        <p:nvSpPr>
          <p:cNvPr id="9" name="">
            <a:extLst xmlns:a="http://schemas.openxmlformats.org/drawingml/2006/main">
              <a:ext uri="{FF2B5EF4-FFF2-40B4-BE49-F238E27FC236}">
                <a16:creationId xmlns:a16="http://schemas.microsoft.com/office/drawing/2014/main" id="{2E1AECFE-A95F-4EB1-81A4-C0DA9F6C7CD1}"/>
              </a:ext>
            </a:extLst>
          </p:cNvPr>
          <p:cNvSpPr>
            <a:spLocks xmlns:a="http://schemas.openxmlformats.org/drawingml/2006/main" noGrp="1"/>
          </p:cNvSpPr>
          <p:nvPr/>
        </p:nvSpPr>
        <p:spPr>
          <a:xfrm xmlns:a="http://schemas.openxmlformats.org/drawingml/2006/main">
            <a:off x="628650" y="45148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Safeguards before deployment</a:t>
            </a:r>
          </a:p>
        </p:txBody>
      </p:sp>
      <p:sp>
        <p:nvSpPr>
          <p:cNvPr id="10" name="">
            <a:extLst xmlns:a="http://schemas.openxmlformats.org/drawingml/2006/main">
              <a:ext uri="{FF2B5EF4-FFF2-40B4-BE49-F238E27FC236}">
                <a16:creationId xmlns:a16="http://schemas.microsoft.com/office/drawing/2014/main" id="{41ADF9E4-B2FC-4D4D-B95C-FF3A7E64E952}"/>
              </a:ext>
            </a:extLst>
          </p:cNvPr>
          <p:cNvSpPr>
            <a:spLocks xmlns:a="http://schemas.openxmlformats.org/drawingml/2006/main" noGrp="1"/>
          </p:cNvSpPr>
          <p:nvPr/>
        </p:nvSpPr>
        <p:spPr>
          <a:xfrm xmlns:a="http://schemas.openxmlformats.org/drawingml/2006/main">
            <a:off x="628650" y="49149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Hard limits, monitoring, fallback controller, rollback, controlled testing.</a:t>
            </a:r>
          </a:p>
        </p:txBody>
      </p:sp>
    </p:spTree>
    <p:extLst>
      <p:ext uri="{BB962C8B-B14F-4D97-AF65-F5344CB8AC3E}">
        <p14:creationId xmlns:p14="http://schemas.microsoft.com/office/powerpoint/2010/main" val="162799725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C0F578-C52A-4886-B163-A22DE8DB3A9F}"/>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What I learned and what comes next</a:t>
            </a:r>
          </a:p>
        </p:txBody>
      </p:sp>
      <p:sp>
        <p:nvSpPr>
          <p:cNvPr id="2" name="">
            <a:extLst xmlns:a="http://schemas.openxmlformats.org/drawingml/2006/main">
              <a:ext uri="{FF2B5EF4-FFF2-40B4-BE49-F238E27FC236}">
                <a16:creationId xmlns:a16="http://schemas.microsoft.com/office/drawing/2014/main" id="{2695BDF8-3CE7-482B-8EFA-CA327D409934}"/>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Working implementation; original two-part goal not met</a:t>
            </a:r>
          </a:p>
        </p:txBody>
      </p:sp>
      <p:sp>
        <p:nvSpPr>
          <p:cNvPr id="3" name="">
            <a:extLst xmlns:a="http://schemas.openxmlformats.org/drawingml/2006/main">
              <a:ext uri="{FF2B5EF4-FFF2-40B4-BE49-F238E27FC236}">
                <a16:creationId xmlns:a16="http://schemas.microsoft.com/office/drawing/2014/main" id="{730E5513-A0A7-4463-8FD8-3326A5752F45}"/>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D172FCA4-3658-473A-924F-00D92425445A}"/>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15</a:t>
            </a:r>
          </a:p>
        </p:txBody>
      </p:sp>
      <p:sp>
        <p:nvSpPr>
          <p:cNvPr id="5" name="">
            <a:extLst xmlns:a="http://schemas.openxmlformats.org/drawingml/2006/main">
              <a:ext uri="{FF2B5EF4-FFF2-40B4-BE49-F238E27FC236}">
                <a16:creationId xmlns:a16="http://schemas.microsoft.com/office/drawing/2014/main" id="{47BA2C1D-16CD-405A-931A-BE67A4EADAE0}"/>
              </a:ext>
            </a:extLst>
          </p:cNvPr>
          <p:cNvSpPr>
            <a:spLocks xmlns:a="http://schemas.openxmlformats.org/drawingml/2006/main" noGrp="1"/>
          </p:cNvSpPr>
          <p:nvPr/>
        </p:nvSpPr>
        <p:spPr>
          <a:xfrm xmlns:a="http://schemas.openxmlformats.org/drawingml/2006/main">
            <a:off x="628650" y="209550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Finding</a:t>
            </a:r>
          </a:p>
        </p:txBody>
      </p:sp>
      <p:sp>
        <p:nvSpPr>
          <p:cNvPr id="6" name="">
            <a:extLst xmlns:a="http://schemas.openxmlformats.org/drawingml/2006/main">
              <a:ext uri="{FF2B5EF4-FFF2-40B4-BE49-F238E27FC236}">
                <a16:creationId xmlns:a16="http://schemas.microsoft.com/office/drawing/2014/main" id="{003B7E2F-2EA4-4D53-9BE5-876298378AA8}"/>
              </a:ext>
            </a:extLst>
          </p:cNvPr>
          <p:cNvSpPr>
            <a:spLocks xmlns:a="http://schemas.openxmlformats.org/drawingml/2006/main" noGrp="1"/>
          </p:cNvSpPr>
          <p:nvPr/>
        </p:nvSpPr>
        <p:spPr>
          <a:xfrm xmlns:a="http://schemas.openxmlformats.org/drawingml/2006/main">
            <a:off x="628650" y="24955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Lower average violations, but 23.51% more capacity than fixed.</a:t>
            </a:r>
          </a:p>
        </p:txBody>
      </p:sp>
      <p:sp>
        <p:nvSpPr>
          <p:cNvPr id="7" name="">
            <a:extLst xmlns:a="http://schemas.openxmlformats.org/drawingml/2006/main">
              <a:ext uri="{FF2B5EF4-FFF2-40B4-BE49-F238E27FC236}">
                <a16:creationId xmlns:a16="http://schemas.microsoft.com/office/drawing/2014/main" id="{CCC80A23-5ECD-4205-BCCB-3ED486002436}"/>
              </a:ext>
            </a:extLst>
          </p:cNvPr>
          <p:cNvSpPr>
            <a:spLocks xmlns:a="http://schemas.openxmlformats.org/drawingml/2006/main" noGrp="1"/>
          </p:cNvSpPr>
          <p:nvPr/>
        </p:nvSpPr>
        <p:spPr>
          <a:xfrm xmlns:a="http://schemas.openxmlformats.org/drawingml/2006/main">
            <a:off x="628650" y="32861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Next experiments</a:t>
            </a:r>
          </a:p>
        </p:txBody>
      </p:sp>
      <p:sp>
        <p:nvSpPr>
          <p:cNvPr id="8" name="">
            <a:extLst xmlns:a="http://schemas.openxmlformats.org/drawingml/2006/main">
              <a:ext uri="{FF2B5EF4-FFF2-40B4-BE49-F238E27FC236}">
                <a16:creationId xmlns:a16="http://schemas.microsoft.com/office/drawing/2014/main" id="{AEDAA803-6401-4FE6-B202-9AFB93EF1E43}"/>
              </a:ext>
            </a:extLst>
          </p:cNvPr>
          <p:cNvSpPr>
            <a:spLocks xmlns:a="http://schemas.openxmlformats.org/drawingml/2006/main" noGrp="1"/>
          </p:cNvSpPr>
          <p:nvPr/>
        </p:nvSpPr>
        <p:spPr>
          <a:xfrm xmlns:a="http://schemas.openxmlformats.org/drawingml/2006/main">
            <a:off x="628650" y="36861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Mask invalid actions; study reward balance; strengthen baselines.</a:t>
            </a:r>
          </a:p>
        </p:txBody>
      </p:sp>
      <p:sp>
        <p:nvSpPr>
          <p:cNvPr id="9" name="">
            <a:extLst xmlns:a="http://schemas.openxmlformats.org/drawingml/2006/main">
              <a:ext uri="{FF2B5EF4-FFF2-40B4-BE49-F238E27FC236}">
                <a16:creationId xmlns:a16="http://schemas.microsoft.com/office/drawing/2014/main" id="{9AC8E07B-4CBD-413B-A973-1BBEE2D103A8}"/>
              </a:ext>
            </a:extLst>
          </p:cNvPr>
          <p:cNvSpPr>
            <a:spLocks xmlns:a="http://schemas.openxmlformats.org/drawingml/2006/main" noGrp="1"/>
          </p:cNvSpPr>
          <p:nvPr/>
        </p:nvSpPr>
        <p:spPr>
          <a:xfrm xmlns:a="http://schemas.openxmlformats.org/drawingml/2006/main">
            <a:off x="628650" y="44767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Then broaden validation</a:t>
            </a:r>
          </a:p>
        </p:txBody>
      </p:sp>
      <p:sp>
        <p:nvSpPr>
          <p:cNvPr id="10" name="">
            <a:extLst xmlns:a="http://schemas.openxmlformats.org/drawingml/2006/main">
              <a:ext uri="{FF2B5EF4-FFF2-40B4-BE49-F238E27FC236}">
                <a16:creationId xmlns:a16="http://schemas.microsoft.com/office/drawing/2014/main" id="{3B9057DE-8FBF-47A2-8861-D3A75E4984EC}"/>
              </a:ext>
            </a:extLst>
          </p:cNvPr>
          <p:cNvSpPr>
            <a:spLocks xmlns:a="http://schemas.openxmlformats.org/drawingml/2006/main" noGrp="1"/>
          </p:cNvSpPr>
          <p:nvPr/>
        </p:nvSpPr>
        <p:spPr>
          <a:xfrm xmlns:a="http://schemas.openxmlformats.org/drawingml/2006/main">
            <a:off x="628650" y="48768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More workloads and seeds, fresh held-out tests, eventually real traces.</a:t>
            </a:r>
          </a:p>
        </p:txBody>
      </p:sp>
    </p:spTree>
    <p:extLst>
      <p:ext uri="{BB962C8B-B14F-4D97-AF65-F5344CB8AC3E}">
        <p14:creationId xmlns:p14="http://schemas.microsoft.com/office/powerpoint/2010/main" val="181154606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4EF3FCB-B101-4BCA-8B9A-D2460BCD5EAE}"/>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References and AI disclosure</a:t>
            </a:r>
          </a:p>
        </p:txBody>
      </p:sp>
      <p:sp>
        <p:nvSpPr>
          <p:cNvPr id="2" name="">
            <a:extLst xmlns:a="http://schemas.openxmlformats.org/drawingml/2006/main">
              <a:ext uri="{FF2B5EF4-FFF2-40B4-BE49-F238E27FC236}">
                <a16:creationId xmlns:a16="http://schemas.microsoft.com/office/drawing/2014/main" id="{A8A1AD9C-7D21-4062-AC07-9FAD8F9E50E8}"/>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Research links and full titles are also in the repository README</a:t>
            </a:r>
          </a:p>
        </p:txBody>
      </p:sp>
      <p:sp>
        <p:nvSpPr>
          <p:cNvPr id="3" name="">
            <a:extLst xmlns:a="http://schemas.openxmlformats.org/drawingml/2006/main">
              <a:ext uri="{FF2B5EF4-FFF2-40B4-BE49-F238E27FC236}">
                <a16:creationId xmlns:a16="http://schemas.microsoft.com/office/drawing/2014/main" id="{0A5D5CF7-C67F-4A41-A5D9-84EAD302AB0A}"/>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8105C741-DA62-45C5-81A8-B24A2C54A505}"/>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16</a:t>
            </a:r>
          </a:p>
        </p:txBody>
      </p:sp>
      <p:sp>
        <p:nvSpPr>
          <p:cNvPr id="5" name="">
            <a:extLst xmlns:a="http://schemas.openxmlformats.org/drawingml/2006/main">
              <a:ext uri="{FF2B5EF4-FFF2-40B4-BE49-F238E27FC236}">
                <a16:creationId xmlns:a16="http://schemas.microsoft.com/office/drawing/2014/main" id="{512499B9-2522-4582-A94B-E63E6B9BB308}"/>
              </a:ext>
            </a:extLst>
          </p:cNvPr>
          <p:cNvSpPr>
            <a:spLocks xmlns:a="http://schemas.openxmlformats.org/drawingml/2006/main" noGrp="1"/>
          </p:cNvSpPr>
          <p:nvPr/>
        </p:nvSpPr>
        <p:spPr>
          <a:xfrm xmlns:a="http://schemas.openxmlformats.org/drawingml/2006/main">
            <a:off x="628650" y="19526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Schulman et al. (2017)</a:t>
            </a:r>
          </a:p>
        </p:txBody>
      </p:sp>
      <p:sp>
        <p:nvSpPr>
          <p:cNvPr id="6" name="">
            <a:extLst xmlns:a="http://schemas.openxmlformats.org/drawingml/2006/main">
              <a:ext uri="{FF2B5EF4-FFF2-40B4-BE49-F238E27FC236}">
                <a16:creationId xmlns:a16="http://schemas.microsoft.com/office/drawing/2014/main" id="{223EF201-F343-4BBF-B45F-03F4CA33CF79}"/>
              </a:ext>
            </a:extLst>
          </p:cNvPr>
          <p:cNvSpPr>
            <a:spLocks xmlns:a="http://schemas.openxmlformats.org/drawingml/2006/main" noGrp="1"/>
          </p:cNvSpPr>
          <p:nvPr/>
        </p:nvSpPr>
        <p:spPr>
          <a:xfrm xmlns:a="http://schemas.openxmlformats.org/drawingml/2006/main">
            <a:off x="628650" y="23050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Proximal Policy Optimization Algorithms</a:t>
            </a:r>
          </a:p>
        </p:txBody>
      </p:sp>
      <p:sp>
        <p:nvSpPr>
          <p:cNvPr id="7" name="">
            <a:extLst xmlns:a="http://schemas.openxmlformats.org/drawingml/2006/main">
              <a:ext uri="{FF2B5EF4-FFF2-40B4-BE49-F238E27FC236}">
                <a16:creationId xmlns:a16="http://schemas.microsoft.com/office/drawing/2014/main" id="{6894F1D5-17CD-45DE-8526-27D7FA03D209}"/>
              </a:ext>
            </a:extLst>
          </p:cNvPr>
          <p:cNvSpPr>
            <a:spLocks xmlns:a="http://schemas.openxmlformats.org/drawingml/2006/main" noGrp="1"/>
          </p:cNvSpPr>
          <p:nvPr/>
        </p:nvSpPr>
        <p:spPr>
          <a:xfrm xmlns:a="http://schemas.openxmlformats.org/drawingml/2006/main">
            <a:off x="628650" y="27717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Schulman et al. (2015)</a:t>
            </a:r>
          </a:p>
        </p:txBody>
      </p:sp>
      <p:sp>
        <p:nvSpPr>
          <p:cNvPr id="8" name="">
            <a:extLst xmlns:a="http://schemas.openxmlformats.org/drawingml/2006/main">
              <a:ext uri="{FF2B5EF4-FFF2-40B4-BE49-F238E27FC236}">
                <a16:creationId xmlns:a16="http://schemas.microsoft.com/office/drawing/2014/main" id="{E151C78D-FBB6-4113-8393-87A6BBB50A05}"/>
              </a:ext>
            </a:extLst>
          </p:cNvPr>
          <p:cNvSpPr>
            <a:spLocks xmlns:a="http://schemas.openxmlformats.org/drawingml/2006/main" noGrp="1"/>
          </p:cNvSpPr>
          <p:nvPr/>
        </p:nvSpPr>
        <p:spPr>
          <a:xfrm xmlns:a="http://schemas.openxmlformats.org/drawingml/2006/main">
            <a:off x="628650" y="312420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Generalized Advantage Estimation</a:t>
            </a:r>
          </a:p>
        </p:txBody>
      </p:sp>
      <p:sp>
        <p:nvSpPr>
          <p:cNvPr id="9" name="">
            <a:extLst xmlns:a="http://schemas.openxmlformats.org/drawingml/2006/main">
              <a:ext uri="{FF2B5EF4-FFF2-40B4-BE49-F238E27FC236}">
                <a16:creationId xmlns:a16="http://schemas.microsoft.com/office/drawing/2014/main" id="{D280B95D-AD76-4A9C-9880-EBBF18336D0E}"/>
              </a:ext>
            </a:extLst>
          </p:cNvPr>
          <p:cNvSpPr>
            <a:spLocks xmlns:a="http://schemas.openxmlformats.org/drawingml/2006/main" noGrp="1"/>
          </p:cNvSpPr>
          <p:nvPr/>
        </p:nvSpPr>
        <p:spPr>
          <a:xfrm xmlns:a="http://schemas.openxmlformats.org/drawingml/2006/main">
            <a:off x="628650" y="35909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Barrett et al. (2013)</a:t>
            </a:r>
          </a:p>
        </p:txBody>
      </p:sp>
      <p:sp>
        <p:nvSpPr>
          <p:cNvPr id="10" name="">
            <a:extLst xmlns:a="http://schemas.openxmlformats.org/drawingml/2006/main">
              <a:ext uri="{FF2B5EF4-FFF2-40B4-BE49-F238E27FC236}">
                <a16:creationId xmlns:a16="http://schemas.microsoft.com/office/drawing/2014/main" id="{B8BCA1AB-D1F5-42AE-94F3-1E080037A3D7}"/>
              </a:ext>
            </a:extLst>
          </p:cNvPr>
          <p:cNvSpPr>
            <a:spLocks xmlns:a="http://schemas.openxmlformats.org/drawingml/2006/main" noGrp="1"/>
          </p:cNvSpPr>
          <p:nvPr/>
        </p:nvSpPr>
        <p:spPr>
          <a:xfrm xmlns:a="http://schemas.openxmlformats.org/drawingml/2006/main">
            <a:off x="628650" y="39433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RL for cloud resource allocation</a:t>
            </a:r>
          </a:p>
        </p:txBody>
      </p:sp>
      <p:sp>
        <p:nvSpPr>
          <p:cNvPr id="11" name="">
            <a:extLst xmlns:a="http://schemas.openxmlformats.org/drawingml/2006/main">
              <a:ext uri="{FF2B5EF4-FFF2-40B4-BE49-F238E27FC236}">
                <a16:creationId xmlns:a16="http://schemas.microsoft.com/office/drawing/2014/main" id="{6D466BF3-15BE-4A22-BE97-45F9CECFABD7}"/>
              </a:ext>
            </a:extLst>
          </p:cNvPr>
          <p:cNvSpPr>
            <a:spLocks xmlns:a="http://schemas.openxmlformats.org/drawingml/2006/main" noGrp="1"/>
          </p:cNvSpPr>
          <p:nvPr/>
        </p:nvSpPr>
        <p:spPr>
          <a:xfrm xmlns:a="http://schemas.openxmlformats.org/drawingml/2006/main">
            <a:off x="628650" y="44100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Garí et al. (2020)</a:t>
            </a:r>
          </a:p>
        </p:txBody>
      </p:sp>
      <p:sp>
        <p:nvSpPr>
          <p:cNvPr id="12" name="">
            <a:extLst xmlns:a="http://schemas.openxmlformats.org/drawingml/2006/main">
              <a:ext uri="{FF2B5EF4-FFF2-40B4-BE49-F238E27FC236}">
                <a16:creationId xmlns:a16="http://schemas.microsoft.com/office/drawing/2014/main" id="{4A00F106-CFF1-442A-9B7F-213092EB7B39}"/>
              </a:ext>
            </a:extLst>
          </p:cNvPr>
          <p:cNvSpPr>
            <a:spLocks xmlns:a="http://schemas.openxmlformats.org/drawingml/2006/main" noGrp="1"/>
          </p:cNvSpPr>
          <p:nvPr/>
        </p:nvSpPr>
        <p:spPr>
          <a:xfrm xmlns:a="http://schemas.openxmlformats.org/drawingml/2006/main">
            <a:off x="628650" y="476250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Application autoscaling survey</a:t>
            </a:r>
          </a:p>
        </p:txBody>
      </p:sp>
      <p:sp>
        <p:nvSpPr>
          <p:cNvPr id="13" name="">
            <a:extLst xmlns:a="http://schemas.openxmlformats.org/drawingml/2006/main">
              <a:ext uri="{FF2B5EF4-FFF2-40B4-BE49-F238E27FC236}">
                <a16:creationId xmlns:a16="http://schemas.microsoft.com/office/drawing/2014/main" id="{8AE4770D-A703-4C08-9704-20DCA026D165}"/>
              </a:ext>
            </a:extLst>
          </p:cNvPr>
          <p:cNvSpPr>
            <a:spLocks xmlns:a="http://schemas.openxmlformats.org/drawingml/2006/main" noGrp="1"/>
          </p:cNvSpPr>
          <p:nvPr/>
        </p:nvSpPr>
        <p:spPr>
          <a:xfrm xmlns:a="http://schemas.openxmlformats.org/drawingml/2006/main">
            <a:off x="6153150" y="19526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Wang et al. (2017)</a:t>
            </a:r>
          </a:p>
        </p:txBody>
      </p:sp>
      <p:sp>
        <p:nvSpPr>
          <p:cNvPr id="14" name="">
            <a:extLst xmlns:a="http://schemas.openxmlformats.org/drawingml/2006/main">
              <a:ext uri="{FF2B5EF4-FFF2-40B4-BE49-F238E27FC236}">
                <a16:creationId xmlns:a16="http://schemas.microsoft.com/office/drawing/2014/main" id="{F469A839-FE45-4032-A147-80AA62A703D9}"/>
              </a:ext>
            </a:extLst>
          </p:cNvPr>
          <p:cNvSpPr>
            <a:spLocks xmlns:a="http://schemas.openxmlformats.org/drawingml/2006/main" noGrp="1"/>
          </p:cNvSpPr>
          <p:nvPr/>
        </p:nvSpPr>
        <p:spPr>
          <a:xfrm xmlns:a="http://schemas.openxmlformats.org/drawingml/2006/main">
            <a:off x="6153150" y="23050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Automated cloud provisioning on AWS</a:t>
            </a:r>
          </a:p>
        </p:txBody>
      </p:sp>
      <p:sp>
        <p:nvSpPr>
          <p:cNvPr id="15" name="">
            <a:extLst xmlns:a="http://schemas.openxmlformats.org/drawingml/2006/main">
              <a:ext uri="{FF2B5EF4-FFF2-40B4-BE49-F238E27FC236}">
                <a16:creationId xmlns:a16="http://schemas.microsoft.com/office/drawing/2014/main" id="{5642F9A5-5EBF-4F5F-9365-72F25C2B0E21}"/>
              </a:ext>
            </a:extLst>
          </p:cNvPr>
          <p:cNvSpPr>
            <a:spLocks xmlns:a="http://schemas.openxmlformats.org/drawingml/2006/main" noGrp="1"/>
          </p:cNvSpPr>
          <p:nvPr/>
        </p:nvSpPr>
        <p:spPr>
          <a:xfrm xmlns:a="http://schemas.openxmlformats.org/drawingml/2006/main">
            <a:off x="6153150" y="27717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Qiu et al. (2023)</a:t>
            </a:r>
          </a:p>
        </p:txBody>
      </p:sp>
      <p:sp>
        <p:nvSpPr>
          <p:cNvPr id="16" name="">
            <a:extLst xmlns:a="http://schemas.openxmlformats.org/drawingml/2006/main">
              <a:ext uri="{FF2B5EF4-FFF2-40B4-BE49-F238E27FC236}">
                <a16:creationId xmlns:a16="http://schemas.microsoft.com/office/drawing/2014/main" id="{8770A748-463D-4C76-B4D8-BF70661A7678}"/>
              </a:ext>
            </a:extLst>
          </p:cNvPr>
          <p:cNvSpPr>
            <a:spLocks xmlns:a="http://schemas.openxmlformats.org/drawingml/2006/main" noGrp="1"/>
          </p:cNvSpPr>
          <p:nvPr/>
        </p:nvSpPr>
        <p:spPr>
          <a:xfrm xmlns:a="http://schemas.openxmlformats.org/drawingml/2006/main">
            <a:off x="6153150" y="312420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AWARE: workload autoscaling</a:t>
            </a:r>
          </a:p>
        </p:txBody>
      </p:sp>
      <p:sp>
        <p:nvSpPr>
          <p:cNvPr id="17" name="">
            <a:extLst xmlns:a="http://schemas.openxmlformats.org/drawingml/2006/main">
              <a:ext uri="{FF2B5EF4-FFF2-40B4-BE49-F238E27FC236}">
                <a16:creationId xmlns:a16="http://schemas.microsoft.com/office/drawing/2014/main" id="{A2D5F51A-4672-4FA7-8877-DF7E8AD10A4C}"/>
              </a:ext>
            </a:extLst>
          </p:cNvPr>
          <p:cNvSpPr>
            <a:spLocks xmlns:a="http://schemas.openxmlformats.org/drawingml/2006/main" noGrp="1"/>
          </p:cNvSpPr>
          <p:nvPr/>
        </p:nvSpPr>
        <p:spPr>
          <a:xfrm xmlns:a="http://schemas.openxmlformats.org/drawingml/2006/main">
            <a:off x="6153150" y="35909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Mnih et al. (2013)</a:t>
            </a:r>
          </a:p>
        </p:txBody>
      </p:sp>
      <p:sp>
        <p:nvSpPr>
          <p:cNvPr id="18" name="">
            <a:extLst xmlns:a="http://schemas.openxmlformats.org/drawingml/2006/main">
              <a:ext uri="{FF2B5EF4-FFF2-40B4-BE49-F238E27FC236}">
                <a16:creationId xmlns:a16="http://schemas.microsoft.com/office/drawing/2014/main" id="{2EDD3854-FC84-4F9F-8654-73D5E4E1B600}"/>
              </a:ext>
            </a:extLst>
          </p:cNvPr>
          <p:cNvSpPr>
            <a:spLocks xmlns:a="http://schemas.openxmlformats.org/drawingml/2006/main" noGrp="1"/>
          </p:cNvSpPr>
          <p:nvPr/>
        </p:nvSpPr>
        <p:spPr>
          <a:xfrm xmlns:a="http://schemas.openxmlformats.org/drawingml/2006/main">
            <a:off x="6153150" y="39433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Playing Atari with Deep RL</a:t>
            </a:r>
          </a:p>
        </p:txBody>
      </p:sp>
      <p:sp>
        <p:nvSpPr>
          <p:cNvPr id="19" name="">
            <a:extLst xmlns:a="http://schemas.openxmlformats.org/drawingml/2006/main">
              <a:ext uri="{FF2B5EF4-FFF2-40B4-BE49-F238E27FC236}">
                <a16:creationId xmlns:a16="http://schemas.microsoft.com/office/drawing/2014/main" id="{4710C35E-9E18-4AF0-82A3-653DA2B49226}"/>
              </a:ext>
            </a:extLst>
          </p:cNvPr>
          <p:cNvSpPr>
            <a:spLocks xmlns:a="http://schemas.openxmlformats.org/drawingml/2006/main" noGrp="1"/>
          </p:cNvSpPr>
          <p:nvPr/>
        </p:nvSpPr>
        <p:spPr>
          <a:xfrm xmlns:a="http://schemas.openxmlformats.org/drawingml/2006/main">
            <a:off x="6153150" y="44100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Henderson et al. (2017)</a:t>
            </a:r>
          </a:p>
        </p:txBody>
      </p:sp>
      <p:sp>
        <p:nvSpPr>
          <p:cNvPr id="20" name="">
            <a:extLst xmlns:a="http://schemas.openxmlformats.org/drawingml/2006/main">
              <a:ext uri="{FF2B5EF4-FFF2-40B4-BE49-F238E27FC236}">
                <a16:creationId xmlns:a16="http://schemas.microsoft.com/office/drawing/2014/main" id="{7FBBEAE7-570D-4420-B449-B266586676F7}"/>
              </a:ext>
            </a:extLst>
          </p:cNvPr>
          <p:cNvSpPr>
            <a:spLocks xmlns:a="http://schemas.openxmlformats.org/drawingml/2006/main" noGrp="1"/>
          </p:cNvSpPr>
          <p:nvPr/>
        </p:nvSpPr>
        <p:spPr>
          <a:xfrm xmlns:a="http://schemas.openxmlformats.org/drawingml/2006/main">
            <a:off x="6153150" y="476250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Deep Reinforcement Learning that Matters</a:t>
            </a:r>
          </a:p>
        </p:txBody>
      </p:sp>
      <p:sp>
        <p:nvSpPr>
          <p:cNvPr id="21" name="">
            <a:extLst xmlns:a="http://schemas.openxmlformats.org/drawingml/2006/main">
              <a:ext uri="{FF2B5EF4-FFF2-40B4-BE49-F238E27FC236}">
                <a16:creationId xmlns:a16="http://schemas.microsoft.com/office/drawing/2014/main" id="{02B4D6B6-7216-40D0-BD06-E53FF1F011A4}"/>
              </a:ext>
            </a:extLst>
          </p:cNvPr>
          <p:cNvSpPr>
            <a:spLocks xmlns:a="http://schemas.openxmlformats.org/drawingml/2006/main" noGrp="1"/>
          </p:cNvSpPr>
          <p:nvPr/>
        </p:nvSpPr>
        <p:spPr>
          <a:xfrm xmlns:a="http://schemas.openxmlformats.org/drawingml/2006/main">
            <a:off x="628650" y="5495925"/>
            <a:ext cx="10858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1867A"/>
                </a:solidFill>
                <a:latin typeface="DejaVu Sans"/>
                <a:ea typeface="DejaVu Sans"/>
                <a:cs typeface="DejaVu Sans"/>
              </a:defRPr>
            </a:defPPr>
          </a:lstStyle>
          <a:p xmlns:a="http://schemas.openxmlformats.org/drawingml/2006/main">
            <a:pPr>
              <a:defRPr sz="1725" b="1">
                <a:solidFill>
                  <a:srgbClr val="21867A"/>
                </a:solidFill>
                <a:latin typeface="DejaVu Sans"/>
                <a:ea typeface="DejaVu Sans"/>
                <a:cs typeface="DejaVu Sans"/>
              </a:defRPr>
            </a:pPr>
            <a:r>
              <a:rPr sz="1725" b="1">
                <a:solidFill>
                  <a:srgbClr val="21867A"/>
                </a:solidFill>
                <a:latin typeface="DejaVu Sans"/>
                <a:ea typeface="DejaVu Sans"/>
                <a:cs typeface="DejaVu Sans"/>
              </a:rPr>
              <a:t>AI disclosure: OpenAI ChatGPT assisted code, tests, analysis, slides, and narration.</a:t>
            </a:r>
          </a:p>
          <a:p xmlns:a="http://schemas.openxmlformats.org/drawingml/2006/main">
            <a:pPr>
              <a:defRPr sz="1725" b="1">
                <a:solidFill>
                  <a:srgbClr val="21867A"/>
                </a:solidFill>
                <a:latin typeface="DejaVu Sans"/>
                <a:ea typeface="DejaVu Sans"/>
                <a:cs typeface="DejaVu Sans"/>
              </a:defRPr>
            </a:pPr>
            <a:r>
              <a:rPr sz="1725" b="1">
                <a:solidFill>
                  <a:srgbClr val="21867A"/>
                </a:solidFill>
                <a:latin typeface="DejaVu Sans"/>
                <a:ea typeface="DejaVu Sans"/>
                <a:cs typeface="DejaVu Sans"/>
              </a:rPr>
              <a:t>Review the work, verify sources, and present your own understanding.</a:t>
            </a:r>
          </a:p>
        </p:txBody>
      </p:sp>
    </p:spTree>
    <p:extLst>
      <p:ext uri="{BB962C8B-B14F-4D97-AF65-F5344CB8AC3E}">
        <p14:creationId xmlns:p14="http://schemas.microsoft.com/office/powerpoint/2010/main" val="10874297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2026-10-11T21:07:11.4680000Z</dcterms:created>
  <dcterms:modified xsi:type="dcterms:W3CDTF">2026-10-11T21:07:11.4680000Z</dcterms:modified>
</coreProperties>
</file>